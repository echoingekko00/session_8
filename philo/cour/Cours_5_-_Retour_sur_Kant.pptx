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0"/>
  </p:notesMasterIdLst>
  <p:sldIdLst>
    <p:sldId id="258" r:id="rId2"/>
    <p:sldId id="277" r:id="rId3"/>
    <p:sldId id="256" r:id="rId4"/>
    <p:sldId id="257" r:id="rId5"/>
    <p:sldId id="259" r:id="rId6"/>
    <p:sldId id="261" r:id="rId7"/>
    <p:sldId id="262" r:id="rId8"/>
    <p:sldId id="264" r:id="rId9"/>
    <p:sldId id="267" r:id="rId10"/>
    <p:sldId id="268" r:id="rId11"/>
    <p:sldId id="272" r:id="rId12"/>
    <p:sldId id="266" r:id="rId13"/>
    <p:sldId id="269" r:id="rId14"/>
    <p:sldId id="270" r:id="rId15"/>
    <p:sldId id="273" r:id="rId16"/>
    <p:sldId id="271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A509C-8DE9-4746-9D3A-42F6A92FBECE}" type="datetimeFigureOut">
              <a:rPr lang="fr-CA" smtClean="0"/>
              <a:t>2022-06-21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DDF2C-FD8D-421E-8FD4-F4CF1A3EDAA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713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Attention aux dilemmes</a:t>
            </a:r>
            <a:r>
              <a:rPr lang="fr-CA" baseline="0" dirty="0" smtClean="0"/>
              <a:t> moraux trop vague ou </a:t>
            </a:r>
            <a:r>
              <a:rPr lang="fr-CA" baseline="0" smtClean="0"/>
              <a:t>trop large.</a:t>
            </a: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DDF2C-FD8D-421E-8FD4-F4CF1A3EDAAC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629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Kant rejette</a:t>
            </a:r>
            <a:r>
              <a:rPr lang="fr-CA" baseline="0" dirty="0" smtClean="0"/>
              <a:t> la morale sociale autoritaire du passé, sans toutefois repoussé l’idée que la morale est l’expression d’obligations et de lois.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DDF2C-FD8D-421E-8FD4-F4CF1A3EDAAC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8514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Le critère d’une bonne action. 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DDF2C-FD8D-421E-8FD4-F4CF1A3EDAAC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2254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L’un qui donne un prix juste et compétitif par pur intérêt économique, l’autre par principe moral.</a:t>
            </a:r>
            <a:r>
              <a:rPr lang="fr-CA" baseline="0" dirty="0" smtClean="0"/>
              <a:t> Ou encore, l’un par principe et par plaisir, l’autre par principe et allant contre ses penchants. 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DDF2C-FD8D-421E-8FD4-F4CF1A3EDAAC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783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6/21/2022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Retour sur le tweet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910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Retour sur le Résumé</a:t>
            </a:r>
          </a:p>
        </p:txBody>
      </p:sp>
      <p:pic>
        <p:nvPicPr>
          <p:cNvPr id="1026" name="Picture 2" descr="Hey thats pretty good - Upvote Obama | Make a Mem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1543050"/>
            <a:ext cx="57150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6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 smtClean="0"/>
              <a:t>Retour sur Kant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 smtClean="0"/>
              <a:t>Éthique déontologique</a:t>
            </a: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242" y="3040826"/>
            <a:ext cx="3058758" cy="305875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41" y="0"/>
            <a:ext cx="2156909" cy="31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L’application de l’éthique kantienne à des cas particuliers passe par les questions suivantes.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L’intention morale de l’agent est-elle pure ? Est-il sincère dans la recherche de son devoir moral ?</a:t>
            </a:r>
          </a:p>
          <a:p>
            <a:r>
              <a:rPr lang="fr-CA" sz="2400" dirty="0" smtClean="0"/>
              <a:t>L’agent peut-il vouloir que tout le monde agisse comme lui ?</a:t>
            </a:r>
          </a:p>
          <a:p>
            <a:r>
              <a:rPr lang="fr-CA" sz="2400" dirty="0" smtClean="0"/>
              <a:t>Utilise-t-il autrui simplement comme moyen pour arriver à ses fins?</a:t>
            </a:r>
          </a:p>
          <a:p>
            <a:r>
              <a:rPr lang="fr-CA" sz="2400" dirty="0" smtClean="0"/>
              <a:t>Son action pourrait-elle recevoir le consentement moral d’autrui (même si cette action ne lui « plaît » pas) ?</a:t>
            </a:r>
          </a:p>
          <a:p>
            <a:r>
              <a:rPr lang="fr-CA" sz="2400" dirty="0" err="1" smtClean="0">
                <a:solidFill>
                  <a:srgbClr val="FF0000"/>
                </a:solidFill>
              </a:rPr>
              <a:t>A-t-il</a:t>
            </a:r>
            <a:r>
              <a:rPr lang="fr-CA" sz="2400" dirty="0" smtClean="0">
                <a:solidFill>
                  <a:srgbClr val="FF0000"/>
                </a:solidFill>
              </a:rPr>
              <a:t> fait siennes les fins d’autrui en les appuyant activement « dans la mesure de ses possibilités » ?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8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L’autonomie de l’être humain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CA" sz="2400" b="1" dirty="0" smtClean="0"/>
              <a:t>Ce qui est bien et ce qui est mal </a:t>
            </a:r>
            <a:r>
              <a:rPr lang="fr-CA" sz="2400" dirty="0" smtClean="0"/>
              <a:t>ne provient pas de la société, de la religion ou d’une figure </a:t>
            </a:r>
            <a:r>
              <a:rPr lang="fr-CA" sz="2400" b="1" dirty="0" smtClean="0"/>
              <a:t>d’autorité</a:t>
            </a:r>
            <a:r>
              <a:rPr lang="fr-CA" sz="2400" dirty="0" smtClean="0"/>
              <a:t> quelconque.</a:t>
            </a:r>
            <a:endParaRPr lang="fr-CA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CA" sz="2400" dirty="0" smtClean="0"/>
              <a:t>Chacun doit chercher la réponse à ses interrogations morales dans l’espace intérieur de sa </a:t>
            </a:r>
            <a:r>
              <a:rPr lang="fr-CA" sz="2400" b="1" dirty="0" smtClean="0"/>
              <a:t>conscience</a:t>
            </a:r>
            <a:endParaRPr lang="fr-CA" sz="24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065" y="5152674"/>
            <a:ext cx="2556711" cy="170532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3" y="4985355"/>
            <a:ext cx="3121075" cy="18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3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loi </a:t>
            </a:r>
            <a:r>
              <a:rPr lang="fr-CA" dirty="0" smtClean="0"/>
              <a:t>morale </a:t>
            </a:r>
            <a:r>
              <a:rPr lang="fr-CA" dirty="0" smtClean="0">
                <a:latin typeface="Calibri" panose="020F0502020204030204" pitchFamily="34" charset="0"/>
                <a:cs typeface="Calibri" panose="020F0502020204030204" pitchFamily="34" charset="0"/>
              </a:rPr>
              <a:t>≠ le code judiciaire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811814" y="604380"/>
            <a:ext cx="3474720" cy="5120640"/>
          </a:xfrm>
        </p:spPr>
        <p:txBody>
          <a:bodyPr>
            <a:normAutofit/>
          </a:bodyPr>
          <a:lstStyle/>
          <a:p>
            <a:r>
              <a:rPr lang="fr-CA" sz="2400" dirty="0"/>
              <a:t>Ce ne fait pas référence aux lois </a:t>
            </a:r>
            <a:r>
              <a:rPr lang="fr-CA" sz="2400" i="1" dirty="0"/>
              <a:t>extérieures </a:t>
            </a:r>
            <a:r>
              <a:rPr lang="fr-CA" sz="2400" dirty="0"/>
              <a:t>qui sont imposées aux individus par un gouvernement et qui relève de ce que Kant appelle le « droit ».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C’est </a:t>
            </a:r>
            <a:r>
              <a:rPr lang="fr-CA" sz="2400" dirty="0"/>
              <a:t>la loi morale </a:t>
            </a:r>
            <a:r>
              <a:rPr lang="fr-CA" sz="2400" i="1" dirty="0"/>
              <a:t>intérieure </a:t>
            </a:r>
            <a:r>
              <a:rPr lang="fr-CA" sz="2400" dirty="0"/>
              <a:t>qu’une conscience se donne à elle-même.</a:t>
            </a:r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040" y="4597275"/>
            <a:ext cx="3000880" cy="225206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3880178" y="4600704"/>
            <a:ext cx="3795222" cy="22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Bonne volonté vs. Conséquences de l’action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805559" y="577810"/>
            <a:ext cx="3474720" cy="38856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CA" sz="2400" dirty="0" smtClean="0"/>
              <a:t>Les conséquences de l’action ne sont pas à considérer lorsqu’on se pose des questions morale. </a:t>
            </a:r>
            <a:endParaRPr lang="fr-CA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885438" y="268429"/>
            <a:ext cx="3474720" cy="51206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CA" sz="2400" dirty="0" smtClean="0"/>
              <a:t>La « bonne volonté », c’est-à-dire </a:t>
            </a:r>
            <a:r>
              <a:rPr lang="fr-CA" sz="2400" i="1" dirty="0" smtClean="0"/>
              <a:t>l’intention</a:t>
            </a:r>
            <a:r>
              <a:rPr lang="fr-CA" sz="2400" dirty="0" smtClean="0"/>
              <a:t> ou le </a:t>
            </a:r>
            <a:r>
              <a:rPr lang="fr-CA" sz="2400" i="1" dirty="0" smtClean="0"/>
              <a:t>motif</a:t>
            </a:r>
            <a:r>
              <a:rPr lang="fr-CA" sz="2400" dirty="0" smtClean="0"/>
              <a:t> nous informe si quelqu’un a fait une bonne ou une mauvaise action.</a:t>
            </a:r>
            <a:endParaRPr lang="fr-CA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887" y="4796393"/>
            <a:ext cx="4082187" cy="206160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330" y="4255395"/>
            <a:ext cx="3437883" cy="25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5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189" y="5250519"/>
            <a:ext cx="2823443" cy="147760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Motifs égoïstes ou désintéressé ?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874459" y="942448"/>
            <a:ext cx="3474720" cy="434003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fr-CA" sz="2400" dirty="0" smtClean="0"/>
              <a:t>Si un acte vise à satisfaire les besoins ou désirs de son auteur, on ne peut le qualifier de  »moral » car il est fondé sur des motifs égoïstes. </a:t>
            </a:r>
          </a:p>
          <a:p>
            <a:pPr algn="just">
              <a:lnSpc>
                <a:spcPct val="100000"/>
              </a:lnSpc>
            </a:pPr>
            <a:r>
              <a:rPr lang="fr-CA" sz="2400" dirty="0" smtClean="0"/>
              <a:t>« Qu’est-ce que je veux ? Qu’est-ce qui me ferait plaisir ? »</a:t>
            </a:r>
            <a:endParaRPr lang="fr-CA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023237" y="942448"/>
            <a:ext cx="3474720" cy="3644417"/>
          </a:xfrm>
        </p:spPr>
        <p:txBody>
          <a:bodyPr>
            <a:normAutofit/>
          </a:bodyPr>
          <a:lstStyle/>
          <a:p>
            <a:pPr algn="just"/>
            <a:r>
              <a:rPr lang="fr-CA" sz="2400" dirty="0" smtClean="0"/>
              <a:t>Seule une personne qui cherche honnêtement et sincèrement quel est son devoir fait montre d’une bonne volonté.</a:t>
            </a:r>
          </a:p>
          <a:p>
            <a:pPr algn="just"/>
            <a:r>
              <a:rPr lang="fr-CA" sz="2400" dirty="0" smtClean="0"/>
              <a:t>« Qu’est-ce que je dois faire ? Quel est mon devoir ? » </a:t>
            </a:r>
            <a:endParaRPr lang="fr-CA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336" y="4358827"/>
            <a:ext cx="3645065" cy="28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2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CA" dirty="0" smtClean="0"/>
              <a:t>La seule intention qui soit purement morale est le souci d’accomplir son devoir.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2873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des deux marchands</a:t>
            </a:r>
            <a:br>
              <a:rPr lang="fr-CA" dirty="0"/>
            </a:br>
            <a:endParaRPr lang="fr-CA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93957" y="1037816"/>
            <a:ext cx="7527235" cy="468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6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Exercice 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69268" y="415127"/>
            <a:ext cx="7315200" cy="6019332"/>
          </a:xfrm>
        </p:spPr>
        <p:txBody>
          <a:bodyPr>
            <a:normAutofit fontScale="92500"/>
          </a:bodyPr>
          <a:lstStyle/>
          <a:p>
            <a:r>
              <a:rPr lang="fr-CA" sz="2400" dirty="0" smtClean="0"/>
              <a:t>Examinez les trois motivations suivantes : </a:t>
            </a:r>
          </a:p>
          <a:p>
            <a:r>
              <a:rPr lang="fr-CA" sz="2400" dirty="0" smtClean="0"/>
              <a:t>A. Votre conjoint vous dit qu’il vous a toujours été fidèle parce qu’il est encore fou de vous comme aux premiers jours de votre rencontre.</a:t>
            </a:r>
          </a:p>
          <a:p>
            <a:r>
              <a:rPr lang="fr-CA" sz="2400" dirty="0" smtClean="0"/>
              <a:t>B. Votre conjoint vous assure que, s’il vous a toujours été fidèle, c’est parce qu’il a su résister, par obéissance à sa conscience, aux nombreuses tentations auxquelles il a été exposé.</a:t>
            </a:r>
          </a:p>
          <a:p>
            <a:r>
              <a:rPr lang="fr-CA" sz="2400" dirty="0" smtClean="0"/>
              <a:t>C. Votre conjoint vous avoue qu’il a été souvent attiré par beaucoup d’autres personnes, mais qu’il vous a toujours été fidèle pour éviter de courir le risque de vous faire de la peine.</a:t>
            </a:r>
          </a:p>
          <a:p>
            <a:r>
              <a:rPr lang="fr-CA" sz="2400" dirty="0" smtClean="0"/>
              <a:t>1. Laquelle aurait une valeur aux yeux de Kant? </a:t>
            </a:r>
          </a:p>
          <a:p>
            <a:r>
              <a:rPr lang="fr-CA" sz="2400" dirty="0" smtClean="0"/>
              <a:t>2. Laquelle aurait la plus grande valeur aux yeux de Hume? </a:t>
            </a:r>
          </a:p>
          <a:p>
            <a:r>
              <a:rPr lang="fr-CA" sz="2400" dirty="0" smtClean="0"/>
              <a:t>3. Laquelle vous semble avoir la plus grande valeur morale? </a:t>
            </a:r>
          </a:p>
          <a:p>
            <a:r>
              <a:rPr lang="fr-CA" sz="2400" dirty="0" smtClean="0"/>
              <a:t>Expliquez vos réponses. 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249115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Comment une personne peut-elle savoir quel est </a:t>
            </a:r>
            <a:r>
              <a:rPr lang="fr-CA" smtClean="0"/>
              <a:t>son devoir?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CA" sz="2800" dirty="0" smtClean="0"/>
              <a:t>Hume : les sentiments</a:t>
            </a:r>
            <a:endParaRPr lang="fr-CA" sz="28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CA" sz="2800" dirty="0" smtClean="0"/>
              <a:t>Kant : la voix de notre raison</a:t>
            </a:r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125372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Source du devoir moral ?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800" dirty="0" smtClean="0"/>
              <a:t>On infère ce qu’est notre devoir à partir d’une vérité universelle (dans le domaine de la morale).</a:t>
            </a:r>
          </a:p>
          <a:p>
            <a:r>
              <a:rPr lang="fr-CA" sz="2800" dirty="0" smtClean="0"/>
              <a:t>L’éthique de Kant est fondé sur </a:t>
            </a:r>
            <a:r>
              <a:rPr lang="fr-CA" sz="2800" b="1" dirty="0" smtClean="0"/>
              <a:t>l’obéissance</a:t>
            </a:r>
            <a:r>
              <a:rPr lang="fr-CA" sz="2800" dirty="0" smtClean="0"/>
              <a:t> à une idée impersonnelle et universelle – l’impératif catégorique. </a:t>
            </a:r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12089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Deux types d’impératifs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Hypothétique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Je dois faire X parce que telle conséquence adviendra. </a:t>
            </a:r>
          </a:p>
          <a:p>
            <a:endParaRPr lang="fr-CA" sz="2400" dirty="0"/>
          </a:p>
          <a:p>
            <a:r>
              <a:rPr lang="fr-CA" sz="2400" dirty="0" smtClean="0"/>
              <a:t>Un devoir </a:t>
            </a:r>
            <a:r>
              <a:rPr lang="fr-CA" sz="2400" i="1" dirty="0" smtClean="0"/>
              <a:t>relatif</a:t>
            </a:r>
            <a:r>
              <a:rPr lang="fr-CA" sz="2400" dirty="0" smtClean="0"/>
              <a:t>.</a:t>
            </a:r>
          </a:p>
          <a:p>
            <a:endParaRPr lang="fr-CA" sz="2400" dirty="0"/>
          </a:p>
          <a:p>
            <a:r>
              <a:rPr lang="fr-CA" sz="2400" dirty="0" smtClean="0"/>
              <a:t>« Mange tes légumes pour devenir grand et fort. »</a:t>
            </a:r>
            <a:endParaRPr lang="fr-CA" sz="2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 smtClean="0"/>
              <a:t>Catégorique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Je dois faire X parce que c’est ce que je dois faire.</a:t>
            </a:r>
          </a:p>
          <a:p>
            <a:endParaRPr lang="fr-CA" sz="2400" dirty="0"/>
          </a:p>
          <a:p>
            <a:r>
              <a:rPr lang="fr-CA" sz="2400" dirty="0" smtClean="0"/>
              <a:t>Un devoir </a:t>
            </a:r>
            <a:r>
              <a:rPr lang="fr-CA" sz="2400" i="1" dirty="0" smtClean="0"/>
              <a:t>absolu.</a:t>
            </a:r>
          </a:p>
          <a:p>
            <a:endParaRPr lang="fr-CA" sz="2400" i="1" dirty="0"/>
          </a:p>
          <a:p>
            <a:r>
              <a:rPr lang="fr-CA" sz="2400" dirty="0" smtClean="0"/>
              <a:t>« Ne tue pas. »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310706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Deux « versions » de l’impératif catégorique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A. LE PRINCIPE D’UNIVERSALISATION</a:t>
            </a:r>
            <a:endParaRPr lang="fr-CA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CA" sz="2400" dirty="0" smtClean="0"/>
              <a:t>B. LE PRINCIPE DU RESPECT DE LA PERSONNE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373246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IMPÉRATIF CATÉGORIQUE :</a:t>
            </a:r>
            <a:br>
              <a:rPr lang="fr-CA" dirty="0" smtClean="0"/>
            </a:br>
            <a:r>
              <a:rPr lang="fr-CA" dirty="0" smtClean="0"/>
              <a:t/>
            </a:r>
            <a:br>
              <a:rPr lang="fr-CA" dirty="0" smtClean="0"/>
            </a:br>
            <a:r>
              <a:rPr lang="fr-CA" dirty="0" smtClean="0"/>
              <a:t>Puis-je vouloir que tous les humains agissent comme je projette de le faire ?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67912" y="722702"/>
            <a:ext cx="3474720" cy="807720"/>
          </a:xfrm>
        </p:spPr>
        <p:txBody>
          <a:bodyPr>
            <a:normAutofit/>
          </a:bodyPr>
          <a:lstStyle/>
          <a:p>
            <a:r>
              <a:rPr lang="fr-CA" sz="2800" dirty="0" smtClean="0"/>
              <a:t>Oui =</a:t>
            </a:r>
            <a:endParaRPr lang="fr-CA" sz="28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sz="2400" b="1" dirty="0" smtClean="0"/>
              <a:t>Mon action est morale.</a:t>
            </a:r>
            <a:endParaRPr lang="fr-CA" b="1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818463" y="717251"/>
            <a:ext cx="3474720" cy="813171"/>
          </a:xfrm>
        </p:spPr>
        <p:txBody>
          <a:bodyPr>
            <a:normAutofit/>
          </a:bodyPr>
          <a:lstStyle/>
          <a:p>
            <a:r>
              <a:rPr lang="fr-CA" sz="2800" dirty="0" smtClean="0"/>
              <a:t>Non =</a:t>
            </a:r>
            <a:endParaRPr lang="fr-CA" sz="28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818463" y="1530422"/>
            <a:ext cx="3474720" cy="5327578"/>
          </a:xfrm>
        </p:spPr>
        <p:txBody>
          <a:bodyPr>
            <a:normAutofit fontScale="92500" lnSpcReduction="20000"/>
          </a:bodyPr>
          <a:lstStyle/>
          <a:p>
            <a:r>
              <a:rPr lang="fr-CA" sz="2400" b="1" dirty="0" smtClean="0"/>
              <a:t>Mon action est immorale pour l’une des trois raisons suivantes : </a:t>
            </a:r>
          </a:p>
          <a:p>
            <a:r>
              <a:rPr lang="fr-CA" sz="2400" dirty="0" smtClean="0"/>
              <a:t>1. L’universalisation de mon action rendrait sa réalisation impossible (ex. : mentir)</a:t>
            </a:r>
          </a:p>
          <a:p>
            <a:r>
              <a:rPr lang="fr-CA" sz="2400" dirty="0" smtClean="0"/>
              <a:t>2. L’universalisation de mon action entraînerait la destruction de l’humanité (ex. : suicide)</a:t>
            </a:r>
          </a:p>
          <a:p>
            <a:r>
              <a:rPr lang="fr-CA" sz="2400" dirty="0" smtClean="0"/>
              <a:t>3. L’universalisation de mon action irait à l’encontre des intérêts fondamentaux de tout être raisonnable (ex. : ne pas porter secours à autrui)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13397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PRINCIPE DU RESPECT DE LA PERSONNE</a:t>
            </a:r>
            <a:br>
              <a:rPr lang="fr-CA" dirty="0" smtClean="0"/>
            </a:br>
            <a:r>
              <a:rPr lang="fr-CA" dirty="0"/>
              <a:t/>
            </a:r>
            <a:br>
              <a:rPr lang="fr-CA" dirty="0"/>
            </a:br>
            <a:r>
              <a:rPr lang="fr-CA" dirty="0" smtClean="0"/>
              <a:t>Il faut traiter sa propre personne et autrui comme un fin en soi, jamais comme simplement un moyen.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67912" y="771145"/>
            <a:ext cx="3474720" cy="807720"/>
          </a:xfrm>
        </p:spPr>
        <p:txBody>
          <a:bodyPr>
            <a:normAutofit/>
          </a:bodyPr>
          <a:lstStyle/>
          <a:p>
            <a:r>
              <a:rPr lang="fr-CA" sz="2600" dirty="0" smtClean="0"/>
              <a:t>Le respect négatif</a:t>
            </a:r>
            <a:endParaRPr lang="fr-CA" sz="26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CA" sz="2400" b="1" dirty="0" smtClean="0"/>
              <a:t>Je n’accomplis pas</a:t>
            </a:r>
            <a:r>
              <a:rPr lang="fr-CA" sz="2400" dirty="0" smtClean="0"/>
              <a:t> des actions qui porteraient atteinte à l’autonomie et à la liberté de la personne.</a:t>
            </a:r>
          </a:p>
          <a:p>
            <a:endParaRPr lang="fr-CA" sz="2400" dirty="0"/>
          </a:p>
          <a:p>
            <a:r>
              <a:rPr lang="fr-CA" sz="2400" b="1" dirty="0" smtClean="0"/>
              <a:t>Je respecte le critère du consentement </a:t>
            </a:r>
            <a:r>
              <a:rPr lang="fr-CA" sz="2400" dirty="0" smtClean="0"/>
              <a:t>: autrui doit être moralement d’accord avec mes intentions.</a:t>
            </a:r>
            <a:endParaRPr lang="fr-CA" sz="2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818463" y="765694"/>
            <a:ext cx="3474720" cy="813171"/>
          </a:xfrm>
        </p:spPr>
        <p:txBody>
          <a:bodyPr>
            <a:normAutofit/>
          </a:bodyPr>
          <a:lstStyle/>
          <a:p>
            <a:r>
              <a:rPr lang="fr-CA" sz="2600" dirty="0" smtClean="0"/>
              <a:t>Le respect positif</a:t>
            </a:r>
            <a:endParaRPr lang="fr-CA" sz="26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CA" sz="2400" b="1" dirty="0" smtClean="0"/>
              <a:t>J’accomplis</a:t>
            </a:r>
            <a:r>
              <a:rPr lang="fr-CA" sz="2400" dirty="0" smtClean="0"/>
              <a:t> des actions visant à aider autrui à atteindre ses buts moralement bons, dans la mesure du possible.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417097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Exercice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b="1" dirty="0" smtClean="0"/>
              <a:t>Appliquez le principe d’universalisation de Kant aux cas suivants.</a:t>
            </a:r>
            <a:endParaRPr lang="fr-CA" sz="2400" b="1" dirty="0"/>
          </a:p>
          <a:p>
            <a:r>
              <a:rPr lang="fr-CA" sz="2400" dirty="0" smtClean="0"/>
              <a:t>Passer devant les autres dans une file d’attente.</a:t>
            </a:r>
          </a:p>
          <a:p>
            <a:r>
              <a:rPr lang="fr-CA" sz="2400" dirty="0" smtClean="0"/>
              <a:t>Voler les biens d’autrui.</a:t>
            </a:r>
          </a:p>
          <a:p>
            <a:r>
              <a:rPr lang="fr-CA" sz="2400" dirty="0" smtClean="0"/>
              <a:t>Tricher aux examens.</a:t>
            </a:r>
          </a:p>
          <a:p>
            <a:r>
              <a:rPr lang="fr-CA" sz="2400" dirty="0" smtClean="0"/>
              <a:t>Rester célibataire et ne pas avoir d’enfant, à l’instar de Kant.</a:t>
            </a:r>
          </a:p>
          <a:p>
            <a:r>
              <a:rPr lang="fr-CA" sz="2400" b="1" dirty="0" smtClean="0"/>
              <a:t>Arrivez-vous à une contradiction en universalisant l’action en question ?</a:t>
            </a:r>
          </a:p>
          <a:p>
            <a:r>
              <a:rPr lang="fr-CA" sz="2400" b="1" dirty="0" smtClean="0"/>
              <a:t>Si oui, précisez le type de contradiction dont il s’agit, parmi les trois possibilités énumérées par Kant.</a:t>
            </a:r>
            <a:endParaRPr lang="fr-CA" sz="2400" b="1" dirty="0"/>
          </a:p>
        </p:txBody>
      </p:sp>
    </p:spTree>
    <p:extLst>
      <p:ext uri="{BB962C8B-B14F-4D97-AF65-F5344CB8AC3E}">
        <p14:creationId xmlns:p14="http://schemas.microsoft.com/office/powerpoint/2010/main" val="205140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dr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732</TotalTime>
  <Words>822</Words>
  <Application>Microsoft Office PowerPoint</Application>
  <PresentationFormat>Grand écran</PresentationFormat>
  <Paragraphs>89</Paragraphs>
  <Slides>18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</vt:lpstr>
      <vt:lpstr>Corbel</vt:lpstr>
      <vt:lpstr>Wingdings 2</vt:lpstr>
      <vt:lpstr>Cadre</vt:lpstr>
      <vt:lpstr>Retour sur le tweet</vt:lpstr>
      <vt:lpstr>Retour sur le Résumé</vt:lpstr>
      <vt:lpstr>Retour sur Kant</vt:lpstr>
      <vt:lpstr>L’application de l’éthique kantienne à des cas particuliers passe par les questions suivantes.</vt:lpstr>
      <vt:lpstr>L’autonomie de l’être humain</vt:lpstr>
      <vt:lpstr>La loi morale ≠ le code judiciaire</vt:lpstr>
      <vt:lpstr>Bonne volonté vs. Conséquences de l’action</vt:lpstr>
      <vt:lpstr>Motifs égoïstes ou désintéressé ?</vt:lpstr>
      <vt:lpstr>La seule intention qui soit purement morale est le souci d’accomplir son devoir.</vt:lpstr>
      <vt:lpstr>Exemple des deux marchands </vt:lpstr>
      <vt:lpstr>Exercice </vt:lpstr>
      <vt:lpstr>Comment une personne peut-elle savoir quel est son devoir?</vt:lpstr>
      <vt:lpstr>Source du devoir moral ?</vt:lpstr>
      <vt:lpstr>Deux types d’impératifs</vt:lpstr>
      <vt:lpstr>Deux « versions » de l’impératif catégorique</vt:lpstr>
      <vt:lpstr>IMPÉRATIF CATÉGORIQUE :  Puis-je vouloir que tous les humains agissent comme je projette de le faire ?</vt:lpstr>
      <vt:lpstr>PRINCIPE DU RESPECT DE LA PERSONNE  Il faut traiter sa propre personne et autrui comme un fin en soi, jamais comme simplement un moyen.</vt:lpstr>
      <vt:lpstr>Exercice</vt:lpstr>
    </vt:vector>
  </TitlesOfParts>
  <Company>Razer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Retour sur Kant</dc:title>
  <dc:creator>Antoine Néron</dc:creator>
  <cp:lastModifiedBy>Antoine Néron</cp:lastModifiedBy>
  <cp:revision>44</cp:revision>
  <dcterms:created xsi:type="dcterms:W3CDTF">2022-06-20T18:55:11Z</dcterms:created>
  <dcterms:modified xsi:type="dcterms:W3CDTF">2022-06-21T23:23:30Z</dcterms:modified>
</cp:coreProperties>
</file>