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0" r:id="rId1"/>
  </p:sldMasterIdLst>
  <p:notesMasterIdLst>
    <p:notesMasterId r:id="rId8"/>
  </p:notesMasterIdLst>
  <p:sldIdLst>
    <p:sldId id="272" r:id="rId2"/>
    <p:sldId id="286" r:id="rId3"/>
    <p:sldId id="301" r:id="rId4"/>
    <p:sldId id="302" r:id="rId5"/>
    <p:sldId id="326" r:id="rId6"/>
    <p:sldId id="318" r:id="rId7"/>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2"/>
  </p:normalViewPr>
  <p:slideViewPr>
    <p:cSldViewPr snapToGrid="0" snapToObjects="1">
      <p:cViewPr varScale="1">
        <p:scale>
          <a:sx n="106" d="100"/>
          <a:sy n="106" d="100"/>
        </p:scale>
        <p:origin x="600"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B74B599B-0FD1-4FF0-9745-F0BDA9EF8233}" type="datetimeFigureOut">
              <a:rPr lang="en-CA" smtClean="0"/>
              <a:t>2023-04-21</a:t>
            </a:fld>
            <a:endParaRPr lang="en-CA"/>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66B2303E-2E81-45CA-901A-043B08CA7BB5}" type="slidenum">
              <a:rPr lang="en-CA" smtClean="0"/>
              <a:t>‹#›</a:t>
            </a:fld>
            <a:endParaRPr lang="en-CA"/>
          </a:p>
        </p:txBody>
      </p:sp>
    </p:spTree>
    <p:extLst>
      <p:ext uri="{BB962C8B-B14F-4D97-AF65-F5344CB8AC3E}">
        <p14:creationId xmlns:p14="http://schemas.microsoft.com/office/powerpoint/2010/main" val="171903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D196BFE3-1F61-47D7-9F97-9AD3C736D383}" type="slidenum">
              <a:rPr lang="en-CA" smtClean="0"/>
              <a:t>1</a:t>
            </a:fld>
            <a:endParaRPr lang="en-CA"/>
          </a:p>
        </p:txBody>
      </p:sp>
    </p:spTree>
    <p:extLst>
      <p:ext uri="{BB962C8B-B14F-4D97-AF65-F5344CB8AC3E}">
        <p14:creationId xmlns:p14="http://schemas.microsoft.com/office/powerpoint/2010/main" val="7058143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B2303E-2E81-45CA-901A-043B08CA7BB5}" type="slidenum">
              <a:rPr lang="en-CA" smtClean="0"/>
              <a:t>6</a:t>
            </a:fld>
            <a:endParaRPr lang="en-CA"/>
          </a:p>
        </p:txBody>
      </p:sp>
    </p:spTree>
    <p:extLst>
      <p:ext uri="{BB962C8B-B14F-4D97-AF65-F5344CB8AC3E}">
        <p14:creationId xmlns:p14="http://schemas.microsoft.com/office/powerpoint/2010/main" val="134271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5A06B7-63D0-45F3-943F-F5BB7F597E75}" type="datetime1">
              <a:rPr lang="en-US" smtClean="0"/>
              <a:t>4/21/23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BEF221-4509-47A4-9CA5-09C1E0895316}" type="datetime1">
              <a:rPr lang="en-US" smtClean="0"/>
              <a:t>4/21/23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9174A7-FEC0-4A26-9254-9957E0A841D8}" type="datetime1">
              <a:rPr lang="en-US" smtClean="0"/>
              <a:t>4/21/23</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04012FE-9E33-4C07-9EF1-A55953264CA7}" type="datetime1">
              <a:rPr lang="en-US" smtClean="0"/>
              <a:t>4/21/23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521420B-137F-4AD9-BEA5-C7EEE0946476}" type="datetime1">
              <a:rPr lang="en-US" smtClean="0"/>
              <a:t>4/21/23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AA1CC82-A905-4D18-A826-B8257F7DE6BB}" type="datetime1">
              <a:rPr lang="en-US" smtClean="0"/>
              <a:t>4/21/23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CE6481-8003-41B8-8619-622F513CB2E8}" type="datetime1">
              <a:rPr lang="en-US" smtClean="0"/>
              <a:t>4/21/23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FE9D30-4DE0-432D-B429-163551F9745E}" type="datetime1">
              <a:rPr lang="en-US" smtClean="0"/>
              <a:t>4/21/23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83CE7214-7294-4B2B-ACFF-812A4AAC2203}" type="datetime1">
              <a:rPr lang="en-US" smtClean="0"/>
              <a:t>4/21/23</a:t>
            </a:fld>
            <a:endParaRPr lang="en-US" dirty="0"/>
          </a:p>
        </p:txBody>
      </p:sp>
      <p:sp>
        <p:nvSpPr>
          <p:cNvPr id="9" name="Slide Number Placeholder 8"/>
          <p:cNvSpPr>
            <a:spLocks noGrp="1"/>
          </p:cNvSpPr>
          <p:nvPr>
            <p:ph type="sldNum" sz="quarter" idx="11"/>
          </p:nvPr>
        </p:nvSpPr>
        <p:spPr/>
        <p:txBody>
          <a:bodyPr/>
          <a:lstStyle/>
          <a:p>
            <a:fld id="{6E2D2B3B-882E-40F3-A32F-6DD516915044}" type="slidenum">
              <a:rPr lang="en-US" smtClean="0"/>
              <a:pPr/>
              <a:t>‹#›</a:t>
            </a:fld>
            <a:endParaRPr lang="en-US" dirty="0"/>
          </a:p>
        </p:txBody>
      </p:sp>
      <p:sp>
        <p:nvSpPr>
          <p:cNvPr id="10" name="Footer Placeholder 9"/>
          <p:cNvSpPr>
            <a:spLocks noGrp="1"/>
          </p:cNvSpPr>
          <p:nvPr>
            <p:ph type="ftr" sz="quarter" idx="12"/>
          </p:nvPr>
        </p:nvSpPr>
        <p:spPr/>
        <p:txBody>
          <a:bodyPr/>
          <a:lstStyle/>
          <a:p>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6111FE-5193-47EF-8BE9-5869585EA94D}" type="datetime1">
              <a:rPr lang="en-US" smtClean="0"/>
              <a:t>4/21/23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FFF6DA-B5EF-4027-9DDE-4DA729997CF1}" type="datetime1">
              <a:rPr lang="en-US" smtClean="0"/>
              <a:t>4/21/23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6E2D2B3B-882E-40F3-A32F-6DD516915044}" type="slidenum">
              <a:rPr lang="en-US" smtClean="0"/>
              <a:pPr/>
              <a:t>‹#›</a:t>
            </a:fld>
            <a:endParaRPr lang="en-US" dirty="0"/>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dirty="0"/>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AC7A4780-BF45-48FB-8163-CCD37D391062}" type="datetime1">
              <a:rPr lang="en-US" smtClean="0"/>
              <a:t>4/21/23</a:t>
            </a:fld>
            <a:endParaRPr lang="en-US" dirty="0"/>
          </a:p>
        </p:txBody>
      </p:sp>
    </p:spTree>
  </p:cSld>
  <p:clrMap bg1="lt1" tx1="dk1" bg2="lt2" tx2="dk2" accent1="accent1" accent2="accent2" accent3="accent3" accent4="accent4" accent5="accent5" accent6="accent6" hlink="hlink" folHlink="folHlink"/>
  <p:sldLayoutIdLst>
    <p:sldLayoutId id="2147483951" r:id="rId1"/>
    <p:sldLayoutId id="2147483952" r:id="rId2"/>
    <p:sldLayoutId id="2147483953" r:id="rId3"/>
    <p:sldLayoutId id="2147483954" r:id="rId4"/>
    <p:sldLayoutId id="2147483955" r:id="rId5"/>
    <p:sldLayoutId id="2147483956" r:id="rId6"/>
    <p:sldLayoutId id="2147483957" r:id="rId7"/>
    <p:sldLayoutId id="2147483958" r:id="rId8"/>
    <p:sldLayoutId id="2147483959" r:id="rId9"/>
    <p:sldLayoutId id="2147483960" r:id="rId10"/>
    <p:sldLayoutId id="2147483961" r:id="rId11"/>
  </p:sldLayoutIdLst>
  <p:hf hdr="0" ft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vZIu2pfbN6Q"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896" y="309093"/>
            <a:ext cx="7620000" cy="1004552"/>
          </a:xfrm>
        </p:spPr>
        <p:txBody>
          <a:bodyPr/>
          <a:lstStyle/>
          <a:p>
            <a:r>
              <a:rPr lang="en-US" dirty="0"/>
              <a:t>604-420  Week 13</a:t>
            </a:r>
          </a:p>
        </p:txBody>
      </p:sp>
      <p:sp>
        <p:nvSpPr>
          <p:cNvPr id="3" name="Content Placeholder 2"/>
          <p:cNvSpPr>
            <a:spLocks noGrp="1"/>
          </p:cNvSpPr>
          <p:nvPr>
            <p:ph idx="1"/>
          </p:nvPr>
        </p:nvSpPr>
        <p:spPr>
          <a:xfrm>
            <a:off x="657896" y="1452880"/>
            <a:ext cx="7218608" cy="5855880"/>
          </a:xfrm>
        </p:spPr>
        <p:txBody>
          <a:bodyPr>
            <a:normAutofit/>
          </a:bodyPr>
          <a:lstStyle/>
          <a:p>
            <a:pPr marL="571500" indent="-457200">
              <a:buFont typeface="Arial" pitchFamily="34" charset="0"/>
              <a:buAutoNum type="arabicPeriod"/>
            </a:pPr>
            <a:endParaRPr lang="en-US" sz="2400" dirty="0"/>
          </a:p>
          <a:p>
            <a:pPr marL="114300" indent="0">
              <a:buNone/>
            </a:pPr>
            <a:r>
              <a:rPr lang="en-US" sz="2400" dirty="0"/>
              <a:t>Week 13 is a research and preparation week. You will do it by yourselves. The teacher will be available in person in her office and on Teams during normal class hours if you have any questions. </a:t>
            </a:r>
          </a:p>
          <a:p>
            <a:pPr marL="114300" indent="0">
              <a:buNone/>
            </a:pPr>
            <a:r>
              <a:rPr lang="en-US" sz="2400" dirty="0"/>
              <a:t>You can also MIO the teacher between 8am and 5pm during weekdays. </a:t>
            </a:r>
          </a:p>
          <a:p>
            <a:pPr marL="571500" indent="-457200">
              <a:buAutoNum type="arabicPeriod"/>
            </a:pPr>
            <a:endParaRPr lang="en-US" sz="2400" dirty="0">
              <a:solidFill>
                <a:srgbClr val="FF0000"/>
              </a:solidFill>
            </a:endParaRPr>
          </a:p>
          <a:p>
            <a:pPr marL="114300" indent="0">
              <a:buNone/>
            </a:pPr>
            <a:endParaRPr lang="en-US" sz="2400" dirty="0">
              <a:solidFill>
                <a:srgbClr val="FF0000"/>
              </a:solidFill>
            </a:endParaRPr>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1</a:t>
            </a:fld>
            <a:endParaRPr lang="en-US"/>
          </a:p>
        </p:txBody>
      </p:sp>
    </p:spTree>
    <p:extLst>
      <p:ext uri="{BB962C8B-B14F-4D97-AF65-F5344CB8AC3E}">
        <p14:creationId xmlns:p14="http://schemas.microsoft.com/office/powerpoint/2010/main" val="481778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300251"/>
            <a:ext cx="8420669" cy="6557749"/>
          </a:xfrm>
        </p:spPr>
        <p:txBody>
          <a:bodyPr>
            <a:normAutofit fontScale="55000" lnSpcReduction="20000"/>
          </a:bodyPr>
          <a:lstStyle/>
          <a:p>
            <a:pPr marL="114300" indent="0">
              <a:buNone/>
            </a:pPr>
            <a:r>
              <a:rPr lang="en-US" sz="7600" dirty="0"/>
              <a:t>Info on </a:t>
            </a:r>
            <a:r>
              <a:rPr lang="en-US" sz="7600" dirty="0" err="1"/>
              <a:t>Certificative</a:t>
            </a:r>
            <a:r>
              <a:rPr lang="en-US" sz="7600" dirty="0"/>
              <a:t> Evaluation : </a:t>
            </a:r>
          </a:p>
          <a:p>
            <a:pPr marL="114300" indent="0">
              <a:buNone/>
            </a:pPr>
            <a:r>
              <a:rPr lang="en-US" sz="7600" dirty="0"/>
              <a:t>Task III Writing </a:t>
            </a:r>
          </a:p>
          <a:p>
            <a:pPr marL="114300" indent="0">
              <a:buNone/>
            </a:pPr>
            <a:endParaRPr lang="en-CA" sz="4400" dirty="0"/>
          </a:p>
          <a:p>
            <a:r>
              <a:rPr lang="en-CA" sz="5100" dirty="0"/>
              <a:t> </a:t>
            </a:r>
            <a:r>
              <a:rPr lang="en-CA" sz="5100" dirty="0">
                <a:solidFill>
                  <a:srgbClr val="C00000"/>
                </a:solidFill>
              </a:rPr>
              <a:t>Week 14 </a:t>
            </a:r>
            <a:r>
              <a:rPr lang="en-CA" sz="5100" dirty="0"/>
              <a:t>Writing evaluation 25% </a:t>
            </a:r>
            <a:r>
              <a:rPr lang="en-CA" sz="5100" dirty="0">
                <a:solidFill>
                  <a:srgbClr val="C00000"/>
                </a:solidFill>
              </a:rPr>
              <a:t>in the classroom </a:t>
            </a:r>
          </a:p>
          <a:p>
            <a:r>
              <a:rPr lang="en-CA" sz="5100" dirty="0">
                <a:solidFill>
                  <a:srgbClr val="C00000"/>
                </a:solidFill>
              </a:rPr>
              <a:t>90 </a:t>
            </a:r>
            <a:r>
              <a:rPr lang="en-CA" sz="5100" dirty="0"/>
              <a:t>minutes  (approximately </a:t>
            </a:r>
            <a:r>
              <a:rPr lang="en-CA" sz="5100" b="1" u="sng" dirty="0">
                <a:solidFill>
                  <a:srgbClr val="FF0000"/>
                </a:solidFill>
              </a:rPr>
              <a:t>350</a:t>
            </a:r>
            <a:r>
              <a:rPr lang="en-CA" sz="5100" b="1" u="sng" dirty="0"/>
              <a:t> </a:t>
            </a:r>
            <a:r>
              <a:rPr lang="en-CA" sz="5100" dirty="0"/>
              <a:t>words)</a:t>
            </a:r>
          </a:p>
          <a:p>
            <a:pPr marL="114300" indent="0">
              <a:buNone/>
            </a:pPr>
            <a:endParaRPr lang="en-CA" sz="3800" dirty="0"/>
          </a:p>
          <a:p>
            <a:pPr marL="114300" indent="0">
              <a:buNone/>
            </a:pPr>
            <a:r>
              <a:rPr lang="en-CA" sz="4200" dirty="0">
                <a:latin typeface="Times New Roman" panose="02020603050405020304" pitchFamily="18" charset="0"/>
                <a:cs typeface="Times New Roman" panose="02020603050405020304" pitchFamily="18" charset="0"/>
              </a:rPr>
              <a:t>Details: </a:t>
            </a:r>
          </a:p>
          <a:p>
            <a:pPr marL="114300" indent="0">
              <a:buNone/>
            </a:pPr>
            <a:r>
              <a:rPr lang="en-CA" sz="4200" dirty="0">
                <a:latin typeface="Times New Roman" panose="02020603050405020304" pitchFamily="18" charset="0"/>
                <a:cs typeface="Times New Roman" panose="02020603050405020304" pitchFamily="18" charset="0"/>
              </a:rPr>
              <a:t>Based on the process/procedure audio/video clip you found and the Outline you wrote in Week13, you will write </a:t>
            </a:r>
            <a:r>
              <a:rPr lang="en-CA" sz="4200" dirty="0">
                <a:solidFill>
                  <a:srgbClr val="C00000"/>
                </a:solidFill>
                <a:latin typeface="Times New Roman" panose="02020603050405020304" pitchFamily="18" charset="0"/>
                <a:cs typeface="Times New Roman" panose="02020603050405020304" pitchFamily="18" charset="0"/>
              </a:rPr>
              <a:t>an</a:t>
            </a:r>
            <a:r>
              <a:rPr lang="en-CA" sz="4200" dirty="0">
                <a:latin typeface="Times New Roman" panose="02020603050405020304" pitchFamily="18" charset="0"/>
                <a:cs typeface="Times New Roman" panose="02020603050405020304" pitchFamily="18" charset="0"/>
              </a:rPr>
              <a:t> </a:t>
            </a:r>
            <a:r>
              <a:rPr lang="en-CA" sz="4200" dirty="0">
                <a:solidFill>
                  <a:srgbClr val="C00000"/>
                </a:solidFill>
                <a:latin typeface="Times New Roman" panose="02020603050405020304" pitchFamily="18" charset="0"/>
                <a:cs typeface="Times New Roman" panose="02020603050405020304" pitchFamily="18" charset="0"/>
              </a:rPr>
              <a:t>essay </a:t>
            </a:r>
            <a:r>
              <a:rPr lang="en-CA" sz="4200" dirty="0">
                <a:latin typeface="Times New Roman" panose="02020603050405020304" pitchFamily="18" charset="0"/>
                <a:cs typeface="Times New Roman" panose="02020603050405020304" pitchFamily="18" charset="0"/>
              </a:rPr>
              <a:t>of approximately </a:t>
            </a:r>
            <a:r>
              <a:rPr lang="en-CA" sz="4200" b="1" dirty="0">
                <a:solidFill>
                  <a:srgbClr val="FF0000"/>
                </a:solidFill>
                <a:latin typeface="Times New Roman" panose="02020603050405020304" pitchFamily="18" charset="0"/>
                <a:cs typeface="Times New Roman" panose="02020603050405020304" pitchFamily="18" charset="0"/>
              </a:rPr>
              <a:t>350 </a:t>
            </a:r>
            <a:r>
              <a:rPr lang="en-CA" sz="4200" dirty="0">
                <a:latin typeface="Times New Roman" panose="02020603050405020304" pitchFamily="18" charset="0"/>
                <a:cs typeface="Times New Roman" panose="02020603050405020304" pitchFamily="18" charset="0"/>
              </a:rPr>
              <a:t>words in Week 14 to explain the process/procedure related to your field. The Task III Word Document, the Task III Outline, the Verb List, the Transitional Words List, paper dictionaries and grammar charts are permitted. </a:t>
            </a:r>
          </a:p>
          <a:p>
            <a:pPr marL="114300" indent="0">
              <a:buNone/>
            </a:pPr>
            <a:endParaRPr lang="en-CA" sz="4200" dirty="0">
              <a:latin typeface="Times New Roman" panose="02020603050405020304" pitchFamily="18" charset="0"/>
              <a:cs typeface="Times New Roman" panose="02020603050405020304" pitchFamily="18" charset="0"/>
            </a:endParaRPr>
          </a:p>
          <a:p>
            <a:pPr marL="114300" indent="0">
              <a:buNone/>
            </a:pPr>
            <a:r>
              <a:rPr lang="en-CA" sz="4200" dirty="0">
                <a:latin typeface="Times New Roman" panose="02020603050405020304" pitchFamily="18" charset="0"/>
                <a:cs typeface="Times New Roman" panose="02020603050405020304" pitchFamily="18" charset="0"/>
              </a:rPr>
              <a:t>Evaluation Criteria: same as the summative writing evaluation (See the Writing Descriptors on LEA). </a:t>
            </a:r>
          </a:p>
          <a:p>
            <a:pPr marL="114300" indent="0">
              <a:buNone/>
            </a:pPr>
            <a:endParaRPr lang="en-CA" sz="3800"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2</a:t>
            </a:fld>
            <a:endParaRPr lang="en-US"/>
          </a:p>
        </p:txBody>
      </p:sp>
    </p:spTree>
    <p:extLst>
      <p:ext uri="{BB962C8B-B14F-4D97-AF65-F5344CB8AC3E}">
        <p14:creationId xmlns:p14="http://schemas.microsoft.com/office/powerpoint/2010/main" val="4243265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4D25C-545D-116E-4F16-ED67B6E399EC}"/>
              </a:ext>
            </a:extLst>
          </p:cNvPr>
          <p:cNvSpPr>
            <a:spLocks noGrp="1"/>
          </p:cNvSpPr>
          <p:nvPr>
            <p:ph type="title"/>
          </p:nvPr>
        </p:nvSpPr>
        <p:spPr>
          <a:xfrm>
            <a:off x="341290" y="29939"/>
            <a:ext cx="7735910" cy="871582"/>
          </a:xfrm>
        </p:spPr>
        <p:txBody>
          <a:bodyPr/>
          <a:lstStyle/>
          <a:p>
            <a:r>
              <a:rPr lang="fr-CA" dirty="0" err="1"/>
              <a:t>Task</a:t>
            </a:r>
            <a:r>
              <a:rPr lang="fr-CA" dirty="0"/>
              <a:t> III Process </a:t>
            </a:r>
            <a:r>
              <a:rPr lang="fr-CA" dirty="0" err="1"/>
              <a:t>Research</a:t>
            </a:r>
            <a:r>
              <a:rPr lang="fr-CA" dirty="0"/>
              <a:t>  </a:t>
            </a:r>
            <a:endParaRPr lang="en-CA" dirty="0"/>
          </a:p>
        </p:txBody>
      </p:sp>
      <p:sp>
        <p:nvSpPr>
          <p:cNvPr id="3" name="Content Placeholder 2">
            <a:extLst>
              <a:ext uri="{FF2B5EF4-FFF2-40B4-BE49-F238E27FC236}">
                <a16:creationId xmlns:a16="http://schemas.microsoft.com/office/drawing/2014/main" id="{E0F99BEE-7D19-6C2C-C40B-D314E83A6763}"/>
              </a:ext>
            </a:extLst>
          </p:cNvPr>
          <p:cNvSpPr>
            <a:spLocks noGrp="1"/>
          </p:cNvSpPr>
          <p:nvPr>
            <p:ph idx="1"/>
          </p:nvPr>
        </p:nvSpPr>
        <p:spPr>
          <a:xfrm>
            <a:off x="63573" y="901522"/>
            <a:ext cx="8365650" cy="6269300"/>
          </a:xfrm>
        </p:spPr>
        <p:txBody>
          <a:bodyPr>
            <a:normAutofit lnSpcReduction="10000"/>
          </a:bodyPr>
          <a:lstStyle/>
          <a:p>
            <a:r>
              <a:rPr lang="en-US" dirty="0"/>
              <a:t>This task is not graded; however, it is a mandatory step for the </a:t>
            </a:r>
            <a:r>
              <a:rPr lang="en-US" dirty="0" err="1"/>
              <a:t>Certificative</a:t>
            </a:r>
            <a:r>
              <a:rPr lang="en-US" dirty="0"/>
              <a:t> Exams. You may start it in week 12 and continue to finish it in Week 13. </a:t>
            </a:r>
            <a:endParaRPr lang="en-CA" dirty="0"/>
          </a:p>
          <a:p>
            <a:pPr marL="114300" indent="0">
              <a:buNone/>
            </a:pPr>
            <a:endParaRPr lang="en-US" sz="800" dirty="0"/>
          </a:p>
          <a:p>
            <a:r>
              <a:rPr lang="en-US" dirty="0"/>
              <a:t>Instructions: Individually, research an audio/video clip approximately </a:t>
            </a:r>
            <a:r>
              <a:rPr lang="en-US" dirty="0">
                <a:solidFill>
                  <a:srgbClr val="FF0000"/>
                </a:solidFill>
              </a:rPr>
              <a:t>five minutes </a:t>
            </a:r>
            <a:r>
              <a:rPr lang="en-US" dirty="0"/>
              <a:t>long that explains </a:t>
            </a:r>
            <a:r>
              <a:rPr lang="en-US" dirty="0">
                <a:solidFill>
                  <a:srgbClr val="FF0000"/>
                </a:solidFill>
              </a:rPr>
              <a:t>a process or procedure </a:t>
            </a:r>
            <a:r>
              <a:rPr lang="en-US" dirty="0"/>
              <a:t>(step by step explanation of how to do something) in your field from a </a:t>
            </a:r>
            <a:r>
              <a:rPr lang="en-US" dirty="0">
                <a:solidFill>
                  <a:srgbClr val="FF0000"/>
                </a:solidFill>
              </a:rPr>
              <a:t>reliable source</a:t>
            </a:r>
            <a:r>
              <a:rPr lang="en-US" dirty="0"/>
              <a:t>. </a:t>
            </a:r>
            <a:r>
              <a:rPr lang="fr-CA" dirty="0" err="1"/>
              <a:t>Identify</a:t>
            </a:r>
            <a:r>
              <a:rPr lang="fr-CA" dirty="0"/>
              <a:t> </a:t>
            </a:r>
            <a:r>
              <a:rPr lang="fr-CA" dirty="0" err="1"/>
              <a:t>three</a:t>
            </a:r>
            <a:r>
              <a:rPr lang="fr-CA" dirty="0"/>
              <a:t> </a:t>
            </a:r>
            <a:r>
              <a:rPr lang="fr-CA" dirty="0" err="1"/>
              <a:t>field-related</a:t>
            </a:r>
            <a:r>
              <a:rPr lang="fr-CA" dirty="0"/>
              <a:t> </a:t>
            </a:r>
            <a:r>
              <a:rPr lang="fr-CA" dirty="0" err="1"/>
              <a:t>terms</a:t>
            </a:r>
            <a:r>
              <a:rPr lang="en-CA" dirty="0"/>
              <a:t>/expressions and write their definitions and use a couple of sentences to write about the main ideas. </a:t>
            </a:r>
          </a:p>
          <a:p>
            <a:pPr lvl="1"/>
            <a:endParaRPr lang="en-CA" sz="800" dirty="0"/>
          </a:p>
          <a:p>
            <a:r>
              <a:rPr lang="en-CA" dirty="0"/>
              <a:t>You will create the </a:t>
            </a:r>
            <a:r>
              <a:rPr lang="en-CA" b="1" u="sng" dirty="0"/>
              <a:t>Task III Word Document </a:t>
            </a:r>
            <a:r>
              <a:rPr lang="en-CA" dirty="0"/>
              <a:t>including all the necessary information about this task. You will then create the </a:t>
            </a:r>
            <a:r>
              <a:rPr lang="en-CA" b="1" u="sng" dirty="0"/>
              <a:t>Task III Outline </a:t>
            </a:r>
            <a:r>
              <a:rPr lang="en-CA" dirty="0"/>
              <a:t>based on your audio/video. See the models on the next pages. </a:t>
            </a:r>
            <a:endParaRPr lang="en-CA" sz="800" dirty="0"/>
          </a:p>
          <a:p>
            <a:endParaRPr lang="en-CA" dirty="0"/>
          </a:p>
          <a:p>
            <a:r>
              <a:rPr lang="en-CA" dirty="0"/>
              <a:t>You must submit a paper copy of your Task III Word Document and Task III Outline to your teacher before the end of your class in </a:t>
            </a:r>
            <a:r>
              <a:rPr lang="en-CA" dirty="0">
                <a:solidFill>
                  <a:srgbClr val="FF0000"/>
                </a:solidFill>
              </a:rPr>
              <a:t>Week 13. </a:t>
            </a:r>
            <a:r>
              <a:rPr lang="en-CA" dirty="0"/>
              <a:t>You can leave the documents in </a:t>
            </a:r>
            <a:r>
              <a:rPr lang="en-CA" dirty="0" err="1"/>
              <a:t>Hala’s</a:t>
            </a:r>
            <a:r>
              <a:rPr lang="en-CA" dirty="0"/>
              <a:t> office if you finish before your Week 13 class.</a:t>
            </a:r>
            <a:endParaRPr lang="en-US" dirty="0"/>
          </a:p>
          <a:p>
            <a:endParaRPr lang="en-CA" dirty="0"/>
          </a:p>
        </p:txBody>
      </p:sp>
      <p:sp>
        <p:nvSpPr>
          <p:cNvPr id="4" name="Slide Number Placeholder 3">
            <a:extLst>
              <a:ext uri="{FF2B5EF4-FFF2-40B4-BE49-F238E27FC236}">
                <a16:creationId xmlns:a16="http://schemas.microsoft.com/office/drawing/2014/main" id="{0EE8B123-8A8B-2C95-95CB-1A0D900F2C04}"/>
              </a:ext>
            </a:extLst>
          </p:cNvPr>
          <p:cNvSpPr>
            <a:spLocks noGrp="1"/>
          </p:cNvSpPr>
          <p:nvPr>
            <p:ph type="sldNum" sz="quarter" idx="12"/>
          </p:nvPr>
        </p:nvSpPr>
        <p:spPr/>
        <p:txBody>
          <a:bodyPr/>
          <a:lstStyle/>
          <a:p>
            <a:fld id="{6E2D2B3B-882E-40F3-A32F-6DD516915044}" type="slidenum">
              <a:rPr lang="en-US" smtClean="0"/>
              <a:pPr/>
              <a:t>3</a:t>
            </a:fld>
            <a:endParaRPr lang="en-US"/>
          </a:p>
        </p:txBody>
      </p:sp>
    </p:spTree>
    <p:extLst>
      <p:ext uri="{BB962C8B-B14F-4D97-AF65-F5344CB8AC3E}">
        <p14:creationId xmlns:p14="http://schemas.microsoft.com/office/powerpoint/2010/main" val="1506305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FF52-091C-80DA-892C-B311C1F5C126}"/>
              </a:ext>
            </a:extLst>
          </p:cNvPr>
          <p:cNvSpPr>
            <a:spLocks noGrp="1"/>
          </p:cNvSpPr>
          <p:nvPr>
            <p:ph type="title"/>
          </p:nvPr>
        </p:nvSpPr>
        <p:spPr>
          <a:xfrm>
            <a:off x="-1" y="0"/>
            <a:ext cx="8422783" cy="1552074"/>
          </a:xfrm>
        </p:spPr>
        <p:txBody>
          <a:bodyPr/>
          <a:lstStyle/>
          <a:p>
            <a:r>
              <a:rPr lang="en-CA" dirty="0"/>
              <a:t>Task III Word Document –week 13</a:t>
            </a:r>
            <a:br>
              <a:rPr lang="en-CA" dirty="0"/>
            </a:br>
            <a:r>
              <a:rPr lang="en-CA" dirty="0"/>
              <a:t>Submit before end of class </a:t>
            </a:r>
          </a:p>
        </p:txBody>
      </p:sp>
      <p:sp>
        <p:nvSpPr>
          <p:cNvPr id="3" name="Content Placeholder 2">
            <a:extLst>
              <a:ext uri="{FF2B5EF4-FFF2-40B4-BE49-F238E27FC236}">
                <a16:creationId xmlns:a16="http://schemas.microsoft.com/office/drawing/2014/main" id="{B8D08C63-DEAC-ABA9-8F1A-C326076CB29D}"/>
              </a:ext>
            </a:extLst>
          </p:cNvPr>
          <p:cNvSpPr>
            <a:spLocks noGrp="1"/>
          </p:cNvSpPr>
          <p:nvPr>
            <p:ph idx="1"/>
          </p:nvPr>
        </p:nvSpPr>
        <p:spPr>
          <a:xfrm>
            <a:off x="392806" y="1744579"/>
            <a:ext cx="7482625" cy="5164936"/>
          </a:xfrm>
        </p:spPr>
        <p:txBody>
          <a:bodyPr/>
          <a:lstStyle/>
          <a:p>
            <a:pPr marL="571500" indent="-457200">
              <a:buFont typeface="+mj-lt"/>
              <a:buAutoNum type="arabicPeriod"/>
            </a:pPr>
            <a:r>
              <a:rPr lang="en-CA" dirty="0"/>
              <a:t>Field of study: </a:t>
            </a:r>
          </a:p>
          <a:p>
            <a:pPr marL="571500" indent="-457200">
              <a:buFont typeface="+mj-lt"/>
              <a:buAutoNum type="arabicPeriod"/>
            </a:pPr>
            <a:r>
              <a:rPr lang="fr-CA" dirty="0"/>
              <a:t>Link to the audio</a:t>
            </a:r>
            <a:r>
              <a:rPr lang="en-CA" dirty="0"/>
              <a:t>/video clip: </a:t>
            </a:r>
          </a:p>
          <a:p>
            <a:pPr marL="571500" indent="-457200">
              <a:buFont typeface="+mj-lt"/>
              <a:buAutoNum type="arabicPeriod"/>
            </a:pPr>
            <a:r>
              <a:rPr lang="en-CA" dirty="0"/>
              <a:t>Length of the clip: </a:t>
            </a:r>
          </a:p>
          <a:p>
            <a:pPr marL="571500" indent="-457200">
              <a:buFont typeface="+mj-lt"/>
              <a:buAutoNum type="arabicPeriod"/>
            </a:pPr>
            <a:r>
              <a:rPr lang="en-CA" dirty="0"/>
              <a:t>Justification of the reliability of the clip: </a:t>
            </a:r>
          </a:p>
          <a:p>
            <a:pPr marL="571500" indent="-457200">
              <a:buFont typeface="+mj-lt"/>
              <a:buAutoNum type="arabicPeriod"/>
            </a:pPr>
            <a:r>
              <a:rPr lang="en-CA" dirty="0"/>
              <a:t>Level-appropriate, field-related vocabulary and definitions: </a:t>
            </a:r>
          </a:p>
          <a:p>
            <a:pPr marL="411480" lvl="1" indent="0">
              <a:buNone/>
            </a:pPr>
            <a:r>
              <a:rPr lang="en-CA" dirty="0"/>
              <a:t>(1)</a:t>
            </a:r>
            <a:r>
              <a:rPr lang="en-US" dirty="0"/>
              <a:t> </a:t>
            </a:r>
          </a:p>
          <a:p>
            <a:pPr marL="411480" lvl="1" indent="0">
              <a:buNone/>
            </a:pPr>
            <a:r>
              <a:rPr lang="en-CA" dirty="0"/>
              <a:t>(2)</a:t>
            </a:r>
            <a:endParaRPr lang="en-CA" dirty="0">
              <a:solidFill>
                <a:schemeClr val="accent6"/>
              </a:solidFill>
            </a:endParaRPr>
          </a:p>
          <a:p>
            <a:pPr marL="411480" lvl="1" indent="0">
              <a:buNone/>
            </a:pPr>
            <a:r>
              <a:rPr lang="en-CA" dirty="0"/>
              <a:t>(3)</a:t>
            </a:r>
          </a:p>
          <a:p>
            <a:pPr marL="571500" indent="-457200">
              <a:buFont typeface="+mj-lt"/>
              <a:buAutoNum type="arabicPeriod"/>
            </a:pPr>
            <a:r>
              <a:rPr lang="en-CA" dirty="0"/>
              <a:t>Main ideas:</a:t>
            </a:r>
          </a:p>
        </p:txBody>
      </p:sp>
      <p:sp>
        <p:nvSpPr>
          <p:cNvPr id="4" name="Slide Number Placeholder 3">
            <a:extLst>
              <a:ext uri="{FF2B5EF4-FFF2-40B4-BE49-F238E27FC236}">
                <a16:creationId xmlns:a16="http://schemas.microsoft.com/office/drawing/2014/main" id="{E1355A25-551B-9F61-CFD4-FBD9E5C4924C}"/>
              </a:ext>
            </a:extLst>
          </p:cNvPr>
          <p:cNvSpPr>
            <a:spLocks noGrp="1"/>
          </p:cNvSpPr>
          <p:nvPr>
            <p:ph type="sldNum" sz="quarter" idx="12"/>
          </p:nvPr>
        </p:nvSpPr>
        <p:spPr/>
        <p:txBody>
          <a:bodyPr/>
          <a:lstStyle/>
          <a:p>
            <a:fld id="{6E2D2B3B-882E-40F3-A32F-6DD516915044}" type="slidenum">
              <a:rPr lang="en-US" smtClean="0"/>
              <a:pPr/>
              <a:t>4</a:t>
            </a:fld>
            <a:endParaRPr lang="en-US"/>
          </a:p>
        </p:txBody>
      </p:sp>
    </p:spTree>
    <p:extLst>
      <p:ext uri="{BB962C8B-B14F-4D97-AF65-F5344CB8AC3E}">
        <p14:creationId xmlns:p14="http://schemas.microsoft.com/office/powerpoint/2010/main" val="1616147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1BB65-E9E9-5D26-BE49-2DC6B651EED1}"/>
              </a:ext>
            </a:extLst>
          </p:cNvPr>
          <p:cNvSpPr>
            <a:spLocks noGrp="1"/>
          </p:cNvSpPr>
          <p:nvPr>
            <p:ph type="title"/>
          </p:nvPr>
        </p:nvSpPr>
        <p:spPr>
          <a:xfrm>
            <a:off x="457200" y="274638"/>
            <a:ext cx="7620000" cy="1325562"/>
          </a:xfrm>
        </p:spPr>
        <p:txBody>
          <a:bodyPr/>
          <a:lstStyle/>
          <a:p>
            <a:r>
              <a:rPr lang="en-US" dirty="0"/>
              <a:t>How to write Citations (references) </a:t>
            </a:r>
          </a:p>
        </p:txBody>
      </p:sp>
      <p:sp>
        <p:nvSpPr>
          <p:cNvPr id="3" name="Content Placeholder 2">
            <a:extLst>
              <a:ext uri="{FF2B5EF4-FFF2-40B4-BE49-F238E27FC236}">
                <a16:creationId xmlns:a16="http://schemas.microsoft.com/office/drawing/2014/main" id="{C80A7248-7473-31E9-9FA5-6A459F6C40D4}"/>
              </a:ext>
            </a:extLst>
          </p:cNvPr>
          <p:cNvSpPr>
            <a:spLocks noGrp="1"/>
          </p:cNvSpPr>
          <p:nvPr>
            <p:ph idx="1"/>
          </p:nvPr>
        </p:nvSpPr>
        <p:spPr>
          <a:xfrm>
            <a:off x="457200" y="2045368"/>
            <a:ext cx="7620000" cy="4355432"/>
          </a:xfrm>
        </p:spPr>
        <p:txBody>
          <a:bodyPr>
            <a:normAutofit/>
          </a:bodyPr>
          <a:lstStyle/>
          <a:p>
            <a:r>
              <a:rPr lang="en-US" dirty="0">
                <a:hlinkClick r:id="rId2"/>
              </a:rPr>
              <a:t>https://www.youtube.com/watch?v=vZIu2pfbN6Q</a:t>
            </a:r>
            <a:endParaRPr lang="en-US" dirty="0"/>
          </a:p>
          <a:p>
            <a:endParaRPr lang="en-US" dirty="0"/>
          </a:p>
          <a:p>
            <a:r>
              <a:rPr lang="en-US" dirty="0"/>
              <a:t>Include the title of your video, the name of the author,  and the website it was published on. </a:t>
            </a:r>
          </a:p>
          <a:p>
            <a:r>
              <a:rPr lang="en-US" dirty="0"/>
              <a:t>No need to mention the year of publication </a:t>
            </a:r>
          </a:p>
          <a:p>
            <a:r>
              <a:rPr lang="en-US" dirty="0"/>
              <a:t>If the name of the author is not on the website, say “Author unknown”</a:t>
            </a:r>
          </a:p>
          <a:p>
            <a:pPr marL="114300" indent="0">
              <a:buNone/>
            </a:pPr>
            <a:endParaRPr lang="en-US" b="1" dirty="0"/>
          </a:p>
          <a:p>
            <a:pPr marL="114300" indent="0">
              <a:buNone/>
            </a:pPr>
            <a:endParaRPr lang="en-US" b="1" dirty="0"/>
          </a:p>
        </p:txBody>
      </p:sp>
      <p:sp>
        <p:nvSpPr>
          <p:cNvPr id="4" name="Slide Number Placeholder 3">
            <a:extLst>
              <a:ext uri="{FF2B5EF4-FFF2-40B4-BE49-F238E27FC236}">
                <a16:creationId xmlns:a16="http://schemas.microsoft.com/office/drawing/2014/main" id="{A257F4A1-08F4-1040-B9BB-3AC5F795E336}"/>
              </a:ext>
            </a:extLst>
          </p:cNvPr>
          <p:cNvSpPr>
            <a:spLocks noGrp="1"/>
          </p:cNvSpPr>
          <p:nvPr>
            <p:ph type="sldNum" sz="quarter" idx="12"/>
          </p:nvPr>
        </p:nvSpPr>
        <p:spPr/>
        <p:txBody>
          <a:bodyPr/>
          <a:lstStyle/>
          <a:p>
            <a:fld id="{6E2D2B3B-882E-40F3-A32F-6DD516915044}" type="slidenum">
              <a:rPr lang="en-US" smtClean="0"/>
              <a:pPr/>
              <a:t>5</a:t>
            </a:fld>
            <a:endParaRPr lang="en-US"/>
          </a:p>
        </p:txBody>
      </p:sp>
    </p:spTree>
    <p:extLst>
      <p:ext uri="{BB962C8B-B14F-4D97-AF65-F5344CB8AC3E}">
        <p14:creationId xmlns:p14="http://schemas.microsoft.com/office/powerpoint/2010/main" val="1003493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821E2-B2CF-6221-6CE9-8A56F99B5FC9}"/>
              </a:ext>
            </a:extLst>
          </p:cNvPr>
          <p:cNvSpPr>
            <a:spLocks noGrp="1"/>
          </p:cNvSpPr>
          <p:nvPr>
            <p:ph type="title"/>
          </p:nvPr>
        </p:nvSpPr>
        <p:spPr>
          <a:xfrm>
            <a:off x="0" y="637674"/>
            <a:ext cx="8531788" cy="517358"/>
          </a:xfrm>
        </p:spPr>
        <p:txBody>
          <a:bodyPr/>
          <a:lstStyle/>
          <a:p>
            <a:r>
              <a:rPr lang="en-CA" sz="4000" dirty="0"/>
              <a:t>Task III Outline </a:t>
            </a:r>
            <a:r>
              <a:rPr lang="en-CA" dirty="0"/>
              <a:t>–</a:t>
            </a:r>
            <a:r>
              <a:rPr lang="en-CA" sz="4000" dirty="0"/>
              <a:t>Submit before end of  Week 13 Class </a:t>
            </a:r>
            <a:br>
              <a:rPr lang="en-CA" dirty="0"/>
            </a:br>
            <a:r>
              <a:rPr lang="ar-SA" dirty="0"/>
              <a:t>         </a:t>
            </a:r>
            <a:r>
              <a:rPr lang="en-CA" sz="2800" u="sng" dirty="0"/>
              <a:t> </a:t>
            </a:r>
          </a:p>
        </p:txBody>
      </p:sp>
      <p:sp>
        <p:nvSpPr>
          <p:cNvPr id="3" name="Content Placeholder 2">
            <a:extLst>
              <a:ext uri="{FF2B5EF4-FFF2-40B4-BE49-F238E27FC236}">
                <a16:creationId xmlns:a16="http://schemas.microsoft.com/office/drawing/2014/main" id="{5AC7FB0B-B3B1-6224-7632-7D57C7B72B43}"/>
              </a:ext>
            </a:extLst>
          </p:cNvPr>
          <p:cNvSpPr>
            <a:spLocks noGrp="1"/>
          </p:cNvSpPr>
          <p:nvPr>
            <p:ph idx="1"/>
          </p:nvPr>
        </p:nvSpPr>
        <p:spPr>
          <a:xfrm>
            <a:off x="457200" y="1371601"/>
            <a:ext cx="7843234" cy="5751094"/>
          </a:xfrm>
        </p:spPr>
        <p:txBody>
          <a:bodyPr>
            <a:normAutofit fontScale="92500" lnSpcReduction="10000"/>
          </a:bodyPr>
          <a:lstStyle/>
          <a:p>
            <a:pPr marL="114300" indent="0" algn="ctr">
              <a:buNone/>
            </a:pPr>
            <a:r>
              <a:rPr lang="fr-CA" sz="2000" b="1" u="sng" dirty="0" err="1"/>
              <a:t>Title</a:t>
            </a:r>
            <a:r>
              <a:rPr lang="fr-CA" sz="2000" b="1" u="sng" dirty="0"/>
              <a:t> of Essay</a:t>
            </a:r>
            <a:endParaRPr lang="ar-SA" sz="2000" b="1" u="sng" dirty="0"/>
          </a:p>
          <a:p>
            <a:pPr marL="114300" indent="0">
              <a:buNone/>
            </a:pPr>
            <a:r>
              <a:rPr lang="en-CA" sz="2000" b="1" u="sng" dirty="0"/>
              <a:t>Introduction</a:t>
            </a:r>
          </a:p>
          <a:p>
            <a:pPr marL="114300" indent="0">
              <a:buNone/>
            </a:pPr>
            <a:r>
              <a:rPr lang="en-CA" sz="2000" dirty="0"/>
              <a:t>General statements and thesis statement:(</a:t>
            </a:r>
            <a:r>
              <a:rPr lang="en-CA" sz="2000" dirty="0">
                <a:solidFill>
                  <a:srgbClr val="FF0000"/>
                </a:solidFill>
              </a:rPr>
              <a:t>one</a:t>
            </a:r>
            <a:r>
              <a:rPr lang="en-CA" sz="2000" dirty="0"/>
              <a:t> </a:t>
            </a:r>
            <a:r>
              <a:rPr lang="en-CA" sz="2000" dirty="0">
                <a:solidFill>
                  <a:srgbClr val="FF0000"/>
                </a:solidFill>
              </a:rPr>
              <a:t>sentence allowed in outline</a:t>
            </a:r>
            <a:r>
              <a:rPr lang="en-CA" sz="2000" dirty="0"/>
              <a:t>)</a:t>
            </a:r>
          </a:p>
          <a:p>
            <a:pPr marL="114300" indent="0">
              <a:buNone/>
            </a:pPr>
            <a:r>
              <a:rPr lang="en-CA" sz="2000" b="1" u="sng" dirty="0"/>
              <a:t>Body Paragraph 1</a:t>
            </a:r>
          </a:p>
          <a:p>
            <a:pPr marL="114300" indent="0">
              <a:buNone/>
            </a:pPr>
            <a:r>
              <a:rPr lang="en-CA" sz="2000" dirty="0"/>
              <a:t>Topic sentence I: Step 1…(</a:t>
            </a:r>
            <a:r>
              <a:rPr lang="en-CA" sz="2000" dirty="0">
                <a:solidFill>
                  <a:srgbClr val="FF0000"/>
                </a:solidFill>
              </a:rPr>
              <a:t>one</a:t>
            </a:r>
            <a:r>
              <a:rPr lang="en-CA" sz="2000" dirty="0"/>
              <a:t> </a:t>
            </a:r>
            <a:r>
              <a:rPr lang="en-CA" sz="2000" dirty="0">
                <a:solidFill>
                  <a:srgbClr val="FF0000"/>
                </a:solidFill>
              </a:rPr>
              <a:t>full</a:t>
            </a:r>
            <a:r>
              <a:rPr lang="en-CA" sz="2000" dirty="0"/>
              <a:t> </a:t>
            </a:r>
            <a:r>
              <a:rPr lang="en-CA" sz="2000" dirty="0">
                <a:solidFill>
                  <a:srgbClr val="FF0000"/>
                </a:solidFill>
              </a:rPr>
              <a:t>sentence allowed</a:t>
            </a:r>
            <a:r>
              <a:rPr lang="en-CA" sz="2000" dirty="0"/>
              <a:t>)</a:t>
            </a:r>
          </a:p>
          <a:p>
            <a:pPr marL="114300" indent="0">
              <a:buNone/>
            </a:pPr>
            <a:r>
              <a:rPr lang="en-CA" sz="2000" dirty="0"/>
              <a:t>Some supporting details (</a:t>
            </a:r>
            <a:r>
              <a:rPr lang="en-CA" sz="2000" dirty="0">
                <a:solidFill>
                  <a:srgbClr val="FF0000"/>
                </a:solidFill>
              </a:rPr>
              <a:t>5 words – no sentences allowed</a:t>
            </a:r>
            <a:r>
              <a:rPr lang="en-CA" sz="2000" dirty="0"/>
              <a:t>)</a:t>
            </a:r>
          </a:p>
          <a:p>
            <a:pPr marL="114300" indent="0">
              <a:buNone/>
            </a:pPr>
            <a:r>
              <a:rPr lang="en-CA" sz="2000" b="1" u="sng" dirty="0"/>
              <a:t>Body Paragraph 2</a:t>
            </a:r>
            <a:endParaRPr lang="en-CA" sz="2000" dirty="0"/>
          </a:p>
          <a:p>
            <a:pPr marL="114300" indent="0">
              <a:buNone/>
            </a:pPr>
            <a:r>
              <a:rPr lang="en-CA" sz="2000" dirty="0"/>
              <a:t>Topic sentence II: Step 2…:(</a:t>
            </a:r>
            <a:r>
              <a:rPr lang="en-CA" sz="2000" dirty="0">
                <a:solidFill>
                  <a:srgbClr val="FF0000"/>
                </a:solidFill>
              </a:rPr>
              <a:t>one</a:t>
            </a:r>
            <a:r>
              <a:rPr lang="en-CA" sz="2000" dirty="0"/>
              <a:t> </a:t>
            </a:r>
            <a:r>
              <a:rPr lang="en-CA" sz="2000" dirty="0">
                <a:solidFill>
                  <a:srgbClr val="FF0000"/>
                </a:solidFill>
              </a:rPr>
              <a:t>full</a:t>
            </a:r>
            <a:r>
              <a:rPr lang="en-CA" sz="2000" dirty="0"/>
              <a:t> </a:t>
            </a:r>
            <a:r>
              <a:rPr lang="en-CA" sz="2000" dirty="0">
                <a:solidFill>
                  <a:srgbClr val="FF0000"/>
                </a:solidFill>
              </a:rPr>
              <a:t>sentence allowed</a:t>
            </a:r>
            <a:r>
              <a:rPr lang="en-CA" sz="2000" dirty="0"/>
              <a:t>)</a:t>
            </a:r>
          </a:p>
          <a:p>
            <a:pPr marL="114300" indent="0">
              <a:buNone/>
            </a:pPr>
            <a:r>
              <a:rPr lang="en-CA" sz="2000" dirty="0"/>
              <a:t>Some supporting details (</a:t>
            </a:r>
            <a:r>
              <a:rPr lang="en-CA" sz="2000" dirty="0">
                <a:solidFill>
                  <a:srgbClr val="FF0000"/>
                </a:solidFill>
              </a:rPr>
              <a:t>5 words – no sentences allowed</a:t>
            </a:r>
            <a:r>
              <a:rPr lang="en-CA" sz="2000" dirty="0"/>
              <a:t>)</a:t>
            </a:r>
          </a:p>
          <a:p>
            <a:pPr marL="114300" indent="0">
              <a:buNone/>
            </a:pPr>
            <a:r>
              <a:rPr lang="en-CA" sz="2000" b="1" u="sng" dirty="0"/>
              <a:t>Body Paragraph 3</a:t>
            </a:r>
          </a:p>
          <a:p>
            <a:pPr marL="114300" indent="0">
              <a:buNone/>
            </a:pPr>
            <a:r>
              <a:rPr lang="en-CA" sz="2000" dirty="0"/>
              <a:t>Topic sentence II: Step 3…(</a:t>
            </a:r>
            <a:r>
              <a:rPr lang="en-CA" sz="2000" dirty="0">
                <a:solidFill>
                  <a:srgbClr val="FF0000"/>
                </a:solidFill>
              </a:rPr>
              <a:t>one</a:t>
            </a:r>
            <a:r>
              <a:rPr lang="en-CA" sz="2000" dirty="0"/>
              <a:t> </a:t>
            </a:r>
            <a:r>
              <a:rPr lang="en-CA" sz="2000" dirty="0">
                <a:solidFill>
                  <a:srgbClr val="FF0000"/>
                </a:solidFill>
              </a:rPr>
              <a:t>full</a:t>
            </a:r>
            <a:r>
              <a:rPr lang="en-CA" sz="2000" dirty="0"/>
              <a:t> </a:t>
            </a:r>
            <a:r>
              <a:rPr lang="en-CA" sz="2000" dirty="0">
                <a:solidFill>
                  <a:srgbClr val="FF0000"/>
                </a:solidFill>
              </a:rPr>
              <a:t>sentence allowed</a:t>
            </a:r>
            <a:r>
              <a:rPr lang="en-CA" sz="2000" dirty="0"/>
              <a:t>)</a:t>
            </a:r>
          </a:p>
          <a:p>
            <a:pPr marL="114300" indent="0">
              <a:buNone/>
            </a:pPr>
            <a:r>
              <a:rPr lang="en-CA" sz="2000" dirty="0"/>
              <a:t>Some supporting details (</a:t>
            </a:r>
            <a:r>
              <a:rPr lang="en-CA" sz="2000" dirty="0">
                <a:solidFill>
                  <a:srgbClr val="FF0000"/>
                </a:solidFill>
              </a:rPr>
              <a:t>5 words – no sentences allowed</a:t>
            </a:r>
            <a:r>
              <a:rPr lang="en-CA" sz="2000" dirty="0"/>
              <a:t>)</a:t>
            </a:r>
          </a:p>
          <a:p>
            <a:pPr marL="114300" indent="0">
              <a:buNone/>
            </a:pPr>
            <a:r>
              <a:rPr lang="en-CA" sz="2000" b="1" u="sng" dirty="0"/>
              <a:t>Body Paragraph …</a:t>
            </a:r>
          </a:p>
          <a:p>
            <a:pPr marL="114300" indent="0">
              <a:buNone/>
            </a:pPr>
            <a:r>
              <a:rPr lang="en-CA" sz="2000" dirty="0"/>
              <a:t>Topic sentence II: Step…(</a:t>
            </a:r>
            <a:r>
              <a:rPr lang="en-CA" sz="2000" dirty="0">
                <a:solidFill>
                  <a:srgbClr val="FF0000"/>
                </a:solidFill>
              </a:rPr>
              <a:t>one</a:t>
            </a:r>
            <a:r>
              <a:rPr lang="en-CA" sz="2000" dirty="0"/>
              <a:t> </a:t>
            </a:r>
            <a:r>
              <a:rPr lang="en-CA" sz="2000" dirty="0">
                <a:solidFill>
                  <a:srgbClr val="FF0000"/>
                </a:solidFill>
              </a:rPr>
              <a:t>full</a:t>
            </a:r>
            <a:r>
              <a:rPr lang="en-CA" sz="2000" dirty="0"/>
              <a:t> </a:t>
            </a:r>
            <a:r>
              <a:rPr lang="en-CA" sz="2000" dirty="0">
                <a:solidFill>
                  <a:srgbClr val="FF0000"/>
                </a:solidFill>
              </a:rPr>
              <a:t>sentence allowed</a:t>
            </a:r>
            <a:r>
              <a:rPr lang="en-CA" sz="2000" dirty="0"/>
              <a:t>)</a:t>
            </a:r>
          </a:p>
          <a:p>
            <a:pPr marL="114300" indent="0">
              <a:buNone/>
            </a:pPr>
            <a:r>
              <a:rPr lang="en-CA" sz="2000" dirty="0"/>
              <a:t>Some supporting details (</a:t>
            </a:r>
            <a:r>
              <a:rPr lang="en-CA" sz="2000" dirty="0">
                <a:solidFill>
                  <a:srgbClr val="FF0000"/>
                </a:solidFill>
              </a:rPr>
              <a:t>5 words – no sentences allowed</a:t>
            </a:r>
            <a:r>
              <a:rPr lang="en-CA" sz="2000" dirty="0"/>
              <a:t>)</a:t>
            </a:r>
          </a:p>
          <a:p>
            <a:pPr marL="114300" indent="0">
              <a:buNone/>
            </a:pPr>
            <a:r>
              <a:rPr lang="en-CA" sz="2000" b="1" u="sng" dirty="0"/>
              <a:t>Conclusion</a:t>
            </a:r>
          </a:p>
          <a:p>
            <a:pPr marL="114300" indent="0">
              <a:buNone/>
            </a:pPr>
            <a:r>
              <a:rPr lang="en-CA" sz="2000" dirty="0"/>
              <a:t>Restate your main ideas:  (</a:t>
            </a:r>
            <a:r>
              <a:rPr lang="en-CA" sz="2000" dirty="0">
                <a:solidFill>
                  <a:srgbClr val="FF0000"/>
                </a:solidFill>
              </a:rPr>
              <a:t>5 words – no sentences allowed</a:t>
            </a:r>
            <a:r>
              <a:rPr lang="en-CA" sz="2000" dirty="0"/>
              <a:t>)</a:t>
            </a:r>
          </a:p>
        </p:txBody>
      </p:sp>
      <p:sp>
        <p:nvSpPr>
          <p:cNvPr id="4" name="Slide Number Placeholder 3">
            <a:extLst>
              <a:ext uri="{FF2B5EF4-FFF2-40B4-BE49-F238E27FC236}">
                <a16:creationId xmlns:a16="http://schemas.microsoft.com/office/drawing/2014/main" id="{6986D0F1-2213-9ECC-BFA3-D8A6ED37AF68}"/>
              </a:ext>
            </a:extLst>
          </p:cNvPr>
          <p:cNvSpPr>
            <a:spLocks noGrp="1"/>
          </p:cNvSpPr>
          <p:nvPr>
            <p:ph type="sldNum" sz="quarter" idx="12"/>
          </p:nvPr>
        </p:nvSpPr>
        <p:spPr/>
        <p:txBody>
          <a:bodyPr/>
          <a:lstStyle/>
          <a:p>
            <a:fld id="{6E2D2B3B-882E-40F3-A32F-6DD516915044}" type="slidenum">
              <a:rPr lang="en-US" smtClean="0"/>
              <a:pPr/>
              <a:t>6</a:t>
            </a:fld>
            <a:endParaRPr lang="en-US"/>
          </a:p>
        </p:txBody>
      </p:sp>
    </p:spTree>
    <p:extLst>
      <p:ext uri="{BB962C8B-B14F-4D97-AF65-F5344CB8AC3E}">
        <p14:creationId xmlns:p14="http://schemas.microsoft.com/office/powerpoint/2010/main" val="38875003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Genesis">
      <a:dk1>
        <a:sysClr val="windowText" lastClr="000000"/>
      </a:dk1>
      <a:lt1>
        <a:sysClr val="window" lastClr="FFFFFF"/>
      </a:lt1>
      <a:dk2>
        <a:srgbClr val="465466"/>
      </a:dk2>
      <a:lt2>
        <a:srgbClr val="BBD7F8"/>
      </a:lt2>
      <a:accent1>
        <a:srgbClr val="80B606"/>
      </a:accent1>
      <a:accent2>
        <a:srgbClr val="E29F1D"/>
      </a:accent2>
      <a:accent3>
        <a:srgbClr val="2397E2"/>
      </a:accent3>
      <a:accent4>
        <a:srgbClr val="35ACA2"/>
      </a:accent4>
      <a:accent5>
        <a:srgbClr val="5430BB"/>
      </a:accent5>
      <a:accent6>
        <a:srgbClr val="8D34E0"/>
      </a:accent6>
      <a:hlink>
        <a:srgbClr val="00B0F0"/>
      </a:hlink>
      <a:folHlink>
        <a:srgbClr val="0070C0"/>
      </a:folHlink>
    </a:clrScheme>
    <a:fontScheme name="Adjacency">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Adjacency.thmx</Template>
  <TotalTime>4270</TotalTime>
  <Words>633</Words>
  <Application>Microsoft Macintosh PowerPoint</Application>
  <PresentationFormat>On-screen Show (4:3)</PresentationFormat>
  <Paragraphs>68</Paragraphs>
  <Slides>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Cambria</vt:lpstr>
      <vt:lpstr>Times New Roman</vt:lpstr>
      <vt:lpstr>Adjacency</vt:lpstr>
      <vt:lpstr>604-420  Week 13</vt:lpstr>
      <vt:lpstr>PowerPoint Presentation</vt:lpstr>
      <vt:lpstr>Task III Process Research  </vt:lpstr>
      <vt:lpstr>Task III Word Document –week 13 Submit before end of class </vt:lpstr>
      <vt:lpstr>How to write Citations (references) </vt:lpstr>
      <vt:lpstr>Task III Outline –Submit before end of  Week 13 Class            </vt:lpstr>
    </vt:vector>
  </TitlesOfParts>
  <Company>CEGEP André Laurendeau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4 </dc:title>
  <dc:creator>Loretta  Gillis</dc:creator>
  <cp:lastModifiedBy>Hala Jawlakh, Ms</cp:lastModifiedBy>
  <cp:revision>196</cp:revision>
  <dcterms:created xsi:type="dcterms:W3CDTF">2013-03-11T22:29:50Z</dcterms:created>
  <dcterms:modified xsi:type="dcterms:W3CDTF">2023-04-21T16:13:29Z</dcterms:modified>
</cp:coreProperties>
</file>