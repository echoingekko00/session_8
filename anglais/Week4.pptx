
<file path=[Content_Types].xml><?xml version="1.0" encoding="utf-8"?>
<Types xmlns="http://schemas.openxmlformats.org/package/2006/content-types">
  <Default Extension="jpe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21"/>
  </p:notesMasterIdLst>
  <p:sldIdLst>
    <p:sldId id="272" r:id="rId2"/>
    <p:sldId id="303" r:id="rId3"/>
    <p:sldId id="290" r:id="rId4"/>
    <p:sldId id="289" r:id="rId5"/>
    <p:sldId id="274" r:id="rId6"/>
    <p:sldId id="260" r:id="rId7"/>
    <p:sldId id="291" r:id="rId8"/>
    <p:sldId id="283" r:id="rId9"/>
    <p:sldId id="287" r:id="rId10"/>
    <p:sldId id="292" r:id="rId11"/>
    <p:sldId id="298" r:id="rId12"/>
    <p:sldId id="299" r:id="rId13"/>
    <p:sldId id="294" r:id="rId14"/>
    <p:sldId id="295" r:id="rId15"/>
    <p:sldId id="296" r:id="rId16"/>
    <p:sldId id="300" r:id="rId17"/>
    <p:sldId id="301" r:id="rId18"/>
    <p:sldId id="302" r:id="rId19"/>
    <p:sldId id="276" r:id="rId20"/>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0" d="100"/>
          <a:sy n="80" d="100"/>
        </p:scale>
        <p:origin x="1347" y="45"/>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B74B599B-0FD1-4FF0-9745-F0BDA9EF8233}" type="datetimeFigureOut">
              <a:rPr lang="en-CA" smtClean="0"/>
              <a:t>2023-02-08</a:t>
            </a:fld>
            <a:endParaRPr lang="en-CA"/>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66B2303E-2E81-45CA-901A-043B08CA7BB5}" type="slidenum">
              <a:rPr lang="en-CA" smtClean="0"/>
              <a:t>‹#›</a:t>
            </a:fld>
            <a:endParaRPr lang="en-CA"/>
          </a:p>
        </p:txBody>
      </p:sp>
    </p:spTree>
    <p:extLst>
      <p:ext uri="{BB962C8B-B14F-4D97-AF65-F5344CB8AC3E}">
        <p14:creationId xmlns:p14="http://schemas.microsoft.com/office/powerpoint/2010/main" val="17190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196BFE3-1F61-47D7-9F97-9AD3C736D383}" type="slidenum">
              <a:rPr lang="en-CA" smtClean="0"/>
              <a:t>1</a:t>
            </a:fld>
            <a:endParaRPr lang="en-CA"/>
          </a:p>
        </p:txBody>
      </p:sp>
    </p:spTree>
    <p:extLst>
      <p:ext uri="{BB962C8B-B14F-4D97-AF65-F5344CB8AC3E}">
        <p14:creationId xmlns:p14="http://schemas.microsoft.com/office/powerpoint/2010/main" val="705814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5A06B7-63D0-45F3-943F-F5BB7F597E75}"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BEF221-4509-47A4-9CA5-09C1E0895316}"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174A7-FEC0-4A26-9254-9957E0A841D8}" type="datetime1">
              <a:rPr lang="en-US" smtClean="0"/>
              <a:t>2/8/2023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4012FE-9E33-4C07-9EF1-A55953264CA7}" type="datetime1">
              <a:rPr lang="en-US" smtClean="0"/>
              <a:t>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21420B-137F-4AD9-BEA5-C7EEE0946476}" type="datetime1">
              <a:rPr lang="en-US" smtClean="0"/>
              <a:t>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A1CC82-A905-4D18-A826-B8257F7DE6BB}" type="datetime1">
              <a:rPr lang="en-US" smtClean="0"/>
              <a:t>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CE6481-8003-41B8-8619-622F513CB2E8}" type="datetime1">
              <a:rPr lang="en-US" smtClean="0"/>
              <a:t>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FE9D30-4DE0-432D-B429-163551F9745E}" type="datetime1">
              <a:rPr lang="en-US" smtClean="0"/>
              <a:t>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3CE7214-7294-4B2B-ACFF-812A4AAC2203}" type="datetime1">
              <a:rPr lang="en-US" smtClean="0"/>
              <a:t>2/8/2023</a:t>
            </a:fld>
            <a:endParaRPr lang="en-US" dirty="0"/>
          </a:p>
        </p:txBody>
      </p:sp>
      <p:sp>
        <p:nvSpPr>
          <p:cNvPr id="9" name="Slide Number Placeholder 8"/>
          <p:cNvSpPr>
            <a:spLocks noGrp="1"/>
          </p:cNvSpPr>
          <p:nvPr>
            <p:ph type="sldNum" sz="quarter" idx="11"/>
          </p:nvPr>
        </p:nvSpPr>
        <p:spPr/>
        <p:txBody>
          <a:bodyPr/>
          <a:lstStyle/>
          <a:p>
            <a:fld id="{6E2D2B3B-882E-40F3-A32F-6DD516915044}"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6111FE-5193-47EF-8BE9-5869585EA94D}"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FFF6DA-B5EF-4027-9DDE-4DA729997CF1}" type="datetime1">
              <a:rPr lang="en-US" smtClean="0"/>
              <a:t>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E2D2B3B-882E-40F3-A32F-6DD516915044}" type="slidenum">
              <a:rPr lang="en-US" smtClean="0"/>
              <a:pPr/>
              <a:t>‹#›</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AC7A4780-BF45-48FB-8163-CCD37D391062}" type="datetime1">
              <a:rPr lang="en-US" smtClean="0"/>
              <a:t>2/8/2023</a:t>
            </a:fld>
            <a:endParaRPr lang="en-US" dirty="0"/>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youtube.com/watch?v=Yb8X7qAByJg"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audio" Target="../media/media1.mp3"/><Relationship Id="rId1" Type="http://schemas.microsoft.com/office/2007/relationships/media" Target="../media/media1.mp3"/><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ted.com/talks/anthony_goldbloom_the_jobs_we_ll_lose_to_machines_and_the_ones_we_won_t?language=en"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guides.lib.uw.edu/research/faq/reliabl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guides.lib.uw.edu/research/faq/reliabl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guides.lib.uw.edu/research/citations/citationwhich" TargetMode="External"/><Relationship Id="rId2" Type="http://schemas.openxmlformats.org/officeDocument/2006/relationships/hyperlink" Target="https://pitt.libguides.com/citationhelp" TargetMode="Externa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hyperlink" Target="https://www.collinsdictionary.com/dictionary/english"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www.ted.com/talks/emma_bryce_how_to_use_a_semicolon?language=en"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896" y="309093"/>
            <a:ext cx="7620000" cy="1004552"/>
          </a:xfrm>
        </p:spPr>
        <p:txBody>
          <a:bodyPr/>
          <a:lstStyle/>
          <a:p>
            <a:r>
              <a:rPr lang="en-US"/>
              <a:t>604-220  </a:t>
            </a:r>
            <a:r>
              <a:rPr lang="en-US" dirty="0"/>
              <a:t>Week 4</a:t>
            </a:r>
          </a:p>
        </p:txBody>
      </p:sp>
      <p:sp>
        <p:nvSpPr>
          <p:cNvPr id="3" name="Content Placeholder 2"/>
          <p:cNvSpPr>
            <a:spLocks noGrp="1"/>
          </p:cNvSpPr>
          <p:nvPr>
            <p:ph idx="1"/>
          </p:nvPr>
        </p:nvSpPr>
        <p:spPr>
          <a:xfrm>
            <a:off x="657896" y="1912512"/>
            <a:ext cx="7218608" cy="5396248"/>
          </a:xfrm>
        </p:spPr>
        <p:txBody>
          <a:bodyPr>
            <a:normAutofit/>
          </a:bodyPr>
          <a:lstStyle/>
          <a:p>
            <a:pPr marL="114300" indent="0">
              <a:buNone/>
            </a:pPr>
            <a:r>
              <a:rPr lang="en-US" sz="2400" dirty="0"/>
              <a:t>Class:</a:t>
            </a:r>
          </a:p>
          <a:p>
            <a:pPr marL="571500" indent="-457200">
              <a:buFont typeface="Arial" pitchFamily="34" charset="0"/>
              <a:buAutoNum type="arabicPeriod"/>
            </a:pPr>
            <a:r>
              <a:rPr lang="en-US" sz="2400" dirty="0"/>
              <a:t>Attendance</a:t>
            </a:r>
          </a:p>
          <a:p>
            <a:pPr marL="571500" indent="-457200">
              <a:buFont typeface="Arial" pitchFamily="34" charset="0"/>
              <a:buAutoNum type="arabicPeriod"/>
            </a:pPr>
            <a:r>
              <a:rPr lang="en-US" sz="2400" dirty="0"/>
              <a:t>Review Ed endings </a:t>
            </a:r>
          </a:p>
          <a:p>
            <a:pPr marL="571500" indent="-457200">
              <a:buFont typeface="Arial" pitchFamily="34" charset="0"/>
              <a:buAutoNum type="arabicPeriod"/>
            </a:pPr>
            <a:r>
              <a:rPr lang="en-US" sz="2400" dirty="0"/>
              <a:t>Pronunciation: word stress </a:t>
            </a:r>
          </a:p>
          <a:p>
            <a:pPr marL="571500" indent="-457200">
              <a:buFont typeface="Arial" pitchFamily="34" charset="0"/>
              <a:buAutoNum type="arabicPeriod"/>
            </a:pPr>
            <a:r>
              <a:rPr lang="en-US" sz="2400" dirty="0"/>
              <a:t>Grammar review: future tenses</a:t>
            </a:r>
          </a:p>
          <a:p>
            <a:pPr marL="571500" indent="-457200">
              <a:buFont typeface="Arial" pitchFamily="34" charset="0"/>
              <a:buAutoNum type="arabicPeriod"/>
            </a:pPr>
            <a:r>
              <a:rPr lang="en-US" sz="2400" dirty="0"/>
              <a:t>Writing: error analysis  </a:t>
            </a:r>
          </a:p>
          <a:p>
            <a:pPr marL="571500" indent="-457200">
              <a:buFont typeface="Arial" pitchFamily="34" charset="0"/>
              <a:buAutoNum type="arabicPeriod"/>
            </a:pPr>
            <a:r>
              <a:rPr lang="en-US" sz="2400" dirty="0"/>
              <a:t>How to identify reliable sources and cite them properly </a:t>
            </a:r>
          </a:p>
          <a:p>
            <a:pPr marL="114300" indent="0">
              <a:buNone/>
            </a:pPr>
            <a:endParaRPr lang="en-US" sz="2400" dirty="0"/>
          </a:p>
          <a:p>
            <a:pPr marL="571500" indent="-457200">
              <a:buAutoNum type="arabicPeriod"/>
            </a:pPr>
            <a:endParaRPr lang="en-US" sz="2400" dirty="0">
              <a:solidFill>
                <a:srgbClr val="FF0000"/>
              </a:solidFill>
            </a:endParaRPr>
          </a:p>
          <a:p>
            <a:pPr marL="114300" indent="0">
              <a:buNone/>
            </a:pPr>
            <a:endParaRPr lang="en-US" sz="2400" dirty="0">
              <a:solidFill>
                <a:srgbClr val="FF0000"/>
              </a:solidFill>
            </a:endParaRP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a:t>
            </a:fld>
            <a:endParaRPr lang="en-US"/>
          </a:p>
        </p:txBody>
      </p:sp>
    </p:spTree>
    <p:extLst>
      <p:ext uri="{BB962C8B-B14F-4D97-AF65-F5344CB8AC3E}">
        <p14:creationId xmlns:p14="http://schemas.microsoft.com/office/powerpoint/2010/main" val="481778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3B9BBB-A410-491A-8D14-271D4048AD80}"/>
              </a:ext>
            </a:extLst>
          </p:cNvPr>
          <p:cNvSpPr>
            <a:spLocks noGrp="1"/>
          </p:cNvSpPr>
          <p:nvPr>
            <p:ph type="title"/>
          </p:nvPr>
        </p:nvSpPr>
        <p:spPr>
          <a:xfrm>
            <a:off x="457200" y="0"/>
            <a:ext cx="7620000" cy="838200"/>
          </a:xfrm>
        </p:spPr>
        <p:txBody>
          <a:bodyPr/>
          <a:lstStyle/>
          <a:p>
            <a:r>
              <a:rPr lang="fr-CA" sz="3600" dirty="0"/>
              <a:t>/t/, /d/, or /id/</a:t>
            </a:r>
          </a:p>
        </p:txBody>
      </p:sp>
      <p:sp>
        <p:nvSpPr>
          <p:cNvPr id="3" name="Espace réservé du contenu 2">
            <a:extLst>
              <a:ext uri="{FF2B5EF4-FFF2-40B4-BE49-F238E27FC236}">
                <a16:creationId xmlns:a16="http://schemas.microsoft.com/office/drawing/2014/main" id="{DFC03107-766E-45E0-B8AD-1A53679362D9}"/>
              </a:ext>
            </a:extLst>
          </p:cNvPr>
          <p:cNvSpPr>
            <a:spLocks noGrp="1"/>
          </p:cNvSpPr>
          <p:nvPr>
            <p:ph idx="1"/>
          </p:nvPr>
        </p:nvSpPr>
        <p:spPr>
          <a:xfrm>
            <a:off x="457199" y="838200"/>
            <a:ext cx="7957457" cy="6019800"/>
          </a:xfrm>
        </p:spPr>
        <p:txBody>
          <a:bodyPr>
            <a:normAutofit/>
          </a:bodyPr>
          <a:lstStyle/>
          <a:p>
            <a:pPr marL="571500" indent="-457200">
              <a:buAutoNum type="arabicPeriod"/>
            </a:pPr>
            <a:r>
              <a:rPr lang="fr-CA" sz="2300" dirty="0" err="1"/>
              <a:t>Snored</a:t>
            </a:r>
            <a:endParaRPr lang="fr-CA" sz="2300" dirty="0"/>
          </a:p>
          <a:p>
            <a:pPr marL="571500" indent="-457200">
              <a:buAutoNum type="arabicPeriod"/>
            </a:pPr>
            <a:r>
              <a:rPr lang="fr-CA" sz="2300" dirty="0" err="1"/>
              <a:t>Blushed</a:t>
            </a:r>
            <a:endParaRPr lang="fr-CA" sz="2300" dirty="0"/>
          </a:p>
          <a:p>
            <a:pPr marL="571500" indent="-457200">
              <a:buAutoNum type="arabicPeriod"/>
            </a:pPr>
            <a:r>
              <a:rPr lang="fr-CA" sz="2300" dirty="0" err="1"/>
              <a:t>Clapped</a:t>
            </a:r>
            <a:endParaRPr lang="fr-CA" sz="2300" dirty="0"/>
          </a:p>
          <a:p>
            <a:pPr marL="571500" indent="-457200">
              <a:buAutoNum type="arabicPeriod"/>
            </a:pPr>
            <a:r>
              <a:rPr lang="fr-CA" sz="2300" dirty="0" err="1"/>
              <a:t>Scribbled</a:t>
            </a:r>
            <a:endParaRPr lang="fr-CA" sz="2300" dirty="0"/>
          </a:p>
          <a:p>
            <a:pPr marL="571500" indent="-457200">
              <a:buAutoNum type="arabicPeriod"/>
            </a:pPr>
            <a:r>
              <a:rPr lang="fr-CA" sz="2300" dirty="0" err="1"/>
              <a:t>Wounded</a:t>
            </a:r>
            <a:endParaRPr lang="fr-CA" sz="2300" dirty="0"/>
          </a:p>
          <a:p>
            <a:pPr marL="571500" indent="-457200">
              <a:buAutoNum type="arabicPeriod"/>
            </a:pPr>
            <a:r>
              <a:rPr lang="fr-CA" sz="2300" dirty="0" err="1"/>
              <a:t>Juggled</a:t>
            </a:r>
            <a:endParaRPr lang="fr-CA" sz="2300" dirty="0"/>
          </a:p>
          <a:p>
            <a:pPr marL="571500" indent="-457200">
              <a:buAutoNum type="arabicPeriod"/>
            </a:pPr>
            <a:r>
              <a:rPr lang="fr-CA" sz="2300" dirty="0" err="1"/>
              <a:t>Combed</a:t>
            </a:r>
            <a:endParaRPr lang="fr-CA" sz="2300" dirty="0"/>
          </a:p>
          <a:p>
            <a:pPr marL="571500" indent="-457200">
              <a:buAutoNum type="arabicPeriod"/>
            </a:pPr>
            <a:r>
              <a:rPr lang="fr-CA" sz="2300" dirty="0" err="1"/>
              <a:t>Whispered</a:t>
            </a:r>
            <a:endParaRPr lang="fr-CA" sz="2300" dirty="0"/>
          </a:p>
          <a:p>
            <a:pPr marL="571500" indent="-457200">
              <a:buAutoNum type="arabicPeriod"/>
            </a:pPr>
            <a:r>
              <a:rPr lang="fr-CA" sz="2300" dirty="0" err="1"/>
              <a:t>Sneezed</a:t>
            </a:r>
            <a:endParaRPr lang="fr-CA" sz="2300" dirty="0"/>
          </a:p>
          <a:p>
            <a:pPr marL="571500" indent="-457200">
              <a:buAutoNum type="arabicPeriod"/>
            </a:pPr>
            <a:r>
              <a:rPr lang="fr-CA" sz="2300" dirty="0" err="1"/>
              <a:t>Plummeted</a:t>
            </a:r>
            <a:endParaRPr lang="fr-CA" sz="2300" dirty="0"/>
          </a:p>
          <a:p>
            <a:pPr marL="571500" indent="-457200">
              <a:buAutoNum type="arabicPeriod"/>
            </a:pPr>
            <a:r>
              <a:rPr lang="fr-CA" sz="2300" dirty="0" err="1"/>
              <a:t>Tripped</a:t>
            </a:r>
            <a:endParaRPr lang="fr-CA" sz="2300" dirty="0"/>
          </a:p>
          <a:p>
            <a:pPr marL="571500" indent="-457200">
              <a:buAutoNum type="arabicPeriod"/>
            </a:pPr>
            <a:r>
              <a:rPr lang="fr-CA" sz="2300" dirty="0" err="1"/>
              <a:t>Impeded</a:t>
            </a:r>
            <a:r>
              <a:rPr lang="fr-CA" sz="2300" dirty="0"/>
              <a:t> </a:t>
            </a:r>
          </a:p>
          <a:p>
            <a:pPr marL="571500" indent="-457200">
              <a:buAutoNum type="arabicPeriod"/>
            </a:pPr>
            <a:r>
              <a:rPr lang="fr-CA" sz="2300" dirty="0" err="1"/>
              <a:t>Drained</a:t>
            </a:r>
            <a:endParaRPr lang="fr-CA" sz="2300" dirty="0"/>
          </a:p>
          <a:p>
            <a:pPr marL="571500" indent="-457200">
              <a:buAutoNum type="arabicPeriod"/>
            </a:pPr>
            <a:r>
              <a:rPr lang="fr-CA" sz="2300" dirty="0" err="1"/>
              <a:t>Walked</a:t>
            </a:r>
            <a:r>
              <a:rPr lang="fr-CA" sz="2300" dirty="0"/>
              <a:t> </a:t>
            </a:r>
          </a:p>
          <a:p>
            <a:pPr marL="571500" indent="-457200">
              <a:buAutoNum type="arabicPeriod"/>
            </a:pPr>
            <a:endParaRPr lang="fr-CA" dirty="0"/>
          </a:p>
        </p:txBody>
      </p:sp>
      <p:sp>
        <p:nvSpPr>
          <p:cNvPr id="4" name="Espace réservé du numéro de diapositive 3">
            <a:extLst>
              <a:ext uri="{FF2B5EF4-FFF2-40B4-BE49-F238E27FC236}">
                <a16:creationId xmlns:a16="http://schemas.microsoft.com/office/drawing/2014/main" id="{D2B16EF5-9CA3-4D53-9590-DC97476B8591}"/>
              </a:ext>
            </a:extLst>
          </p:cNvPr>
          <p:cNvSpPr>
            <a:spLocks noGrp="1"/>
          </p:cNvSpPr>
          <p:nvPr>
            <p:ph type="sldNum" sz="quarter" idx="12"/>
          </p:nvPr>
        </p:nvSpPr>
        <p:spPr/>
        <p:txBody>
          <a:bodyPr/>
          <a:lstStyle/>
          <a:p>
            <a:fld id="{6E2D2B3B-882E-40F3-A32F-6DD516915044}" type="slidenum">
              <a:rPr lang="en-US" smtClean="0"/>
              <a:pPr/>
              <a:t>2</a:t>
            </a:fld>
            <a:endParaRPr lang="en-US"/>
          </a:p>
        </p:txBody>
      </p:sp>
    </p:spTree>
    <p:extLst>
      <p:ext uri="{BB962C8B-B14F-4D97-AF65-F5344CB8AC3E}">
        <p14:creationId xmlns:p14="http://schemas.microsoft.com/office/powerpoint/2010/main" val="3984945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D9F46-9D8E-80A1-DBC3-D9D7C30B6034}"/>
              </a:ext>
            </a:extLst>
          </p:cNvPr>
          <p:cNvSpPr>
            <a:spLocks noGrp="1"/>
          </p:cNvSpPr>
          <p:nvPr>
            <p:ph type="title"/>
          </p:nvPr>
        </p:nvSpPr>
        <p:spPr>
          <a:xfrm>
            <a:off x="457200" y="274638"/>
            <a:ext cx="7959144" cy="1143000"/>
          </a:xfrm>
        </p:spPr>
        <p:txBody>
          <a:bodyPr anchor="ctr">
            <a:normAutofit fontScale="90000"/>
          </a:bodyPr>
          <a:lstStyle/>
          <a:p>
            <a:pPr>
              <a:lnSpc>
                <a:spcPct val="90000"/>
              </a:lnSpc>
            </a:pPr>
            <a:br>
              <a:rPr lang="en-CA" sz="2500" dirty="0">
                <a:hlinkClick r:id="rId2"/>
              </a:rPr>
            </a:br>
            <a:br>
              <a:rPr lang="en-CA" sz="2500" dirty="0">
                <a:hlinkClick r:id="rId2"/>
              </a:rPr>
            </a:br>
            <a:r>
              <a:rPr lang="en-CA" sz="2500" dirty="0">
                <a:hlinkClick r:id="rId2"/>
              </a:rPr>
              <a:t>https://www.youtube.com/watch?v=Yb8X7qAByJg</a:t>
            </a:r>
            <a:br>
              <a:rPr lang="en-CA" sz="2500" dirty="0"/>
            </a:br>
            <a:endParaRPr lang="en-CA" sz="2500" dirty="0"/>
          </a:p>
        </p:txBody>
      </p:sp>
      <p:pic>
        <p:nvPicPr>
          <p:cNvPr id="6" name="Content Placeholder 5" descr="Text&#10;&#10;Description automatically generated with low confidence">
            <a:extLst>
              <a:ext uri="{FF2B5EF4-FFF2-40B4-BE49-F238E27FC236}">
                <a16:creationId xmlns:a16="http://schemas.microsoft.com/office/drawing/2014/main" id="{3917EC73-450D-810B-FB28-E408C7E6E762}"/>
              </a:ext>
            </a:extLst>
          </p:cNvPr>
          <p:cNvPicPr>
            <a:picLocks noGrp="1" noChangeAspect="1"/>
          </p:cNvPicPr>
          <p:nvPr>
            <p:ph idx="1"/>
          </p:nvPr>
        </p:nvPicPr>
        <p:blipFill>
          <a:blip r:embed="rId3"/>
          <a:stretch>
            <a:fillRect/>
          </a:stretch>
        </p:blipFill>
        <p:spPr>
          <a:xfrm>
            <a:off x="457200" y="2133600"/>
            <a:ext cx="7620000" cy="2590800"/>
          </a:xfrm>
          <a:noFill/>
        </p:spPr>
      </p:pic>
      <p:sp>
        <p:nvSpPr>
          <p:cNvPr id="4" name="Slide Number Placeholder 3">
            <a:extLst>
              <a:ext uri="{FF2B5EF4-FFF2-40B4-BE49-F238E27FC236}">
                <a16:creationId xmlns:a16="http://schemas.microsoft.com/office/drawing/2014/main" id="{CE84E47F-4969-CB6A-8927-177F3E2E5C9D}"/>
              </a:ext>
            </a:extLst>
          </p:cNvPr>
          <p:cNvSpPr>
            <a:spLocks noGrp="1"/>
          </p:cNvSpPr>
          <p:nvPr>
            <p:ph type="sldNum" sz="quarter" idx="12"/>
          </p:nvPr>
        </p:nvSpPr>
        <p:spPr>
          <a:xfrm>
            <a:off x="8531788" y="5648960"/>
            <a:ext cx="548640" cy="396240"/>
          </a:xfrm>
        </p:spPr>
        <p:txBody>
          <a:bodyPr anchor="ctr">
            <a:normAutofit/>
          </a:bodyPr>
          <a:lstStyle/>
          <a:p>
            <a:pPr>
              <a:spcAft>
                <a:spcPts val="600"/>
              </a:spcAft>
            </a:pPr>
            <a:fld id="{6E2D2B3B-882E-40F3-A32F-6DD516915044}" type="slidenum">
              <a:rPr lang="en-US" smtClean="0"/>
              <a:pPr>
                <a:spcAft>
                  <a:spcPts val="600"/>
                </a:spcAft>
              </a:pPr>
              <a:t>3</a:t>
            </a:fld>
            <a:endParaRPr lang="en-US"/>
          </a:p>
        </p:txBody>
      </p:sp>
    </p:spTree>
    <p:extLst>
      <p:ext uri="{BB962C8B-B14F-4D97-AF65-F5344CB8AC3E}">
        <p14:creationId xmlns:p14="http://schemas.microsoft.com/office/powerpoint/2010/main" val="2633823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DC628-1765-7F14-FB69-A209AB428E4B}"/>
              </a:ext>
            </a:extLst>
          </p:cNvPr>
          <p:cNvSpPr>
            <a:spLocks noGrp="1"/>
          </p:cNvSpPr>
          <p:nvPr>
            <p:ph type="title"/>
          </p:nvPr>
        </p:nvSpPr>
        <p:spPr>
          <a:xfrm>
            <a:off x="457200" y="0"/>
            <a:ext cx="7620000" cy="1143000"/>
          </a:xfrm>
        </p:spPr>
        <p:txBody>
          <a:bodyPr/>
          <a:lstStyle/>
          <a:p>
            <a:r>
              <a:rPr lang="en-CA" dirty="0"/>
              <a:t>Where is the stress?</a:t>
            </a:r>
          </a:p>
        </p:txBody>
      </p:sp>
      <p:sp>
        <p:nvSpPr>
          <p:cNvPr id="3" name="Content Placeholder 2">
            <a:extLst>
              <a:ext uri="{FF2B5EF4-FFF2-40B4-BE49-F238E27FC236}">
                <a16:creationId xmlns:a16="http://schemas.microsoft.com/office/drawing/2014/main" id="{5A45A688-20D2-66A2-C565-A9F7F63D447B}"/>
              </a:ext>
            </a:extLst>
          </p:cNvPr>
          <p:cNvSpPr>
            <a:spLocks noGrp="1"/>
          </p:cNvSpPr>
          <p:nvPr>
            <p:ph idx="1"/>
          </p:nvPr>
        </p:nvSpPr>
        <p:spPr>
          <a:xfrm>
            <a:off x="457200" y="1244600"/>
            <a:ext cx="7926946" cy="4800600"/>
          </a:xfrm>
        </p:spPr>
        <p:txBody>
          <a:bodyPr>
            <a:normAutofit lnSpcReduction="10000"/>
          </a:bodyPr>
          <a:lstStyle/>
          <a:p>
            <a:pPr marL="571500" indent="-457200">
              <a:lnSpc>
                <a:spcPct val="150000"/>
              </a:lnSpc>
              <a:buAutoNum type="arabicPeriod"/>
            </a:pPr>
            <a:r>
              <a:rPr lang="en-CA" sz="2800" dirty="0"/>
              <a:t>Politics	           political		politician</a:t>
            </a:r>
          </a:p>
          <a:p>
            <a:pPr marL="571500" indent="-457200">
              <a:lnSpc>
                <a:spcPct val="150000"/>
              </a:lnSpc>
              <a:buAutoNum type="arabicPeriod"/>
            </a:pPr>
            <a:r>
              <a:rPr lang="en-CA" sz="2800" dirty="0"/>
              <a:t>Economy	economical	           economist</a:t>
            </a:r>
          </a:p>
          <a:p>
            <a:pPr marL="571500" indent="-457200">
              <a:lnSpc>
                <a:spcPct val="150000"/>
              </a:lnSpc>
              <a:buAutoNum type="arabicPeriod"/>
            </a:pPr>
            <a:r>
              <a:rPr lang="en-CA" sz="2800" dirty="0"/>
              <a:t>Psychology       psychological	psychologist psycho</a:t>
            </a:r>
          </a:p>
          <a:p>
            <a:pPr marL="571500" indent="-457200">
              <a:lnSpc>
                <a:spcPct val="150000"/>
              </a:lnSpc>
              <a:buAutoNum type="arabicPeriod"/>
            </a:pPr>
            <a:r>
              <a:rPr lang="en-CA" sz="2800" dirty="0"/>
              <a:t>Technique	 technical	            technician</a:t>
            </a:r>
          </a:p>
          <a:p>
            <a:pPr marL="571500" indent="-457200">
              <a:lnSpc>
                <a:spcPct val="150000"/>
              </a:lnSpc>
              <a:buAutoNum type="arabicPeriod"/>
            </a:pPr>
            <a:r>
              <a:rPr lang="en-CA" sz="2800" dirty="0"/>
              <a:t>Photo	             photograph            photographer</a:t>
            </a:r>
          </a:p>
          <a:p>
            <a:pPr marL="114300" indent="0">
              <a:lnSpc>
                <a:spcPct val="150000"/>
              </a:lnSpc>
              <a:buNone/>
            </a:pPr>
            <a:r>
              <a:rPr lang="en-CA" sz="2800" dirty="0"/>
              <a:t>      photographic   </a:t>
            </a:r>
          </a:p>
        </p:txBody>
      </p:sp>
      <p:sp>
        <p:nvSpPr>
          <p:cNvPr id="4" name="Slide Number Placeholder 3">
            <a:extLst>
              <a:ext uri="{FF2B5EF4-FFF2-40B4-BE49-F238E27FC236}">
                <a16:creationId xmlns:a16="http://schemas.microsoft.com/office/drawing/2014/main" id="{2275C2C3-26B9-E1BA-9583-C367D835681B}"/>
              </a:ext>
            </a:extLst>
          </p:cNvPr>
          <p:cNvSpPr>
            <a:spLocks noGrp="1"/>
          </p:cNvSpPr>
          <p:nvPr>
            <p:ph type="sldNum" sz="quarter" idx="12"/>
          </p:nvPr>
        </p:nvSpPr>
        <p:spPr/>
        <p:txBody>
          <a:bodyPr/>
          <a:lstStyle/>
          <a:p>
            <a:fld id="{6E2D2B3B-882E-40F3-A32F-6DD516915044}" type="slidenum">
              <a:rPr lang="en-US" smtClean="0"/>
              <a:pPr/>
              <a:t>4</a:t>
            </a:fld>
            <a:endParaRPr lang="en-US"/>
          </a:p>
        </p:txBody>
      </p:sp>
    </p:spTree>
    <p:extLst>
      <p:ext uri="{BB962C8B-B14F-4D97-AF65-F5344CB8AC3E}">
        <p14:creationId xmlns:p14="http://schemas.microsoft.com/office/powerpoint/2010/main" val="2806985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09766"/>
            <a:ext cx="7620000" cy="609600"/>
          </a:xfrm>
        </p:spPr>
        <p:txBody>
          <a:bodyPr/>
          <a:lstStyle/>
          <a:p>
            <a:r>
              <a:rPr lang="en-CA" sz="4000" i="1" dirty="0"/>
              <a:t>Listen and identify the word stress </a:t>
            </a:r>
            <a:br>
              <a:rPr lang="en-CA" sz="4000" i="1" dirty="0"/>
            </a:br>
            <a:r>
              <a:rPr lang="en-CA" sz="4000" i="1" dirty="0"/>
              <a:t> </a:t>
            </a:r>
            <a:br>
              <a:rPr lang="en-CA" sz="4000" i="1" dirty="0"/>
            </a:br>
            <a:r>
              <a:rPr lang="en-CA" sz="4000" i="1" dirty="0"/>
              <a:t> </a:t>
            </a:r>
            <a:endParaRPr lang="fr-CA" sz="4000" dirty="0"/>
          </a:p>
        </p:txBody>
      </p:sp>
      <p:sp>
        <p:nvSpPr>
          <p:cNvPr id="3" name="Content Placeholder 2"/>
          <p:cNvSpPr>
            <a:spLocks noGrp="1"/>
          </p:cNvSpPr>
          <p:nvPr>
            <p:ph sz="half" idx="1"/>
          </p:nvPr>
        </p:nvSpPr>
        <p:spPr>
          <a:xfrm>
            <a:off x="457200" y="2171456"/>
            <a:ext cx="3657600" cy="4686544"/>
          </a:xfrm>
        </p:spPr>
        <p:txBody>
          <a:bodyPr>
            <a:normAutofit fontScale="92500" lnSpcReduction="20000"/>
          </a:bodyPr>
          <a:lstStyle/>
          <a:p>
            <a:pPr marL="571500" indent="-457200">
              <a:buAutoNum type="arabicPeriod"/>
            </a:pPr>
            <a:r>
              <a:rPr lang="en-CA" dirty="0" err="1"/>
              <a:t>Tra</a:t>
            </a:r>
            <a:r>
              <a:rPr lang="en-CA" dirty="0"/>
              <a:t>-di-</a:t>
            </a:r>
            <a:r>
              <a:rPr lang="en-CA" dirty="0" err="1"/>
              <a:t>tion</a:t>
            </a:r>
            <a:r>
              <a:rPr lang="en-CA" dirty="0"/>
              <a:t>-al</a:t>
            </a:r>
          </a:p>
          <a:p>
            <a:pPr marL="571500" indent="-457200">
              <a:buAutoNum type="arabicPeriod"/>
            </a:pPr>
            <a:r>
              <a:rPr lang="en-CA" dirty="0" err="1"/>
              <a:t>Psy</a:t>
            </a:r>
            <a:r>
              <a:rPr lang="en-CA" dirty="0"/>
              <a:t>-chi-a-</a:t>
            </a:r>
            <a:r>
              <a:rPr lang="en-CA" dirty="0" err="1"/>
              <a:t>trist</a:t>
            </a:r>
            <a:endParaRPr lang="en-CA" dirty="0"/>
          </a:p>
          <a:p>
            <a:pPr marL="571500" indent="-457200">
              <a:buAutoNum type="arabicPeriod"/>
            </a:pPr>
            <a:r>
              <a:rPr lang="en-CA" dirty="0"/>
              <a:t>Se-</a:t>
            </a:r>
            <a:r>
              <a:rPr lang="en-CA" dirty="0" err="1"/>
              <a:t>cre</a:t>
            </a:r>
            <a:r>
              <a:rPr lang="en-CA" dirty="0"/>
              <a:t>-ta-</a:t>
            </a:r>
            <a:r>
              <a:rPr lang="en-CA" dirty="0" err="1"/>
              <a:t>ry</a:t>
            </a:r>
            <a:endParaRPr lang="en-CA" dirty="0"/>
          </a:p>
          <a:p>
            <a:pPr marL="571500" indent="-457200">
              <a:buAutoNum type="arabicPeriod"/>
            </a:pPr>
            <a:r>
              <a:rPr lang="en-CA" dirty="0"/>
              <a:t>Po-ten-</a:t>
            </a:r>
            <a:r>
              <a:rPr lang="en-CA" dirty="0" err="1"/>
              <a:t>tial</a:t>
            </a:r>
            <a:endParaRPr lang="en-CA" dirty="0"/>
          </a:p>
          <a:p>
            <a:pPr marL="571500" indent="-457200">
              <a:buAutoNum type="arabicPeriod"/>
            </a:pPr>
            <a:r>
              <a:rPr lang="en-CA" dirty="0"/>
              <a:t>En-vi-</a:t>
            </a:r>
            <a:r>
              <a:rPr lang="en-CA" dirty="0" err="1"/>
              <a:t>ron</a:t>
            </a:r>
            <a:r>
              <a:rPr lang="en-CA" dirty="0"/>
              <a:t>-</a:t>
            </a:r>
            <a:r>
              <a:rPr lang="en-CA" dirty="0" err="1"/>
              <a:t>ment</a:t>
            </a:r>
            <a:endParaRPr lang="en-CA" dirty="0"/>
          </a:p>
          <a:p>
            <a:pPr marL="571500" indent="-457200">
              <a:buAutoNum type="arabicPeriod"/>
            </a:pPr>
            <a:r>
              <a:rPr lang="en-CA" dirty="0" err="1"/>
              <a:t>Pu-nish-ment</a:t>
            </a:r>
            <a:endParaRPr lang="en-CA" dirty="0"/>
          </a:p>
          <a:p>
            <a:pPr marL="571500" indent="-457200">
              <a:buAutoNum type="arabicPeriod"/>
            </a:pPr>
            <a:r>
              <a:rPr lang="en-CA" dirty="0"/>
              <a:t>In-vent</a:t>
            </a:r>
          </a:p>
          <a:p>
            <a:pPr marL="571500" indent="-457200">
              <a:buAutoNum type="arabicPeriod"/>
            </a:pPr>
            <a:r>
              <a:rPr lang="en-CA" dirty="0"/>
              <a:t>In-</a:t>
            </a:r>
            <a:r>
              <a:rPr lang="en-CA" dirty="0" err="1"/>
              <a:t>ven</a:t>
            </a:r>
            <a:r>
              <a:rPr lang="en-CA" dirty="0"/>
              <a:t>-to-</a:t>
            </a:r>
            <a:r>
              <a:rPr lang="en-CA" dirty="0" err="1"/>
              <a:t>ry</a:t>
            </a:r>
            <a:endParaRPr lang="en-CA" dirty="0"/>
          </a:p>
          <a:p>
            <a:pPr marL="571500" indent="-457200">
              <a:buAutoNum type="arabicPeriod"/>
            </a:pPr>
            <a:r>
              <a:rPr lang="en-CA" dirty="0"/>
              <a:t>La-</a:t>
            </a:r>
            <a:r>
              <a:rPr lang="en-CA" dirty="0" err="1"/>
              <a:t>bo</a:t>
            </a:r>
            <a:r>
              <a:rPr lang="en-CA" dirty="0"/>
              <a:t>-</a:t>
            </a:r>
            <a:r>
              <a:rPr lang="en-CA" dirty="0" err="1"/>
              <a:t>ra</a:t>
            </a:r>
            <a:r>
              <a:rPr lang="en-CA" dirty="0"/>
              <a:t>-to-</a:t>
            </a:r>
            <a:r>
              <a:rPr lang="en-CA" dirty="0" err="1"/>
              <a:t>ry</a:t>
            </a:r>
            <a:endParaRPr lang="en-CA" dirty="0"/>
          </a:p>
          <a:p>
            <a:pPr marL="571500" indent="-457200">
              <a:buAutoNum type="arabicPeriod"/>
            </a:pPr>
            <a:r>
              <a:rPr lang="en-CA" dirty="0"/>
              <a:t>Mo-</a:t>
            </a:r>
            <a:r>
              <a:rPr lang="en-CA" dirty="0" err="1"/>
              <a:t>ti</a:t>
            </a:r>
            <a:r>
              <a:rPr lang="en-CA" dirty="0"/>
              <a:t>-</a:t>
            </a:r>
            <a:r>
              <a:rPr lang="en-CA" dirty="0" err="1"/>
              <a:t>vate</a:t>
            </a:r>
            <a:endParaRPr lang="en-CA" dirty="0"/>
          </a:p>
          <a:p>
            <a:pPr marL="571500" indent="-457200">
              <a:buAutoNum type="arabicPeriod"/>
            </a:pPr>
            <a:r>
              <a:rPr lang="en-CA" dirty="0"/>
              <a:t>Mo-</a:t>
            </a:r>
            <a:r>
              <a:rPr lang="en-CA" dirty="0" err="1"/>
              <a:t>ti</a:t>
            </a:r>
            <a:r>
              <a:rPr lang="en-CA" dirty="0"/>
              <a:t>-</a:t>
            </a:r>
            <a:r>
              <a:rPr lang="en-CA" dirty="0" err="1"/>
              <a:t>va-tion</a:t>
            </a:r>
            <a:endParaRPr lang="en-CA" dirty="0"/>
          </a:p>
          <a:p>
            <a:endParaRPr lang="fr-CA" dirty="0"/>
          </a:p>
        </p:txBody>
      </p:sp>
      <p:sp>
        <p:nvSpPr>
          <p:cNvPr id="4" name="Content Placeholder 3"/>
          <p:cNvSpPr>
            <a:spLocks noGrp="1"/>
          </p:cNvSpPr>
          <p:nvPr>
            <p:ph sz="half" idx="2"/>
          </p:nvPr>
        </p:nvSpPr>
        <p:spPr>
          <a:xfrm>
            <a:off x="4419600" y="2185102"/>
            <a:ext cx="3657600" cy="4653887"/>
          </a:xfrm>
        </p:spPr>
        <p:txBody>
          <a:bodyPr>
            <a:normAutofit fontScale="92500" lnSpcReduction="20000"/>
          </a:bodyPr>
          <a:lstStyle/>
          <a:p>
            <a:pPr marL="114300" indent="0">
              <a:buNone/>
            </a:pPr>
            <a:r>
              <a:rPr lang="en-CA" dirty="0"/>
              <a:t>12. Hap-pen-</a:t>
            </a:r>
            <a:r>
              <a:rPr lang="en-CA" dirty="0" err="1"/>
              <a:t>ing</a:t>
            </a:r>
            <a:endParaRPr lang="en-CA" dirty="0"/>
          </a:p>
          <a:p>
            <a:pPr marL="114300" indent="0">
              <a:buNone/>
            </a:pPr>
            <a:r>
              <a:rPr lang="en-CA" dirty="0"/>
              <a:t>13. Of-</a:t>
            </a:r>
            <a:r>
              <a:rPr lang="en-CA" dirty="0" err="1"/>
              <a:t>fered</a:t>
            </a:r>
            <a:endParaRPr lang="en-CA" dirty="0"/>
          </a:p>
          <a:p>
            <a:pPr marL="114300" indent="0">
              <a:buNone/>
            </a:pPr>
            <a:r>
              <a:rPr lang="en-CA" dirty="0"/>
              <a:t>14. Pre-</a:t>
            </a:r>
            <a:r>
              <a:rPr lang="en-CA" dirty="0" err="1"/>
              <a:t>ferred</a:t>
            </a:r>
            <a:endParaRPr lang="en-CA" dirty="0"/>
          </a:p>
          <a:p>
            <a:pPr marL="114300" indent="0">
              <a:buNone/>
            </a:pPr>
            <a:r>
              <a:rPr lang="en-CA" dirty="0"/>
              <a:t>15. Be-gin-</a:t>
            </a:r>
            <a:r>
              <a:rPr lang="en-CA" dirty="0" err="1"/>
              <a:t>ning</a:t>
            </a:r>
            <a:endParaRPr lang="en-CA" dirty="0"/>
          </a:p>
          <a:p>
            <a:pPr marL="114300" indent="0">
              <a:buNone/>
            </a:pPr>
            <a:r>
              <a:rPr lang="en-CA" dirty="0"/>
              <a:t>16. Me-di-</a:t>
            </a:r>
            <a:r>
              <a:rPr lang="en-CA" dirty="0" err="1"/>
              <a:t>cal</a:t>
            </a:r>
            <a:endParaRPr lang="en-CA" dirty="0"/>
          </a:p>
          <a:p>
            <a:pPr marL="114300" indent="0">
              <a:buNone/>
            </a:pPr>
            <a:r>
              <a:rPr lang="en-CA" dirty="0"/>
              <a:t>17. Me-di-</a:t>
            </a:r>
            <a:r>
              <a:rPr lang="en-CA" dirty="0" err="1"/>
              <a:t>ca</a:t>
            </a:r>
            <a:r>
              <a:rPr lang="en-CA" dirty="0"/>
              <a:t>-</a:t>
            </a:r>
            <a:r>
              <a:rPr lang="en-CA" dirty="0" err="1"/>
              <a:t>tion</a:t>
            </a:r>
            <a:endParaRPr lang="en-CA" dirty="0"/>
          </a:p>
          <a:p>
            <a:pPr marL="114300" indent="0">
              <a:buNone/>
            </a:pPr>
            <a:r>
              <a:rPr lang="en-CA" dirty="0"/>
              <a:t>18. O-</a:t>
            </a:r>
            <a:r>
              <a:rPr lang="en-CA" dirty="0" err="1"/>
              <a:t>pe</a:t>
            </a:r>
            <a:r>
              <a:rPr lang="en-CA" dirty="0"/>
              <a:t>-rate</a:t>
            </a:r>
          </a:p>
          <a:p>
            <a:pPr marL="114300" indent="0">
              <a:buNone/>
            </a:pPr>
            <a:r>
              <a:rPr lang="en-CA" dirty="0"/>
              <a:t>19. O-</a:t>
            </a:r>
            <a:r>
              <a:rPr lang="en-CA" dirty="0" err="1"/>
              <a:t>pe</a:t>
            </a:r>
            <a:r>
              <a:rPr lang="en-CA" dirty="0"/>
              <a:t>-</a:t>
            </a:r>
            <a:r>
              <a:rPr lang="en-CA" dirty="0" err="1"/>
              <a:t>ra-tion</a:t>
            </a:r>
            <a:endParaRPr lang="en-CA" dirty="0"/>
          </a:p>
          <a:p>
            <a:pPr marL="114300" indent="0">
              <a:buNone/>
            </a:pPr>
            <a:r>
              <a:rPr lang="en-CA" dirty="0"/>
              <a:t>20. De-</a:t>
            </a:r>
            <a:r>
              <a:rPr lang="en-CA" dirty="0" err="1"/>
              <a:t>ve</a:t>
            </a:r>
            <a:r>
              <a:rPr lang="en-CA" dirty="0"/>
              <a:t>-loped</a:t>
            </a:r>
          </a:p>
          <a:p>
            <a:pPr marL="114300" indent="0">
              <a:buNone/>
            </a:pPr>
            <a:r>
              <a:rPr lang="en-CA" dirty="0"/>
              <a:t>21. Un-der-stand </a:t>
            </a:r>
          </a:p>
          <a:p>
            <a:endParaRPr lang="fr-CA" dirty="0"/>
          </a:p>
        </p:txBody>
      </p:sp>
      <p:sp>
        <p:nvSpPr>
          <p:cNvPr id="5" name="Slide Number Placeholder 4"/>
          <p:cNvSpPr>
            <a:spLocks noGrp="1"/>
          </p:cNvSpPr>
          <p:nvPr>
            <p:ph type="sldNum" sz="quarter" idx="12"/>
          </p:nvPr>
        </p:nvSpPr>
        <p:spPr/>
        <p:txBody>
          <a:bodyPr/>
          <a:lstStyle/>
          <a:p>
            <a:fld id="{6E2D2B3B-882E-40F3-A32F-6DD516915044}" type="slidenum">
              <a:rPr lang="en-US" smtClean="0"/>
              <a:pPr/>
              <a:t>5</a:t>
            </a:fld>
            <a:endParaRPr lang="en-US"/>
          </a:p>
        </p:txBody>
      </p:sp>
      <p:pic>
        <p:nvPicPr>
          <p:cNvPr id="6" name="wordstres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3616658" y="809766"/>
            <a:ext cx="609600" cy="609600"/>
          </a:xfrm>
          <a:prstGeom prst="rect">
            <a:avLst/>
          </a:prstGeom>
        </p:spPr>
      </p:pic>
    </p:spTree>
    <p:extLst>
      <p:ext uri="{BB962C8B-B14F-4D97-AF65-F5344CB8AC3E}">
        <p14:creationId xmlns:p14="http://schemas.microsoft.com/office/powerpoint/2010/main" val="125048879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53443" fill="hold"/>
                                        <p:tgtEl>
                                          <p:spTgt spid="6"/>
                                        </p:tgtEl>
                                      </p:cBhvr>
                                    </p:cmd>
                                  </p:childTnLst>
                                </p:cTn>
                              </p:par>
                            </p:childTnLst>
                          </p:cTn>
                        </p:par>
                      </p:childTnLst>
                    </p:cTn>
                  </p:par>
                </p:childTnLst>
              </p:cTn>
              <p:nextCondLst>
                <p:cond evt="onClick" delay="0">
                  <p:tgtEl>
                    <p:spTgt spid="6"/>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933386" cy="1143000"/>
          </a:xfrm>
        </p:spPr>
        <p:txBody>
          <a:bodyPr/>
          <a:lstStyle/>
          <a:p>
            <a:r>
              <a:rPr lang="en-US" dirty="0"/>
              <a:t>Grammar Review: Future Tenses</a:t>
            </a:r>
          </a:p>
        </p:txBody>
      </p:sp>
      <p:sp>
        <p:nvSpPr>
          <p:cNvPr id="3" name="Content Placeholder 2"/>
          <p:cNvSpPr>
            <a:spLocks noGrp="1"/>
          </p:cNvSpPr>
          <p:nvPr>
            <p:ph idx="1"/>
          </p:nvPr>
        </p:nvSpPr>
        <p:spPr/>
        <p:txBody>
          <a:bodyPr>
            <a:normAutofit/>
          </a:bodyPr>
          <a:lstStyle/>
          <a:p>
            <a:pPr marL="114300" indent="0">
              <a:buNone/>
            </a:pPr>
            <a:endParaRPr lang="en-US" dirty="0"/>
          </a:p>
          <a:p>
            <a:pPr marL="114300" indent="0">
              <a:buNone/>
            </a:pPr>
            <a:r>
              <a:rPr lang="en-US" sz="3200" dirty="0"/>
              <a:t>What are the names of the future tenses?</a:t>
            </a:r>
          </a:p>
          <a:p>
            <a:pPr marL="114300" indent="0">
              <a:buNone/>
            </a:pPr>
            <a:endParaRPr lang="en-US" sz="3200" dirty="0"/>
          </a:p>
          <a:p>
            <a:pPr marL="571500" indent="-457200">
              <a:buAutoNum type="arabicPeriod"/>
            </a:pPr>
            <a:r>
              <a:rPr lang="en-US" sz="3200" dirty="0"/>
              <a:t>_________________</a:t>
            </a:r>
          </a:p>
          <a:p>
            <a:pPr marL="571500" indent="-457200">
              <a:buAutoNum type="arabicPeriod"/>
            </a:pPr>
            <a:r>
              <a:rPr lang="en-US" sz="3200" dirty="0"/>
              <a:t>_________________</a:t>
            </a:r>
          </a:p>
          <a:p>
            <a:pPr marL="571500" indent="-457200">
              <a:buAutoNum type="arabicPeriod"/>
            </a:pPr>
            <a:r>
              <a:rPr lang="en-US" sz="3200" dirty="0"/>
              <a:t>_________________</a:t>
            </a:r>
          </a:p>
          <a:p>
            <a:pPr marL="571500" indent="-457200">
              <a:buAutoNum type="arabicPeriod"/>
            </a:pPr>
            <a:r>
              <a:rPr lang="en-US" sz="3200" dirty="0"/>
              <a:t>_________________</a:t>
            </a:r>
          </a:p>
          <a:p>
            <a:pPr marL="114300" indent="0">
              <a:buNone/>
            </a:pPr>
            <a:endParaRPr lang="en-US" sz="3200" dirty="0"/>
          </a:p>
        </p:txBody>
      </p:sp>
      <p:sp>
        <p:nvSpPr>
          <p:cNvPr id="4" name="Espace réservé du numéro de diapositive 3"/>
          <p:cNvSpPr>
            <a:spLocks noGrp="1"/>
          </p:cNvSpPr>
          <p:nvPr>
            <p:ph type="sldNum" sz="quarter" idx="12"/>
          </p:nvPr>
        </p:nvSpPr>
        <p:spPr/>
        <p:txBody>
          <a:bodyPr/>
          <a:lstStyle/>
          <a:p>
            <a:fld id="{6E2D2B3B-882E-40F3-A32F-6DD516915044}" type="slidenum">
              <a:rPr lang="en-US" smtClean="0"/>
              <a:pPr/>
              <a:t>6</a:t>
            </a:fld>
            <a:endParaRPr lang="en-US"/>
          </a:p>
        </p:txBody>
      </p:sp>
    </p:spTree>
    <p:extLst>
      <p:ext uri="{BB962C8B-B14F-4D97-AF65-F5344CB8AC3E}">
        <p14:creationId xmlns:p14="http://schemas.microsoft.com/office/powerpoint/2010/main" val="1815215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0B160-CA09-F740-016E-9EAC62282052}"/>
              </a:ext>
            </a:extLst>
          </p:cNvPr>
          <p:cNvSpPr>
            <a:spLocks noGrp="1"/>
          </p:cNvSpPr>
          <p:nvPr>
            <p:ph type="title"/>
          </p:nvPr>
        </p:nvSpPr>
        <p:spPr/>
        <p:txBody>
          <a:bodyPr/>
          <a:lstStyle/>
          <a:p>
            <a:r>
              <a:rPr lang="en-CA" dirty="0"/>
              <a:t>Simple Future Tense </a:t>
            </a:r>
          </a:p>
        </p:txBody>
      </p:sp>
      <p:sp>
        <p:nvSpPr>
          <p:cNvPr id="4" name="Slide Number Placeholder 3">
            <a:extLst>
              <a:ext uri="{FF2B5EF4-FFF2-40B4-BE49-F238E27FC236}">
                <a16:creationId xmlns:a16="http://schemas.microsoft.com/office/drawing/2014/main" id="{EDC59AEF-DC55-29C8-E974-AF66954F89C2}"/>
              </a:ext>
            </a:extLst>
          </p:cNvPr>
          <p:cNvSpPr>
            <a:spLocks noGrp="1"/>
          </p:cNvSpPr>
          <p:nvPr>
            <p:ph type="sldNum" sz="quarter" idx="12"/>
          </p:nvPr>
        </p:nvSpPr>
        <p:spPr/>
        <p:txBody>
          <a:bodyPr/>
          <a:lstStyle/>
          <a:p>
            <a:fld id="{6E2D2B3B-882E-40F3-A32F-6DD516915044}" type="slidenum">
              <a:rPr lang="en-US" smtClean="0"/>
              <a:pPr/>
              <a:t>7</a:t>
            </a:fld>
            <a:endParaRPr lang="en-US"/>
          </a:p>
        </p:txBody>
      </p:sp>
      <p:pic>
        <p:nvPicPr>
          <p:cNvPr id="10" name="Content Placeholder 9">
            <a:extLst>
              <a:ext uri="{FF2B5EF4-FFF2-40B4-BE49-F238E27FC236}">
                <a16:creationId xmlns:a16="http://schemas.microsoft.com/office/drawing/2014/main" id="{646CA945-8DE4-67C5-6B07-120CC67F0845}"/>
              </a:ext>
            </a:extLst>
          </p:cNvPr>
          <p:cNvPicPr>
            <a:picLocks noGrp="1" noChangeAspect="1"/>
          </p:cNvPicPr>
          <p:nvPr>
            <p:ph idx="1"/>
          </p:nvPr>
        </p:nvPicPr>
        <p:blipFill>
          <a:blip r:embed="rId2"/>
          <a:stretch>
            <a:fillRect/>
          </a:stretch>
        </p:blipFill>
        <p:spPr>
          <a:xfrm>
            <a:off x="231820" y="1906073"/>
            <a:ext cx="8203842" cy="3921617"/>
          </a:xfrm>
        </p:spPr>
      </p:pic>
    </p:spTree>
    <p:extLst>
      <p:ext uri="{BB962C8B-B14F-4D97-AF65-F5344CB8AC3E}">
        <p14:creationId xmlns:p14="http://schemas.microsoft.com/office/powerpoint/2010/main" val="2661441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7620000" cy="818866"/>
          </a:xfrm>
        </p:spPr>
        <p:txBody>
          <a:bodyPr/>
          <a:lstStyle/>
          <a:p>
            <a:r>
              <a:rPr lang="en-CA" dirty="0"/>
              <a:t>Time clauses </a:t>
            </a:r>
          </a:p>
        </p:txBody>
      </p:sp>
      <p:sp>
        <p:nvSpPr>
          <p:cNvPr id="3" name="Content Placeholder 2"/>
          <p:cNvSpPr>
            <a:spLocks noGrp="1"/>
          </p:cNvSpPr>
          <p:nvPr>
            <p:ph idx="1"/>
          </p:nvPr>
        </p:nvSpPr>
        <p:spPr>
          <a:xfrm>
            <a:off x="457199" y="1023582"/>
            <a:ext cx="8059003" cy="5377218"/>
          </a:xfrm>
        </p:spPr>
        <p:txBody>
          <a:bodyPr/>
          <a:lstStyle/>
          <a:p>
            <a:pPr marL="114300" indent="0">
              <a:buNone/>
            </a:pPr>
            <a:r>
              <a:rPr lang="en-CA" dirty="0"/>
              <a:t>1. Never use the future tense after the following </a:t>
            </a:r>
            <a:r>
              <a:rPr lang="en-CA" b="1" dirty="0">
                <a:solidFill>
                  <a:srgbClr val="FF0000"/>
                </a:solidFill>
              </a:rPr>
              <a:t>time markers</a:t>
            </a:r>
            <a:r>
              <a:rPr lang="en-CA" dirty="0"/>
              <a:t>: </a:t>
            </a:r>
          </a:p>
          <a:p>
            <a:pPr marL="114300" indent="0">
              <a:buNone/>
            </a:pPr>
            <a:r>
              <a:rPr lang="en-CA" dirty="0">
                <a:solidFill>
                  <a:srgbClr val="FF0000"/>
                </a:solidFill>
              </a:rPr>
              <a:t>  After	     before     until          as soon as        unless   	when</a:t>
            </a:r>
          </a:p>
          <a:p>
            <a:pPr marL="114300" indent="0">
              <a:buNone/>
            </a:pPr>
            <a:r>
              <a:rPr lang="en-CA" dirty="0"/>
              <a:t>Example: As soon as I have enough money, I will buy a car. </a:t>
            </a:r>
          </a:p>
          <a:p>
            <a:pPr marL="114300" indent="0">
              <a:buNone/>
            </a:pPr>
            <a:endParaRPr lang="en-CA" dirty="0"/>
          </a:p>
          <a:p>
            <a:pPr marL="114300" indent="0">
              <a:buNone/>
            </a:pPr>
            <a:r>
              <a:rPr lang="en-CA" dirty="0"/>
              <a:t>2. Complete the following sentences:</a:t>
            </a:r>
          </a:p>
          <a:p>
            <a:pPr marL="571500" indent="-457200">
              <a:buAutoNum type="arabicParenBoth"/>
            </a:pPr>
            <a:r>
              <a:rPr lang="en-CA" dirty="0"/>
              <a:t>When she _____ (find) a job, she _____ (be) happy.</a:t>
            </a:r>
          </a:p>
          <a:p>
            <a:pPr marL="571500" indent="-457200">
              <a:buAutoNum type="arabicParenBoth"/>
            </a:pPr>
            <a:r>
              <a:rPr lang="en-CA" dirty="0"/>
              <a:t>He ___ (move out) as soon as he ___ (graduate) from college.</a:t>
            </a:r>
          </a:p>
          <a:p>
            <a:pPr marL="571500" indent="-457200">
              <a:buAutoNum type="arabicParenBoth"/>
            </a:pPr>
            <a:r>
              <a:rPr lang="en-CA" dirty="0"/>
              <a:t>I ___ (drive) unless you ___ (want) to do it this time.</a:t>
            </a:r>
          </a:p>
          <a:p>
            <a:pPr marL="571500" indent="-457200">
              <a:buAutoNum type="arabicParenBoth"/>
            </a:pPr>
            <a:r>
              <a:rPr lang="en-CA" dirty="0"/>
              <a:t>Before I ___ (visit) your place, I ___ (call) you.</a:t>
            </a:r>
          </a:p>
          <a:p>
            <a:pPr marL="571500" indent="-457200">
              <a:buAutoNum type="arabicParenBoth"/>
            </a:pPr>
            <a:r>
              <a:rPr lang="en-CA" dirty="0"/>
              <a:t>We ____ (miss) Peter after he ___ (retire).</a:t>
            </a:r>
          </a:p>
          <a:p>
            <a:pPr marL="114300" indent="0">
              <a:buNone/>
            </a:pPr>
            <a:endParaRPr lang="en-CA" dirty="0"/>
          </a:p>
          <a:p>
            <a:pPr marL="114300" indent="0">
              <a:buNone/>
            </a:pPr>
            <a:r>
              <a:rPr lang="en-CA" dirty="0"/>
              <a:t>3. Make your own sentences with the time markers. </a:t>
            </a:r>
          </a:p>
          <a:p>
            <a:pPr marL="114300" indent="0">
              <a:buNone/>
            </a:pPr>
            <a:endParaRPr lang="en-CA"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8</a:t>
            </a:fld>
            <a:endParaRPr lang="en-US"/>
          </a:p>
        </p:txBody>
      </p:sp>
    </p:spTree>
    <p:extLst>
      <p:ext uri="{BB962C8B-B14F-4D97-AF65-F5344CB8AC3E}">
        <p14:creationId xmlns:p14="http://schemas.microsoft.com/office/powerpoint/2010/main" val="706750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3509" y="0"/>
            <a:ext cx="7620000" cy="1143000"/>
          </a:xfrm>
        </p:spPr>
        <p:txBody>
          <a:bodyPr/>
          <a:lstStyle/>
          <a:p>
            <a:r>
              <a:rPr lang="en-CA" dirty="0"/>
              <a:t>Error analysis</a:t>
            </a:r>
          </a:p>
        </p:txBody>
      </p:sp>
      <p:sp>
        <p:nvSpPr>
          <p:cNvPr id="3" name="Content Placeholder 2"/>
          <p:cNvSpPr>
            <a:spLocks noGrp="1"/>
          </p:cNvSpPr>
          <p:nvPr>
            <p:ph idx="1"/>
          </p:nvPr>
        </p:nvSpPr>
        <p:spPr>
          <a:xfrm>
            <a:off x="95533" y="1197735"/>
            <a:ext cx="8282174" cy="5516964"/>
          </a:xfrm>
        </p:spPr>
        <p:txBody>
          <a:bodyPr>
            <a:normAutofit lnSpcReduction="10000"/>
          </a:bodyPr>
          <a:lstStyle/>
          <a:p>
            <a:pPr marL="114300" indent="0">
              <a:buNone/>
            </a:pPr>
            <a:r>
              <a:rPr lang="en-CA" i="1" dirty="0"/>
              <a:t>Find and correct 15 errors in the following paragraph. </a:t>
            </a:r>
          </a:p>
          <a:p>
            <a:pPr marL="114300" indent="0">
              <a:buNone/>
            </a:pPr>
            <a:endParaRPr lang="en-CA" dirty="0"/>
          </a:p>
          <a:p>
            <a:pPr marL="114300" indent="0">
              <a:buNone/>
            </a:pPr>
            <a:r>
              <a:rPr lang="en-CA" sz="2800" dirty="0">
                <a:latin typeface="Times New Roman" panose="02020603050405020304" pitchFamily="18" charset="0"/>
                <a:cs typeface="Times New Roman" panose="02020603050405020304" pitchFamily="18" charset="0"/>
              </a:rPr>
              <a:t>Scientist predict that major earthquakes will occur on the pacific coast of north America. What is citizens gonna do? How big the next earthquake going to be? When such disasters will occur, will the coastline changes? Where residents are going to live after a catastrophe? Unless engineers and construction companys will work together to build more earthquake-proof structure, many building and bridge will collapse probably.  </a:t>
            </a:r>
          </a:p>
          <a:p>
            <a:pPr marL="114300" indent="0">
              <a:buNone/>
            </a:pPr>
            <a:endParaRPr lang="en-CA" sz="2800" dirty="0">
              <a:latin typeface="Times New Roman" panose="02020603050405020304" pitchFamily="18" charset="0"/>
              <a:cs typeface="Times New Roman" panose="02020603050405020304" pitchFamily="18" charset="0"/>
            </a:endParaRPr>
          </a:p>
          <a:p>
            <a:pPr marL="114300" indent="0" algn="r">
              <a:buNone/>
            </a:pPr>
            <a:r>
              <a:rPr lang="en-CA" sz="2800" i="1" dirty="0">
                <a:latin typeface="Times New Roman" panose="02020603050405020304" pitchFamily="18" charset="0"/>
                <a:cs typeface="Times New Roman" panose="02020603050405020304" pitchFamily="18" charset="0"/>
              </a:rPr>
              <a:t>Adapted from Avenues 3 by Lynn </a:t>
            </a:r>
            <a:r>
              <a:rPr lang="en-CA" sz="2800" i="1" dirty="0" err="1">
                <a:latin typeface="Times New Roman" panose="02020603050405020304" pitchFamily="18" charset="0"/>
                <a:cs typeface="Times New Roman" panose="02020603050405020304" pitchFamily="18" charset="0"/>
              </a:rPr>
              <a:t>Gaetz</a:t>
            </a:r>
            <a:endParaRPr lang="en-CA" sz="2800" i="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6E2D2B3B-882E-40F3-A32F-6DD516915044}" type="slidenum">
              <a:rPr lang="en-US" smtClean="0"/>
              <a:pPr/>
              <a:t>9</a:t>
            </a:fld>
            <a:endParaRPr lang="en-US"/>
          </a:p>
        </p:txBody>
      </p:sp>
    </p:spTree>
    <p:extLst>
      <p:ext uri="{BB962C8B-B14F-4D97-AF65-F5344CB8AC3E}">
        <p14:creationId xmlns:p14="http://schemas.microsoft.com/office/powerpoint/2010/main" val="2036550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6FAAF-DBBE-2D93-B2DD-784575A4BF2F}"/>
              </a:ext>
            </a:extLst>
          </p:cNvPr>
          <p:cNvSpPr>
            <a:spLocks noGrp="1"/>
          </p:cNvSpPr>
          <p:nvPr>
            <p:ph type="title"/>
          </p:nvPr>
        </p:nvSpPr>
        <p:spPr>
          <a:xfrm>
            <a:off x="0" y="49257"/>
            <a:ext cx="8300433" cy="1143000"/>
          </a:xfrm>
        </p:spPr>
        <p:txBody>
          <a:bodyPr/>
          <a:lstStyle/>
          <a:p>
            <a:r>
              <a:rPr lang="en-CA" sz="1800" dirty="0">
                <a:hlinkClick r:id="rId2"/>
              </a:rPr>
              <a:t>https://www.ted.com/talks/anthony_goldbloom_the_jobs_we_ll_lose_to_machines_and_the_ones_we_won_t?language=en</a:t>
            </a:r>
            <a:br>
              <a:rPr lang="en-CA" sz="1800" dirty="0"/>
            </a:br>
            <a:endParaRPr lang="en-CA" sz="1800" dirty="0"/>
          </a:p>
        </p:txBody>
      </p:sp>
      <p:pic>
        <p:nvPicPr>
          <p:cNvPr id="6" name="Content Placeholder 5">
            <a:extLst>
              <a:ext uri="{FF2B5EF4-FFF2-40B4-BE49-F238E27FC236}">
                <a16:creationId xmlns:a16="http://schemas.microsoft.com/office/drawing/2014/main" id="{14C7A102-A9C8-DCA5-5F73-B7A88122DA95}"/>
              </a:ext>
            </a:extLst>
          </p:cNvPr>
          <p:cNvPicPr>
            <a:picLocks noGrp="1" noChangeAspect="1"/>
          </p:cNvPicPr>
          <p:nvPr>
            <p:ph idx="1"/>
          </p:nvPr>
        </p:nvPicPr>
        <p:blipFill>
          <a:blip r:embed="rId3"/>
          <a:stretch>
            <a:fillRect/>
          </a:stretch>
        </p:blipFill>
        <p:spPr>
          <a:xfrm>
            <a:off x="180303" y="4591318"/>
            <a:ext cx="8178085" cy="1955737"/>
          </a:xfrm>
        </p:spPr>
      </p:pic>
      <p:sp>
        <p:nvSpPr>
          <p:cNvPr id="4" name="Slide Number Placeholder 3">
            <a:extLst>
              <a:ext uri="{FF2B5EF4-FFF2-40B4-BE49-F238E27FC236}">
                <a16:creationId xmlns:a16="http://schemas.microsoft.com/office/drawing/2014/main" id="{27F0ED3B-5756-17B7-5A23-31960E5F5A08}"/>
              </a:ext>
            </a:extLst>
          </p:cNvPr>
          <p:cNvSpPr>
            <a:spLocks noGrp="1"/>
          </p:cNvSpPr>
          <p:nvPr>
            <p:ph type="sldNum" sz="quarter" idx="12"/>
          </p:nvPr>
        </p:nvSpPr>
        <p:spPr/>
        <p:txBody>
          <a:bodyPr/>
          <a:lstStyle/>
          <a:p>
            <a:fld id="{6E2D2B3B-882E-40F3-A32F-6DD516915044}" type="slidenum">
              <a:rPr lang="en-US" smtClean="0"/>
              <a:pPr/>
              <a:t>10</a:t>
            </a:fld>
            <a:endParaRPr lang="en-US"/>
          </a:p>
        </p:txBody>
      </p:sp>
      <p:pic>
        <p:nvPicPr>
          <p:cNvPr id="8" name="Picture 7">
            <a:extLst>
              <a:ext uri="{FF2B5EF4-FFF2-40B4-BE49-F238E27FC236}">
                <a16:creationId xmlns:a16="http://schemas.microsoft.com/office/drawing/2014/main" id="{4F42E425-FBD7-8E6B-E638-6E31F3E622F8}"/>
              </a:ext>
            </a:extLst>
          </p:cNvPr>
          <p:cNvPicPr>
            <a:picLocks noChangeAspect="1"/>
          </p:cNvPicPr>
          <p:nvPr/>
        </p:nvPicPr>
        <p:blipFill>
          <a:blip r:embed="rId4"/>
          <a:stretch>
            <a:fillRect/>
          </a:stretch>
        </p:blipFill>
        <p:spPr>
          <a:xfrm>
            <a:off x="1596981" y="966826"/>
            <a:ext cx="5409126" cy="3392673"/>
          </a:xfrm>
          <a:prstGeom prst="rect">
            <a:avLst/>
          </a:prstGeom>
        </p:spPr>
      </p:pic>
    </p:spTree>
    <p:extLst>
      <p:ext uri="{BB962C8B-B14F-4D97-AF65-F5344CB8AC3E}">
        <p14:creationId xmlns:p14="http://schemas.microsoft.com/office/powerpoint/2010/main" val="3368727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E57B1-4A38-3B8C-5121-62779AD082F1}"/>
              </a:ext>
            </a:extLst>
          </p:cNvPr>
          <p:cNvSpPr>
            <a:spLocks noGrp="1"/>
          </p:cNvSpPr>
          <p:nvPr>
            <p:ph type="title"/>
          </p:nvPr>
        </p:nvSpPr>
        <p:spPr>
          <a:xfrm>
            <a:off x="135228" y="0"/>
            <a:ext cx="8396560" cy="1143000"/>
          </a:xfrm>
        </p:spPr>
        <p:txBody>
          <a:bodyPr/>
          <a:lstStyle/>
          <a:p>
            <a:r>
              <a:rPr lang="en-CA" dirty="0"/>
              <a:t>Types of Sources</a:t>
            </a:r>
            <a:br>
              <a:rPr lang="en-CA" dirty="0"/>
            </a:br>
            <a:r>
              <a:rPr lang="en-CA" sz="1600" dirty="0"/>
              <a:t>adapted from https://www.scribbr.com/working-with-sources/credible-sources/</a:t>
            </a:r>
          </a:p>
        </p:txBody>
      </p:sp>
      <p:pic>
        <p:nvPicPr>
          <p:cNvPr id="6" name="Content Placeholder 5">
            <a:extLst>
              <a:ext uri="{FF2B5EF4-FFF2-40B4-BE49-F238E27FC236}">
                <a16:creationId xmlns:a16="http://schemas.microsoft.com/office/drawing/2014/main" id="{87993118-1A6B-BF39-7F04-60011AC50B10}"/>
              </a:ext>
            </a:extLst>
          </p:cNvPr>
          <p:cNvPicPr>
            <a:picLocks noGrp="1" noChangeAspect="1"/>
          </p:cNvPicPr>
          <p:nvPr>
            <p:ph idx="1"/>
          </p:nvPr>
        </p:nvPicPr>
        <p:blipFill>
          <a:blip r:embed="rId2"/>
          <a:stretch>
            <a:fillRect/>
          </a:stretch>
        </p:blipFill>
        <p:spPr>
          <a:xfrm>
            <a:off x="63572" y="1036749"/>
            <a:ext cx="9016856" cy="5769736"/>
          </a:xfrm>
        </p:spPr>
      </p:pic>
      <p:sp>
        <p:nvSpPr>
          <p:cNvPr id="4" name="Slide Number Placeholder 3">
            <a:extLst>
              <a:ext uri="{FF2B5EF4-FFF2-40B4-BE49-F238E27FC236}">
                <a16:creationId xmlns:a16="http://schemas.microsoft.com/office/drawing/2014/main" id="{E75D537E-3726-8C58-7A2E-1425EEAC088D}"/>
              </a:ext>
            </a:extLst>
          </p:cNvPr>
          <p:cNvSpPr>
            <a:spLocks noGrp="1"/>
          </p:cNvSpPr>
          <p:nvPr>
            <p:ph type="sldNum" sz="quarter" idx="12"/>
          </p:nvPr>
        </p:nvSpPr>
        <p:spPr/>
        <p:txBody>
          <a:bodyPr/>
          <a:lstStyle/>
          <a:p>
            <a:fld id="{6E2D2B3B-882E-40F3-A32F-6DD516915044}" type="slidenum">
              <a:rPr lang="en-US" smtClean="0"/>
              <a:pPr/>
              <a:t>11</a:t>
            </a:fld>
            <a:endParaRPr lang="en-US"/>
          </a:p>
        </p:txBody>
      </p:sp>
    </p:spTree>
    <p:extLst>
      <p:ext uri="{BB962C8B-B14F-4D97-AF65-F5344CB8AC3E}">
        <p14:creationId xmlns:p14="http://schemas.microsoft.com/office/powerpoint/2010/main" val="3424487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6B0EA-E89F-E50E-5541-B61BEFBC0F22}"/>
              </a:ext>
            </a:extLst>
          </p:cNvPr>
          <p:cNvSpPr>
            <a:spLocks noGrp="1"/>
          </p:cNvSpPr>
          <p:nvPr>
            <p:ph type="title"/>
          </p:nvPr>
        </p:nvSpPr>
        <p:spPr>
          <a:xfrm>
            <a:off x="0" y="0"/>
            <a:ext cx="9080428" cy="1143000"/>
          </a:xfrm>
        </p:spPr>
        <p:txBody>
          <a:bodyPr/>
          <a:lstStyle/>
          <a:p>
            <a:r>
              <a:rPr lang="en-CA" sz="3200" dirty="0">
                <a:solidFill>
                  <a:schemeClr val="accent1">
                    <a:lumMod val="75000"/>
                  </a:schemeClr>
                </a:solidFill>
              </a:rPr>
              <a:t>How do I know if my sources are credible/reliable?</a:t>
            </a:r>
          </a:p>
        </p:txBody>
      </p:sp>
      <p:sp>
        <p:nvSpPr>
          <p:cNvPr id="4" name="Slide Number Placeholder 3">
            <a:extLst>
              <a:ext uri="{FF2B5EF4-FFF2-40B4-BE49-F238E27FC236}">
                <a16:creationId xmlns:a16="http://schemas.microsoft.com/office/drawing/2014/main" id="{47FFE16C-3F9F-0C6A-4E66-A4ADDDD103C9}"/>
              </a:ext>
            </a:extLst>
          </p:cNvPr>
          <p:cNvSpPr>
            <a:spLocks noGrp="1"/>
          </p:cNvSpPr>
          <p:nvPr>
            <p:ph type="sldNum" sz="quarter" idx="12"/>
          </p:nvPr>
        </p:nvSpPr>
        <p:spPr/>
        <p:txBody>
          <a:bodyPr/>
          <a:lstStyle/>
          <a:p>
            <a:fld id="{6E2D2B3B-882E-40F3-A32F-6DD516915044}" type="slidenum">
              <a:rPr lang="en-US" smtClean="0"/>
              <a:pPr/>
              <a:t>12</a:t>
            </a:fld>
            <a:endParaRPr lang="en-US"/>
          </a:p>
        </p:txBody>
      </p:sp>
      <p:sp>
        <p:nvSpPr>
          <p:cNvPr id="6" name="TextBox 5">
            <a:extLst>
              <a:ext uri="{FF2B5EF4-FFF2-40B4-BE49-F238E27FC236}">
                <a16:creationId xmlns:a16="http://schemas.microsoft.com/office/drawing/2014/main" id="{8EC8AD35-08FA-1EB6-F8F9-D2F0A5476BB2}"/>
              </a:ext>
            </a:extLst>
          </p:cNvPr>
          <p:cNvSpPr txBox="1"/>
          <p:nvPr/>
        </p:nvSpPr>
        <p:spPr>
          <a:xfrm>
            <a:off x="1942564" y="1048435"/>
            <a:ext cx="4649272" cy="923330"/>
          </a:xfrm>
          <a:prstGeom prst="rect">
            <a:avLst/>
          </a:prstGeom>
          <a:noFill/>
        </p:spPr>
        <p:txBody>
          <a:bodyPr wrap="square">
            <a:spAutoFit/>
          </a:bodyPr>
          <a:lstStyle/>
          <a:p>
            <a:r>
              <a:rPr lang="en-CA" dirty="0">
                <a:hlinkClick r:id="rId2"/>
              </a:rPr>
              <a:t>https://guides.lib.uw.edu/research/faq/reliable</a:t>
            </a:r>
            <a:endParaRPr lang="en-CA" dirty="0"/>
          </a:p>
          <a:p>
            <a:br>
              <a:rPr lang="en-CA" dirty="0"/>
            </a:br>
            <a:endParaRPr lang="en-CA" dirty="0"/>
          </a:p>
        </p:txBody>
      </p:sp>
      <p:pic>
        <p:nvPicPr>
          <p:cNvPr id="7" name="Content Placeholder 5">
            <a:extLst>
              <a:ext uri="{FF2B5EF4-FFF2-40B4-BE49-F238E27FC236}">
                <a16:creationId xmlns:a16="http://schemas.microsoft.com/office/drawing/2014/main" id="{33B4C80A-C206-30CC-BAC7-6F6BEADE02B0}"/>
              </a:ext>
            </a:extLst>
          </p:cNvPr>
          <p:cNvPicPr>
            <a:picLocks noGrp="1" noChangeAspect="1"/>
          </p:cNvPicPr>
          <p:nvPr>
            <p:ph idx="1"/>
          </p:nvPr>
        </p:nvPicPr>
        <p:blipFill>
          <a:blip r:embed="rId3"/>
          <a:stretch>
            <a:fillRect/>
          </a:stretch>
        </p:blipFill>
        <p:spPr>
          <a:xfrm>
            <a:off x="534473" y="1779709"/>
            <a:ext cx="7620000" cy="4311997"/>
          </a:xfrm>
          <a:prstGeom prst="rect">
            <a:avLst/>
          </a:prstGeom>
        </p:spPr>
      </p:pic>
    </p:spTree>
    <p:extLst>
      <p:ext uri="{BB962C8B-B14F-4D97-AF65-F5344CB8AC3E}">
        <p14:creationId xmlns:p14="http://schemas.microsoft.com/office/powerpoint/2010/main" val="3118677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6E174-D5B2-06AB-63F9-2CF608F26909}"/>
              </a:ext>
            </a:extLst>
          </p:cNvPr>
          <p:cNvSpPr>
            <a:spLocks noGrp="1"/>
          </p:cNvSpPr>
          <p:nvPr>
            <p:ph type="title"/>
          </p:nvPr>
        </p:nvSpPr>
        <p:spPr>
          <a:xfrm>
            <a:off x="412124" y="775952"/>
            <a:ext cx="7620000" cy="811369"/>
          </a:xfrm>
        </p:spPr>
        <p:txBody>
          <a:bodyPr/>
          <a:lstStyle/>
          <a:p>
            <a:r>
              <a:rPr lang="en-CA" dirty="0"/>
              <a:t>Frameworks </a:t>
            </a:r>
            <a:br>
              <a:rPr lang="en-CA" dirty="0"/>
            </a:br>
            <a:r>
              <a:rPr lang="en-CA" sz="1800" dirty="0"/>
              <a:t>Adapted from </a:t>
            </a:r>
            <a:r>
              <a:rPr lang="en-CA" sz="1800" dirty="0">
                <a:hlinkClick r:id="rId2"/>
              </a:rPr>
              <a:t>https://guides.lib.uw.edu/research/faq/reliable</a:t>
            </a:r>
            <a:br>
              <a:rPr lang="en-CA" dirty="0"/>
            </a:br>
            <a:endParaRPr lang="en-CA" dirty="0"/>
          </a:p>
        </p:txBody>
      </p:sp>
      <p:sp>
        <p:nvSpPr>
          <p:cNvPr id="3" name="Content Placeholder 2">
            <a:extLst>
              <a:ext uri="{FF2B5EF4-FFF2-40B4-BE49-F238E27FC236}">
                <a16:creationId xmlns:a16="http://schemas.microsoft.com/office/drawing/2014/main" id="{25905AE1-E480-74DB-67BA-07304A27B44C}"/>
              </a:ext>
            </a:extLst>
          </p:cNvPr>
          <p:cNvSpPr>
            <a:spLocks noGrp="1"/>
          </p:cNvSpPr>
          <p:nvPr>
            <p:ph idx="1"/>
          </p:nvPr>
        </p:nvSpPr>
        <p:spPr>
          <a:xfrm>
            <a:off x="412124" y="1703231"/>
            <a:ext cx="7620000" cy="4800600"/>
          </a:xfrm>
        </p:spPr>
        <p:txBody>
          <a:bodyPr>
            <a:normAutofit/>
          </a:bodyPr>
          <a:lstStyle/>
          <a:p>
            <a:pPr marL="571500" indent="-457200">
              <a:buAutoNum type="arabicPeriod"/>
            </a:pPr>
            <a:r>
              <a:rPr lang="en-CA" sz="4000" b="1" dirty="0">
                <a:solidFill>
                  <a:schemeClr val="accent1">
                    <a:lumMod val="75000"/>
                  </a:schemeClr>
                </a:solidFill>
              </a:rPr>
              <a:t>The 5Ws</a:t>
            </a:r>
          </a:p>
          <a:p>
            <a:pPr marL="571500" indent="-457200">
              <a:buAutoNum type="arabicPeriod"/>
            </a:pPr>
            <a:endParaRPr lang="en-CA" dirty="0"/>
          </a:p>
          <a:p>
            <a:pPr marL="571500" indent="-457200">
              <a:buAutoNum type="arabicPeriod"/>
            </a:pPr>
            <a:endParaRPr lang="en-CA" dirty="0"/>
          </a:p>
          <a:p>
            <a:pPr marL="571500" indent="-457200">
              <a:buAutoNum type="arabicPeriod"/>
            </a:pPr>
            <a:endParaRPr lang="en-CA" dirty="0"/>
          </a:p>
          <a:p>
            <a:pPr marL="114300" indent="0">
              <a:buNone/>
            </a:pPr>
            <a:endParaRPr lang="en-CA" dirty="0"/>
          </a:p>
          <a:p>
            <a:endParaRPr lang="en-CA" dirty="0"/>
          </a:p>
          <a:p>
            <a:endParaRPr lang="en-CA" dirty="0"/>
          </a:p>
          <a:p>
            <a:endParaRPr lang="en-CA" dirty="0"/>
          </a:p>
          <a:p>
            <a:endParaRPr lang="en-CA" dirty="0"/>
          </a:p>
          <a:p>
            <a:endParaRPr lang="en-CA" dirty="0"/>
          </a:p>
        </p:txBody>
      </p:sp>
      <p:sp>
        <p:nvSpPr>
          <p:cNvPr id="4" name="Slide Number Placeholder 3">
            <a:extLst>
              <a:ext uri="{FF2B5EF4-FFF2-40B4-BE49-F238E27FC236}">
                <a16:creationId xmlns:a16="http://schemas.microsoft.com/office/drawing/2014/main" id="{331416E3-2320-EB7D-02C3-17BA72158C03}"/>
              </a:ext>
            </a:extLst>
          </p:cNvPr>
          <p:cNvSpPr>
            <a:spLocks noGrp="1"/>
          </p:cNvSpPr>
          <p:nvPr>
            <p:ph type="sldNum" sz="quarter" idx="12"/>
          </p:nvPr>
        </p:nvSpPr>
        <p:spPr/>
        <p:txBody>
          <a:bodyPr/>
          <a:lstStyle/>
          <a:p>
            <a:fld id="{6E2D2B3B-882E-40F3-A32F-6DD516915044}" type="slidenum">
              <a:rPr lang="en-US" smtClean="0"/>
              <a:pPr/>
              <a:t>13</a:t>
            </a:fld>
            <a:endParaRPr lang="en-US"/>
          </a:p>
        </p:txBody>
      </p:sp>
      <p:pic>
        <p:nvPicPr>
          <p:cNvPr id="10" name="Picture 9">
            <a:extLst>
              <a:ext uri="{FF2B5EF4-FFF2-40B4-BE49-F238E27FC236}">
                <a16:creationId xmlns:a16="http://schemas.microsoft.com/office/drawing/2014/main" id="{B0A5B285-53A4-311D-8118-C62738871DEF}"/>
              </a:ext>
            </a:extLst>
          </p:cNvPr>
          <p:cNvPicPr>
            <a:picLocks noChangeAspect="1"/>
          </p:cNvPicPr>
          <p:nvPr/>
        </p:nvPicPr>
        <p:blipFill>
          <a:blip r:embed="rId3"/>
          <a:stretch>
            <a:fillRect/>
          </a:stretch>
        </p:blipFill>
        <p:spPr>
          <a:xfrm>
            <a:off x="0" y="2601533"/>
            <a:ext cx="9144000" cy="3612523"/>
          </a:xfrm>
          <a:prstGeom prst="rect">
            <a:avLst/>
          </a:prstGeom>
        </p:spPr>
      </p:pic>
    </p:spTree>
    <p:extLst>
      <p:ext uri="{BB962C8B-B14F-4D97-AF65-F5344CB8AC3E}">
        <p14:creationId xmlns:p14="http://schemas.microsoft.com/office/powerpoint/2010/main" val="2883182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F8528-66DD-C4FA-36CC-BA14046337AB}"/>
              </a:ext>
            </a:extLst>
          </p:cNvPr>
          <p:cNvSpPr>
            <a:spLocks noGrp="1"/>
          </p:cNvSpPr>
          <p:nvPr>
            <p:ph type="title"/>
          </p:nvPr>
        </p:nvSpPr>
        <p:spPr/>
        <p:txBody>
          <a:bodyPr/>
          <a:lstStyle/>
          <a:p>
            <a:r>
              <a:rPr lang="en-CA" dirty="0"/>
              <a:t>2. The SMART Check</a:t>
            </a:r>
          </a:p>
        </p:txBody>
      </p:sp>
      <p:pic>
        <p:nvPicPr>
          <p:cNvPr id="6" name="Content Placeholder 5">
            <a:extLst>
              <a:ext uri="{FF2B5EF4-FFF2-40B4-BE49-F238E27FC236}">
                <a16:creationId xmlns:a16="http://schemas.microsoft.com/office/drawing/2014/main" id="{995F77FA-6F8C-4D9E-804D-9D8FB51118D8}"/>
              </a:ext>
            </a:extLst>
          </p:cNvPr>
          <p:cNvPicPr>
            <a:picLocks noGrp="1" noChangeAspect="1"/>
          </p:cNvPicPr>
          <p:nvPr>
            <p:ph idx="1"/>
          </p:nvPr>
        </p:nvPicPr>
        <p:blipFill>
          <a:blip r:embed="rId2"/>
          <a:stretch>
            <a:fillRect/>
          </a:stretch>
        </p:blipFill>
        <p:spPr>
          <a:xfrm>
            <a:off x="1" y="1989786"/>
            <a:ext cx="9144000" cy="4172755"/>
          </a:xfrm>
        </p:spPr>
      </p:pic>
      <p:sp>
        <p:nvSpPr>
          <p:cNvPr id="4" name="Slide Number Placeholder 3">
            <a:extLst>
              <a:ext uri="{FF2B5EF4-FFF2-40B4-BE49-F238E27FC236}">
                <a16:creationId xmlns:a16="http://schemas.microsoft.com/office/drawing/2014/main" id="{66ED6B9B-7585-6CFF-BF8C-49767E74708D}"/>
              </a:ext>
            </a:extLst>
          </p:cNvPr>
          <p:cNvSpPr>
            <a:spLocks noGrp="1"/>
          </p:cNvSpPr>
          <p:nvPr>
            <p:ph type="sldNum" sz="quarter" idx="12"/>
          </p:nvPr>
        </p:nvSpPr>
        <p:spPr/>
        <p:txBody>
          <a:bodyPr/>
          <a:lstStyle/>
          <a:p>
            <a:fld id="{6E2D2B3B-882E-40F3-A32F-6DD516915044}" type="slidenum">
              <a:rPr lang="en-US" smtClean="0"/>
              <a:pPr/>
              <a:t>14</a:t>
            </a:fld>
            <a:endParaRPr lang="en-US"/>
          </a:p>
        </p:txBody>
      </p:sp>
    </p:spTree>
    <p:extLst>
      <p:ext uri="{BB962C8B-B14F-4D97-AF65-F5344CB8AC3E}">
        <p14:creationId xmlns:p14="http://schemas.microsoft.com/office/powerpoint/2010/main" val="8726312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4B572-91D6-2874-474F-EB204536F568}"/>
              </a:ext>
            </a:extLst>
          </p:cNvPr>
          <p:cNvSpPr>
            <a:spLocks noGrp="1"/>
          </p:cNvSpPr>
          <p:nvPr>
            <p:ph type="title"/>
          </p:nvPr>
        </p:nvSpPr>
        <p:spPr/>
        <p:txBody>
          <a:bodyPr/>
          <a:lstStyle/>
          <a:p>
            <a:r>
              <a:rPr lang="en-CA" dirty="0"/>
              <a:t>3. The CRAAP Test</a:t>
            </a:r>
          </a:p>
        </p:txBody>
      </p:sp>
      <p:pic>
        <p:nvPicPr>
          <p:cNvPr id="6" name="Content Placeholder 5">
            <a:extLst>
              <a:ext uri="{FF2B5EF4-FFF2-40B4-BE49-F238E27FC236}">
                <a16:creationId xmlns:a16="http://schemas.microsoft.com/office/drawing/2014/main" id="{02BAD1C2-6A42-3C67-06BE-BD0E87850586}"/>
              </a:ext>
            </a:extLst>
          </p:cNvPr>
          <p:cNvPicPr>
            <a:picLocks noGrp="1" noChangeAspect="1"/>
          </p:cNvPicPr>
          <p:nvPr>
            <p:ph idx="1"/>
          </p:nvPr>
        </p:nvPicPr>
        <p:blipFill>
          <a:blip r:embed="rId2"/>
          <a:stretch>
            <a:fillRect/>
          </a:stretch>
        </p:blipFill>
        <p:spPr>
          <a:xfrm>
            <a:off x="0" y="1918952"/>
            <a:ext cx="9144000" cy="3580327"/>
          </a:xfrm>
        </p:spPr>
      </p:pic>
      <p:sp>
        <p:nvSpPr>
          <p:cNvPr id="4" name="Slide Number Placeholder 3">
            <a:extLst>
              <a:ext uri="{FF2B5EF4-FFF2-40B4-BE49-F238E27FC236}">
                <a16:creationId xmlns:a16="http://schemas.microsoft.com/office/drawing/2014/main" id="{AA1CB0B9-B1B7-9FC8-CC15-08B29961E546}"/>
              </a:ext>
            </a:extLst>
          </p:cNvPr>
          <p:cNvSpPr>
            <a:spLocks noGrp="1"/>
          </p:cNvSpPr>
          <p:nvPr>
            <p:ph type="sldNum" sz="quarter" idx="12"/>
          </p:nvPr>
        </p:nvSpPr>
        <p:spPr/>
        <p:txBody>
          <a:bodyPr/>
          <a:lstStyle/>
          <a:p>
            <a:fld id="{6E2D2B3B-882E-40F3-A32F-6DD516915044}" type="slidenum">
              <a:rPr lang="en-US" smtClean="0"/>
              <a:pPr/>
              <a:t>15</a:t>
            </a:fld>
            <a:endParaRPr lang="en-US"/>
          </a:p>
        </p:txBody>
      </p:sp>
    </p:spTree>
    <p:extLst>
      <p:ext uri="{BB962C8B-B14F-4D97-AF65-F5344CB8AC3E}">
        <p14:creationId xmlns:p14="http://schemas.microsoft.com/office/powerpoint/2010/main" val="563328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574B4-977D-545F-1079-69AEF55B2C08}"/>
              </a:ext>
            </a:extLst>
          </p:cNvPr>
          <p:cNvSpPr>
            <a:spLocks noGrp="1"/>
          </p:cNvSpPr>
          <p:nvPr>
            <p:ph type="title"/>
          </p:nvPr>
        </p:nvSpPr>
        <p:spPr>
          <a:xfrm>
            <a:off x="173865" y="511110"/>
            <a:ext cx="8255357" cy="1143000"/>
          </a:xfrm>
        </p:spPr>
        <p:txBody>
          <a:bodyPr/>
          <a:lstStyle/>
          <a:p>
            <a:r>
              <a:rPr lang="en-CA" dirty="0"/>
              <a:t>Citing Sources</a:t>
            </a:r>
            <a:br>
              <a:rPr lang="en-CA" dirty="0"/>
            </a:br>
            <a:r>
              <a:rPr lang="en-CA" sz="2000" dirty="0"/>
              <a:t>adapted from </a:t>
            </a:r>
            <a:r>
              <a:rPr lang="en-CA" sz="2000" dirty="0">
                <a:hlinkClick r:id="rId2"/>
              </a:rPr>
              <a:t>https://pitt.libguides.com/citationhelp</a:t>
            </a:r>
            <a:br>
              <a:rPr lang="en-CA" sz="2000" dirty="0"/>
            </a:br>
            <a:r>
              <a:rPr lang="en-CA" sz="2000" dirty="0"/>
              <a:t>and </a:t>
            </a:r>
            <a:r>
              <a:rPr lang="en-CA" sz="2000" dirty="0">
                <a:hlinkClick r:id="rId3"/>
              </a:rPr>
              <a:t>https://guides.lib.uw.edu/research/citations/citationwhich</a:t>
            </a:r>
            <a:br>
              <a:rPr lang="en-CA" sz="2000" dirty="0"/>
            </a:br>
            <a:br>
              <a:rPr lang="en-CA" sz="2000" dirty="0"/>
            </a:br>
            <a:endParaRPr lang="en-CA" sz="2000" dirty="0"/>
          </a:p>
        </p:txBody>
      </p:sp>
      <p:pic>
        <p:nvPicPr>
          <p:cNvPr id="6" name="Content Placeholder 5">
            <a:extLst>
              <a:ext uri="{FF2B5EF4-FFF2-40B4-BE49-F238E27FC236}">
                <a16:creationId xmlns:a16="http://schemas.microsoft.com/office/drawing/2014/main" id="{D50EDFC0-8DD7-6C74-014D-135DC86C5B85}"/>
              </a:ext>
            </a:extLst>
          </p:cNvPr>
          <p:cNvPicPr>
            <a:picLocks noGrp="1" noChangeAspect="1"/>
          </p:cNvPicPr>
          <p:nvPr>
            <p:ph idx="1"/>
          </p:nvPr>
        </p:nvPicPr>
        <p:blipFill>
          <a:blip r:embed="rId4"/>
          <a:stretch>
            <a:fillRect/>
          </a:stretch>
        </p:blipFill>
        <p:spPr>
          <a:xfrm>
            <a:off x="0" y="1815922"/>
            <a:ext cx="9143999" cy="4063284"/>
          </a:xfrm>
        </p:spPr>
      </p:pic>
      <p:sp>
        <p:nvSpPr>
          <p:cNvPr id="4" name="Slide Number Placeholder 3">
            <a:extLst>
              <a:ext uri="{FF2B5EF4-FFF2-40B4-BE49-F238E27FC236}">
                <a16:creationId xmlns:a16="http://schemas.microsoft.com/office/drawing/2014/main" id="{B9EF7967-B40E-A17D-83E8-04F5BC93159A}"/>
              </a:ext>
            </a:extLst>
          </p:cNvPr>
          <p:cNvSpPr>
            <a:spLocks noGrp="1"/>
          </p:cNvSpPr>
          <p:nvPr>
            <p:ph type="sldNum" sz="quarter" idx="12"/>
          </p:nvPr>
        </p:nvSpPr>
        <p:spPr/>
        <p:txBody>
          <a:bodyPr/>
          <a:lstStyle/>
          <a:p>
            <a:fld id="{6E2D2B3B-882E-40F3-A32F-6DD516915044}" type="slidenum">
              <a:rPr lang="en-US" smtClean="0"/>
              <a:pPr/>
              <a:t>16</a:t>
            </a:fld>
            <a:endParaRPr lang="en-US"/>
          </a:p>
        </p:txBody>
      </p:sp>
    </p:spTree>
    <p:extLst>
      <p:ext uri="{BB962C8B-B14F-4D97-AF65-F5344CB8AC3E}">
        <p14:creationId xmlns:p14="http://schemas.microsoft.com/office/powerpoint/2010/main" val="2186118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D25C-545D-116E-4F16-ED67B6E399EC}"/>
              </a:ext>
            </a:extLst>
          </p:cNvPr>
          <p:cNvSpPr>
            <a:spLocks noGrp="1"/>
          </p:cNvSpPr>
          <p:nvPr>
            <p:ph type="title"/>
          </p:nvPr>
        </p:nvSpPr>
        <p:spPr>
          <a:xfrm>
            <a:off x="341290" y="29939"/>
            <a:ext cx="7735910" cy="525232"/>
          </a:xfrm>
        </p:spPr>
        <p:txBody>
          <a:bodyPr/>
          <a:lstStyle/>
          <a:p>
            <a:r>
              <a:rPr lang="fr-CA" dirty="0" err="1"/>
              <a:t>Lab</a:t>
            </a:r>
            <a:r>
              <a:rPr lang="fr-CA" dirty="0"/>
              <a:t> </a:t>
            </a:r>
            <a:endParaRPr lang="en-CA" dirty="0"/>
          </a:p>
        </p:txBody>
      </p:sp>
      <p:sp>
        <p:nvSpPr>
          <p:cNvPr id="3" name="Content Placeholder 2">
            <a:extLst>
              <a:ext uri="{FF2B5EF4-FFF2-40B4-BE49-F238E27FC236}">
                <a16:creationId xmlns:a16="http://schemas.microsoft.com/office/drawing/2014/main" id="{E0F99BEE-7D19-6C2C-C40B-D314E83A6763}"/>
              </a:ext>
            </a:extLst>
          </p:cNvPr>
          <p:cNvSpPr>
            <a:spLocks noGrp="1"/>
          </p:cNvSpPr>
          <p:nvPr>
            <p:ph idx="1"/>
          </p:nvPr>
        </p:nvSpPr>
        <p:spPr>
          <a:xfrm>
            <a:off x="63572" y="859971"/>
            <a:ext cx="8468215" cy="5968090"/>
          </a:xfrm>
        </p:spPr>
        <p:txBody>
          <a:bodyPr>
            <a:normAutofit fontScale="92500" lnSpcReduction="20000"/>
          </a:bodyPr>
          <a:lstStyle/>
          <a:p>
            <a:r>
              <a:rPr lang="en-US" sz="2500" dirty="0"/>
              <a:t>Begin Task I: Field-specific audio/video research </a:t>
            </a:r>
          </a:p>
          <a:p>
            <a:pPr marL="114300" indent="0">
              <a:buNone/>
            </a:pPr>
            <a:r>
              <a:rPr lang="en-US" sz="2500" dirty="0"/>
              <a:t>    This task counts towards Summative Evaluation 1 Listening 10%. </a:t>
            </a:r>
          </a:p>
          <a:p>
            <a:r>
              <a:rPr lang="en-CA" sz="2500" dirty="0">
                <a:solidFill>
                  <a:srgbClr val="FF0000"/>
                </a:solidFill>
              </a:rPr>
              <a:t>Due time</a:t>
            </a:r>
            <a:r>
              <a:rPr lang="en-CA" sz="2500" dirty="0"/>
              <a:t>: at the end of the lab period in Week 5. </a:t>
            </a:r>
          </a:p>
          <a:p>
            <a:r>
              <a:rPr lang="en-US" sz="2500" dirty="0"/>
              <a:t>Instructions: Individually, research an audio/video clip </a:t>
            </a:r>
          </a:p>
          <a:p>
            <a:pPr marL="114300" indent="0">
              <a:buNone/>
            </a:pPr>
            <a:r>
              <a:rPr lang="en-US" sz="2500" dirty="0"/>
              <a:t>                           approximately </a:t>
            </a:r>
            <a:r>
              <a:rPr lang="en-US" sz="2500" dirty="0">
                <a:solidFill>
                  <a:srgbClr val="FF0000"/>
                </a:solidFill>
              </a:rPr>
              <a:t>three minutes </a:t>
            </a:r>
            <a:r>
              <a:rPr lang="en-US" sz="2500" dirty="0"/>
              <a:t>long that highlights the </a:t>
            </a:r>
          </a:p>
          <a:p>
            <a:pPr marL="114300" indent="0">
              <a:buNone/>
            </a:pPr>
            <a:r>
              <a:rPr lang="en-US" sz="2500" dirty="0"/>
              <a:t>                            characteristics of your field.</a:t>
            </a:r>
          </a:p>
          <a:p>
            <a:r>
              <a:rPr lang="en-US" sz="2500" dirty="0"/>
              <a:t>Evaluation Criteria (10 points): </a:t>
            </a:r>
          </a:p>
          <a:p>
            <a:pPr lvl="1"/>
            <a:r>
              <a:rPr lang="en-US" sz="2500" dirty="0"/>
              <a:t>An audio</a:t>
            </a:r>
            <a:r>
              <a:rPr lang="en-CA" sz="2500" dirty="0"/>
              <a:t>/</a:t>
            </a:r>
            <a:r>
              <a:rPr lang="fr-CA" sz="2500" dirty="0" err="1"/>
              <a:t>video</a:t>
            </a:r>
            <a:r>
              <a:rPr lang="fr-CA" sz="2500" dirty="0"/>
              <a:t> clip of </a:t>
            </a:r>
            <a:r>
              <a:rPr lang="fr-CA" sz="2500" dirty="0" err="1"/>
              <a:t>approximately</a:t>
            </a:r>
            <a:r>
              <a:rPr lang="fr-CA" sz="2500" dirty="0"/>
              <a:t> </a:t>
            </a:r>
            <a:r>
              <a:rPr lang="fr-CA" sz="2500" dirty="0" err="1">
                <a:solidFill>
                  <a:srgbClr val="FF0000"/>
                </a:solidFill>
              </a:rPr>
              <a:t>three</a:t>
            </a:r>
            <a:r>
              <a:rPr lang="fr-CA" sz="2500" dirty="0">
                <a:solidFill>
                  <a:srgbClr val="FF0000"/>
                </a:solidFill>
              </a:rPr>
              <a:t> minutes </a:t>
            </a:r>
            <a:r>
              <a:rPr lang="fr-CA" sz="2500" dirty="0" err="1"/>
              <a:t>that</a:t>
            </a:r>
            <a:r>
              <a:rPr lang="fr-CA" sz="2500" dirty="0"/>
              <a:t> highlights the </a:t>
            </a:r>
            <a:r>
              <a:rPr lang="fr-CA" sz="2500" dirty="0" err="1"/>
              <a:t>characteristics</a:t>
            </a:r>
            <a:r>
              <a:rPr lang="fr-CA" sz="2500" dirty="0"/>
              <a:t> of a certain </a:t>
            </a:r>
            <a:r>
              <a:rPr lang="fr-CA" sz="2500" dirty="0" err="1"/>
              <a:t>field</a:t>
            </a:r>
            <a:r>
              <a:rPr lang="fr-CA" sz="2500" dirty="0"/>
              <a:t>  (3 points)</a:t>
            </a:r>
          </a:p>
          <a:p>
            <a:pPr lvl="1"/>
            <a:r>
              <a:rPr lang="fr-CA" sz="2500" dirty="0" err="1"/>
              <a:t>from</a:t>
            </a:r>
            <a:r>
              <a:rPr lang="fr-CA" sz="2500" dirty="0"/>
              <a:t> a reliable</a:t>
            </a:r>
            <a:r>
              <a:rPr lang="en-CA" sz="2500" dirty="0"/>
              <a:t>/credible </a:t>
            </a:r>
            <a:r>
              <a:rPr lang="fr-CA" sz="2500" dirty="0"/>
              <a:t>source  (2 points)</a:t>
            </a:r>
          </a:p>
          <a:p>
            <a:pPr lvl="1"/>
            <a:r>
              <a:rPr lang="fr-CA" sz="2500" dirty="0" err="1"/>
              <a:t>Identify</a:t>
            </a:r>
            <a:r>
              <a:rPr lang="fr-CA" sz="2500" dirty="0"/>
              <a:t> </a:t>
            </a:r>
            <a:r>
              <a:rPr lang="fr-CA" sz="2500" dirty="0" err="1"/>
              <a:t>three</a:t>
            </a:r>
            <a:r>
              <a:rPr lang="fr-CA" sz="2500" dirty="0"/>
              <a:t> </a:t>
            </a:r>
            <a:r>
              <a:rPr lang="fr-CA" sz="2500" dirty="0" err="1"/>
              <a:t>level-appropriate</a:t>
            </a:r>
            <a:r>
              <a:rPr lang="fr-CA" sz="2500" dirty="0"/>
              <a:t> </a:t>
            </a:r>
            <a:r>
              <a:rPr lang="fr-CA" sz="2500" dirty="0" err="1"/>
              <a:t>field-related</a:t>
            </a:r>
            <a:r>
              <a:rPr lang="fr-CA" sz="2500" dirty="0"/>
              <a:t> </a:t>
            </a:r>
            <a:r>
              <a:rPr lang="fr-CA" sz="2500" dirty="0" err="1"/>
              <a:t>terms</a:t>
            </a:r>
            <a:r>
              <a:rPr lang="en-CA" sz="2500" dirty="0"/>
              <a:t>/expressions and write their definitions (3 points): </a:t>
            </a:r>
            <a:r>
              <a:rPr lang="en-CA" sz="2500" dirty="0">
                <a:solidFill>
                  <a:srgbClr val="FF0000"/>
                </a:solidFill>
              </a:rPr>
              <a:t>word frequency levels 1-3 OR B2 </a:t>
            </a:r>
            <a:r>
              <a:rPr lang="en-CA" sz="2500" dirty="0"/>
              <a:t>according to </a:t>
            </a:r>
            <a:r>
              <a:rPr lang="en-CA" sz="2500" dirty="0">
                <a:hlinkClick r:id="rId2"/>
              </a:rPr>
              <a:t>https://www.collinsdictionary.com/dictionary/english</a:t>
            </a:r>
            <a:endParaRPr lang="en-CA" sz="2500" dirty="0"/>
          </a:p>
          <a:p>
            <a:pPr lvl="1"/>
            <a:r>
              <a:rPr lang="en-CA" sz="2500" dirty="0"/>
              <a:t>Use a couple of sentences to write about the main ideas. (2 points)</a:t>
            </a:r>
          </a:p>
          <a:p>
            <a:r>
              <a:rPr lang="en-CA" sz="2500" dirty="0"/>
              <a:t>See the model on the next page. </a:t>
            </a:r>
            <a:endParaRPr lang="fr-CA" sz="2500" dirty="0"/>
          </a:p>
          <a:p>
            <a:pPr lvl="1"/>
            <a:endParaRPr lang="en-US" dirty="0"/>
          </a:p>
          <a:p>
            <a:endParaRPr lang="en-CA" dirty="0"/>
          </a:p>
        </p:txBody>
      </p:sp>
      <p:sp>
        <p:nvSpPr>
          <p:cNvPr id="4" name="Slide Number Placeholder 3">
            <a:extLst>
              <a:ext uri="{FF2B5EF4-FFF2-40B4-BE49-F238E27FC236}">
                <a16:creationId xmlns:a16="http://schemas.microsoft.com/office/drawing/2014/main" id="{0EE8B123-8A8B-2C95-95CB-1A0D900F2C04}"/>
              </a:ext>
            </a:extLst>
          </p:cNvPr>
          <p:cNvSpPr>
            <a:spLocks noGrp="1"/>
          </p:cNvSpPr>
          <p:nvPr>
            <p:ph type="sldNum" sz="quarter" idx="12"/>
          </p:nvPr>
        </p:nvSpPr>
        <p:spPr/>
        <p:txBody>
          <a:bodyPr/>
          <a:lstStyle/>
          <a:p>
            <a:fld id="{6E2D2B3B-882E-40F3-A32F-6DD516915044}" type="slidenum">
              <a:rPr lang="en-US" smtClean="0"/>
              <a:pPr/>
              <a:t>17</a:t>
            </a:fld>
            <a:endParaRPr lang="en-US"/>
          </a:p>
        </p:txBody>
      </p:sp>
    </p:spTree>
    <p:extLst>
      <p:ext uri="{BB962C8B-B14F-4D97-AF65-F5344CB8AC3E}">
        <p14:creationId xmlns:p14="http://schemas.microsoft.com/office/powerpoint/2010/main" val="1506305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FF52-091C-80DA-892C-B311C1F5C126}"/>
              </a:ext>
            </a:extLst>
          </p:cNvPr>
          <p:cNvSpPr>
            <a:spLocks noGrp="1"/>
          </p:cNvSpPr>
          <p:nvPr>
            <p:ph type="title"/>
          </p:nvPr>
        </p:nvSpPr>
        <p:spPr>
          <a:xfrm>
            <a:off x="-1" y="0"/>
            <a:ext cx="8422783" cy="566057"/>
          </a:xfrm>
        </p:spPr>
        <p:txBody>
          <a:bodyPr/>
          <a:lstStyle/>
          <a:p>
            <a:r>
              <a:rPr lang="en-CA" sz="2800" dirty="0"/>
              <a:t>Word Document </a:t>
            </a:r>
          </a:p>
        </p:txBody>
      </p:sp>
      <p:sp>
        <p:nvSpPr>
          <p:cNvPr id="3" name="Content Placeholder 2">
            <a:extLst>
              <a:ext uri="{FF2B5EF4-FFF2-40B4-BE49-F238E27FC236}">
                <a16:creationId xmlns:a16="http://schemas.microsoft.com/office/drawing/2014/main" id="{B8D08C63-DEAC-ABA9-8F1A-C326076CB29D}"/>
              </a:ext>
            </a:extLst>
          </p:cNvPr>
          <p:cNvSpPr>
            <a:spLocks noGrp="1"/>
          </p:cNvSpPr>
          <p:nvPr>
            <p:ph idx="1"/>
          </p:nvPr>
        </p:nvSpPr>
        <p:spPr>
          <a:xfrm>
            <a:off x="0" y="772886"/>
            <a:ext cx="8422782" cy="6085114"/>
          </a:xfrm>
        </p:spPr>
        <p:txBody>
          <a:bodyPr>
            <a:normAutofit fontScale="85000" lnSpcReduction="20000"/>
          </a:bodyPr>
          <a:lstStyle/>
          <a:p>
            <a:pPr marL="571500" indent="-457200">
              <a:buFont typeface="+mj-lt"/>
              <a:buAutoNum type="arabicPeriod"/>
            </a:pPr>
            <a:r>
              <a:rPr lang="en-CA" sz="2300" dirty="0"/>
              <a:t>Field of study (1 point): English language </a:t>
            </a:r>
          </a:p>
          <a:p>
            <a:pPr marL="571500" indent="-457200">
              <a:buFont typeface="+mj-lt"/>
              <a:buAutoNum type="arabicPeriod"/>
            </a:pPr>
            <a:r>
              <a:rPr lang="en-CA" sz="2300" dirty="0"/>
              <a:t>Length of the clip (1 point): 3:21</a:t>
            </a:r>
          </a:p>
          <a:p>
            <a:pPr marL="571500" indent="-457200">
              <a:buFont typeface="+mj-lt"/>
              <a:buAutoNum type="arabicPeriod"/>
            </a:pPr>
            <a:r>
              <a:rPr lang="fr-CA" sz="2300" dirty="0"/>
              <a:t>Link to the audio</a:t>
            </a:r>
            <a:r>
              <a:rPr lang="en-CA" sz="2300" dirty="0"/>
              <a:t>/video clip (1point): </a:t>
            </a:r>
            <a:r>
              <a:rPr lang="en-CA" sz="2300" dirty="0">
                <a:hlinkClick r:id="rId2"/>
              </a:rPr>
              <a:t>https://www.ted.com/talks/emma_bryce_how_to_use_a_semicolon?language=en</a:t>
            </a:r>
            <a:endParaRPr lang="en-CA" sz="2300" dirty="0"/>
          </a:p>
          <a:p>
            <a:pPr marL="571500" indent="-457200">
              <a:buFont typeface="+mj-lt"/>
              <a:buAutoNum type="arabicPeriod"/>
            </a:pPr>
            <a:r>
              <a:rPr lang="en-CA" sz="2300" dirty="0"/>
              <a:t>Justification of the reliable source (2 points): This video was made by Emma Bryce who </a:t>
            </a:r>
            <a:r>
              <a:rPr lang="en-US" sz="2300" dirty="0"/>
              <a:t>is a UK-based journalist. Her work has appeared in publications including The Guardian, WIRED Magazine UK, Audubon, Yale e360, The Atlantic, and Live Science. She works as a writer and editor of animated video scripts for TED Education. Emma has a masters degree in science, health and environmental reporting from New York University. </a:t>
            </a:r>
            <a:endParaRPr lang="en-CA" sz="2300" dirty="0"/>
          </a:p>
          <a:p>
            <a:pPr marL="571500" indent="-457200">
              <a:buFont typeface="+mj-lt"/>
              <a:buAutoNum type="arabicPeriod"/>
            </a:pPr>
            <a:r>
              <a:rPr lang="en-CA" sz="2300" dirty="0"/>
              <a:t>Level-appropriate Field-related Vocabulary (3 points)</a:t>
            </a:r>
          </a:p>
          <a:p>
            <a:pPr marL="411480" lvl="1" indent="0">
              <a:buNone/>
            </a:pPr>
            <a:r>
              <a:rPr lang="en-CA" sz="2300" dirty="0"/>
              <a:t>    (1) </a:t>
            </a:r>
            <a:r>
              <a:rPr lang="en-CA" sz="2300" dirty="0">
                <a:solidFill>
                  <a:srgbClr val="FF0000"/>
                </a:solidFill>
              </a:rPr>
              <a:t>level 2</a:t>
            </a:r>
            <a:r>
              <a:rPr lang="en-US" sz="2300" dirty="0">
                <a:solidFill>
                  <a:srgbClr val="FF0000"/>
                </a:solidFill>
              </a:rPr>
              <a:t> </a:t>
            </a:r>
            <a:r>
              <a:rPr lang="en-US" sz="2300" dirty="0">
                <a:solidFill>
                  <a:schemeClr val="accent6"/>
                </a:solidFill>
              </a:rPr>
              <a:t>semicolon: </a:t>
            </a:r>
            <a:r>
              <a:rPr lang="en-US" sz="2300" dirty="0"/>
              <a:t>it is a punctuation mark that is used in writing </a:t>
            </a:r>
          </a:p>
          <a:p>
            <a:pPr marL="411480" lvl="1" indent="0">
              <a:buNone/>
            </a:pPr>
            <a:r>
              <a:rPr lang="en-US" sz="2300" dirty="0"/>
              <a:t>                                           to separate different parts of a sentence or list.</a:t>
            </a:r>
            <a:endParaRPr lang="en-CA" sz="2300" dirty="0"/>
          </a:p>
          <a:p>
            <a:pPr marL="411480" lvl="1" indent="0">
              <a:buNone/>
            </a:pPr>
            <a:r>
              <a:rPr lang="en-CA" sz="2300" dirty="0"/>
              <a:t>    (2) </a:t>
            </a:r>
            <a:r>
              <a:rPr lang="en-CA" sz="2300" dirty="0">
                <a:solidFill>
                  <a:srgbClr val="FF0000"/>
                </a:solidFill>
              </a:rPr>
              <a:t>level 3 </a:t>
            </a:r>
            <a:r>
              <a:rPr lang="en-CA" sz="2300" dirty="0">
                <a:solidFill>
                  <a:schemeClr val="accent6"/>
                </a:solidFill>
              </a:rPr>
              <a:t>clause: </a:t>
            </a:r>
            <a:r>
              <a:rPr lang="en-CA" sz="2300" dirty="0"/>
              <a:t>it </a:t>
            </a:r>
            <a:r>
              <a:rPr lang="en-US" sz="2300" dirty="0"/>
              <a:t>is a group of words containing a verb. A sentence  </a:t>
            </a:r>
          </a:p>
          <a:p>
            <a:pPr marL="411480" lvl="1" indent="0">
              <a:buNone/>
            </a:pPr>
            <a:r>
              <a:rPr lang="en-US" sz="2300" dirty="0"/>
              <a:t>                                    could  contain one or more clauses.</a:t>
            </a:r>
            <a:endParaRPr lang="en-CA" sz="2300" dirty="0"/>
          </a:p>
          <a:p>
            <a:pPr marL="411480" lvl="1" indent="0">
              <a:buNone/>
            </a:pPr>
            <a:r>
              <a:rPr lang="en-CA" sz="2300" dirty="0"/>
              <a:t>    (3)</a:t>
            </a:r>
            <a:r>
              <a:rPr lang="en-CA" sz="2300" dirty="0">
                <a:solidFill>
                  <a:srgbClr val="FF0000"/>
                </a:solidFill>
              </a:rPr>
              <a:t>B2</a:t>
            </a:r>
            <a:r>
              <a:rPr lang="en-CA" sz="2300" dirty="0"/>
              <a:t> </a:t>
            </a:r>
            <a:r>
              <a:rPr lang="en-US" sz="2300" dirty="0">
                <a:solidFill>
                  <a:schemeClr val="accent6"/>
                </a:solidFill>
              </a:rPr>
              <a:t>conjunction: </a:t>
            </a:r>
            <a:r>
              <a:rPr lang="en-US" sz="2300" dirty="0"/>
              <a:t>it is a word or group of words that joins words or </a:t>
            </a:r>
          </a:p>
          <a:p>
            <a:pPr marL="411480" lvl="1" indent="0">
              <a:buNone/>
            </a:pPr>
            <a:r>
              <a:rPr lang="en-US" sz="2300" dirty="0"/>
              <a:t>                                      clauses.</a:t>
            </a:r>
            <a:endParaRPr lang="en-CA" sz="2300" dirty="0"/>
          </a:p>
          <a:p>
            <a:pPr marL="571500" indent="-457200">
              <a:buFont typeface="+mj-lt"/>
              <a:buAutoNum type="arabicPeriod"/>
            </a:pPr>
            <a:r>
              <a:rPr lang="en-CA" sz="2300" dirty="0"/>
              <a:t>Main ideas (2 points): This short video explains the main functions of a semicolon and how to use it to improve writing. </a:t>
            </a:r>
          </a:p>
          <a:p>
            <a:pPr marL="571500" indent="-457200">
              <a:buFont typeface="+mj-lt"/>
              <a:buAutoNum type="arabicPeriod"/>
            </a:pPr>
            <a:endParaRPr lang="en-CA" dirty="0"/>
          </a:p>
        </p:txBody>
      </p:sp>
      <p:sp>
        <p:nvSpPr>
          <p:cNvPr id="4" name="Slide Number Placeholder 3">
            <a:extLst>
              <a:ext uri="{FF2B5EF4-FFF2-40B4-BE49-F238E27FC236}">
                <a16:creationId xmlns:a16="http://schemas.microsoft.com/office/drawing/2014/main" id="{E1355A25-551B-9F61-CFD4-FBD9E5C4924C}"/>
              </a:ext>
            </a:extLst>
          </p:cNvPr>
          <p:cNvSpPr>
            <a:spLocks noGrp="1"/>
          </p:cNvSpPr>
          <p:nvPr>
            <p:ph type="sldNum" sz="quarter" idx="12"/>
          </p:nvPr>
        </p:nvSpPr>
        <p:spPr/>
        <p:txBody>
          <a:bodyPr/>
          <a:lstStyle/>
          <a:p>
            <a:fld id="{6E2D2B3B-882E-40F3-A32F-6DD516915044}" type="slidenum">
              <a:rPr lang="en-US" smtClean="0"/>
              <a:pPr/>
              <a:t>18</a:t>
            </a:fld>
            <a:endParaRPr lang="en-US"/>
          </a:p>
        </p:txBody>
      </p:sp>
    </p:spTree>
    <p:extLst>
      <p:ext uri="{BB962C8B-B14F-4D97-AF65-F5344CB8AC3E}">
        <p14:creationId xmlns:p14="http://schemas.microsoft.com/office/powerpoint/2010/main" val="16161475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Bibliography </a:t>
            </a:r>
          </a:p>
        </p:txBody>
      </p:sp>
      <p:sp>
        <p:nvSpPr>
          <p:cNvPr id="3" name="Content Placeholder 2"/>
          <p:cNvSpPr>
            <a:spLocks noGrp="1"/>
          </p:cNvSpPr>
          <p:nvPr>
            <p:ph idx="1"/>
          </p:nvPr>
        </p:nvSpPr>
        <p:spPr/>
        <p:txBody>
          <a:bodyPr/>
          <a:lstStyle/>
          <a:p>
            <a:pPr marL="571500" indent="-457200">
              <a:buAutoNum type="arabicPeriod"/>
            </a:pPr>
            <a:r>
              <a:rPr lang="en-CA" dirty="0"/>
              <a:t>Insight by Jane </a:t>
            </a:r>
            <a:r>
              <a:rPr lang="en-CA" dirty="0" err="1"/>
              <a:t>Petring</a:t>
            </a:r>
            <a:endParaRPr lang="en-CA" dirty="0"/>
          </a:p>
          <a:p>
            <a:pPr marL="571500" indent="-457200">
              <a:buAutoNum type="arabicPeriod"/>
            </a:pPr>
            <a:r>
              <a:rPr lang="en-CA" dirty="0"/>
              <a:t>Fields of Opportunity by Caroline Orton</a:t>
            </a:r>
          </a:p>
          <a:p>
            <a:pPr marL="571500" indent="-457200">
              <a:buAutoNum type="arabicPeriod"/>
            </a:pPr>
            <a:r>
              <a:rPr lang="en-CA" dirty="0"/>
              <a:t>Goals by Lynne </a:t>
            </a:r>
            <a:r>
              <a:rPr lang="en-CA" dirty="0" err="1"/>
              <a:t>Gaetz</a:t>
            </a:r>
            <a:endParaRPr lang="en-CA" dirty="0"/>
          </a:p>
          <a:p>
            <a:pPr marL="571500" indent="-457200">
              <a:buAutoNum type="arabicPeriod"/>
            </a:pPr>
            <a:r>
              <a:rPr lang="en-CA" dirty="0"/>
              <a:t>Avenues series by Lynne </a:t>
            </a:r>
            <a:r>
              <a:rPr lang="en-CA" dirty="0" err="1"/>
              <a:t>Gaetz</a:t>
            </a:r>
            <a:r>
              <a:rPr lang="en-CA" dirty="0"/>
              <a:t> </a:t>
            </a:r>
          </a:p>
          <a:p>
            <a:pPr marL="571500" indent="-457200">
              <a:buAutoNum type="arabicPeriod"/>
            </a:pPr>
            <a:r>
              <a:rPr lang="en-CA" dirty="0"/>
              <a:t>Collins Online English Dictionary </a:t>
            </a:r>
          </a:p>
          <a:p>
            <a:endParaRPr lang="en-CA" dirty="0"/>
          </a:p>
          <a:p>
            <a:endParaRPr lang="en-CA" dirty="0"/>
          </a:p>
        </p:txBody>
      </p:sp>
    </p:spTree>
    <p:extLst>
      <p:ext uri="{BB962C8B-B14F-4D97-AF65-F5344CB8AC3E}">
        <p14:creationId xmlns:p14="http://schemas.microsoft.com/office/powerpoint/2010/main" val="21347780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Genesis">
      <a:dk1>
        <a:sysClr val="windowText" lastClr="000000"/>
      </a:dk1>
      <a:lt1>
        <a:sysClr val="window" lastClr="FFFFFF"/>
      </a:lt1>
      <a:dk2>
        <a:srgbClr val="465466"/>
      </a:dk2>
      <a:lt2>
        <a:srgbClr val="BBD7F8"/>
      </a:lt2>
      <a:accent1>
        <a:srgbClr val="80B606"/>
      </a:accent1>
      <a:accent2>
        <a:srgbClr val="E29F1D"/>
      </a:accent2>
      <a:accent3>
        <a:srgbClr val="2397E2"/>
      </a:accent3>
      <a:accent4>
        <a:srgbClr val="35ACA2"/>
      </a:accent4>
      <a:accent5>
        <a:srgbClr val="5430BB"/>
      </a:accent5>
      <a:accent6>
        <a:srgbClr val="8D34E0"/>
      </a:accent6>
      <a:hlink>
        <a:srgbClr val="00B0F0"/>
      </a:hlink>
      <a:folHlink>
        <a:srgbClr val="0070C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Adjacency.thmx</Template>
  <TotalTime>1282</TotalTime>
  <Words>1011</Words>
  <Application>Microsoft Office PowerPoint</Application>
  <PresentationFormat>On-screen Show (4:3)</PresentationFormat>
  <Paragraphs>154</Paragraphs>
  <Slides>19</Slides>
  <Notes>1</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Cambria</vt:lpstr>
      <vt:lpstr>Times New Roman</vt:lpstr>
      <vt:lpstr>Adjacency</vt:lpstr>
      <vt:lpstr>604-220  Week 4</vt:lpstr>
      <vt:lpstr>/t/, /d/, or /id/</vt:lpstr>
      <vt:lpstr>  https://www.youtube.com/watch?v=Yb8X7qAByJg </vt:lpstr>
      <vt:lpstr>Where is the stress?</vt:lpstr>
      <vt:lpstr>Listen and identify the word stress     </vt:lpstr>
      <vt:lpstr>Grammar Review: Future Tenses</vt:lpstr>
      <vt:lpstr>Simple Future Tense </vt:lpstr>
      <vt:lpstr>Time clauses </vt:lpstr>
      <vt:lpstr>Error analysis</vt:lpstr>
      <vt:lpstr>https://www.ted.com/talks/anthony_goldbloom_the_jobs_we_ll_lose_to_machines_and_the_ones_we_won_t?language=en </vt:lpstr>
      <vt:lpstr>Types of Sources adapted from https://www.scribbr.com/working-with-sources/credible-sources/</vt:lpstr>
      <vt:lpstr>How do I know if my sources are credible/reliable?</vt:lpstr>
      <vt:lpstr>Frameworks  Adapted from https://guides.lib.uw.edu/research/faq/reliable </vt:lpstr>
      <vt:lpstr>2. The SMART Check</vt:lpstr>
      <vt:lpstr>3. The CRAAP Test</vt:lpstr>
      <vt:lpstr>Citing Sources adapted from https://pitt.libguides.com/citationhelp and https://guides.lib.uw.edu/research/citations/citationwhich  </vt:lpstr>
      <vt:lpstr>Lab </vt:lpstr>
      <vt:lpstr>Word Document </vt:lpstr>
      <vt:lpstr>Bibliography </vt:lpstr>
    </vt:vector>
  </TitlesOfParts>
  <Company>CEGEP André Laurendeau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dc:title>
  <dc:creator>Loretta  Gillis</dc:creator>
  <cp:lastModifiedBy>Xuelian Wei</cp:lastModifiedBy>
  <cp:revision>165</cp:revision>
  <dcterms:created xsi:type="dcterms:W3CDTF">2013-03-11T22:29:50Z</dcterms:created>
  <dcterms:modified xsi:type="dcterms:W3CDTF">2023-02-08T14:39:27Z</dcterms:modified>
</cp:coreProperties>
</file>