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0" r:id="rId1"/>
  </p:sldMasterIdLst>
  <p:notesMasterIdLst>
    <p:notesMasterId r:id="rId29"/>
  </p:notesMasterIdLst>
  <p:sldIdLst>
    <p:sldId id="272" r:id="rId2"/>
    <p:sldId id="307" r:id="rId3"/>
    <p:sldId id="319" r:id="rId4"/>
    <p:sldId id="321" r:id="rId5"/>
    <p:sldId id="322" r:id="rId6"/>
    <p:sldId id="320" r:id="rId7"/>
    <p:sldId id="315" r:id="rId8"/>
    <p:sldId id="317" r:id="rId9"/>
    <p:sldId id="286" r:id="rId10"/>
    <p:sldId id="302" r:id="rId11"/>
    <p:sldId id="291" r:id="rId12"/>
    <p:sldId id="279" r:id="rId13"/>
    <p:sldId id="280" r:id="rId14"/>
    <p:sldId id="281" r:id="rId15"/>
    <p:sldId id="282" r:id="rId16"/>
    <p:sldId id="283" r:id="rId17"/>
    <p:sldId id="284" r:id="rId18"/>
    <p:sldId id="287" r:id="rId19"/>
    <p:sldId id="288" r:id="rId20"/>
    <p:sldId id="289" r:id="rId21"/>
    <p:sldId id="290" r:id="rId22"/>
    <p:sldId id="293" r:id="rId23"/>
    <p:sldId id="318" r:id="rId24"/>
    <p:sldId id="276" r:id="rId25"/>
    <p:sldId id="294" r:id="rId26"/>
    <p:sldId id="295" r:id="rId27"/>
    <p:sldId id="296" r:id="rId28"/>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92"/>
  </p:normalViewPr>
  <p:slideViewPr>
    <p:cSldViewPr snapToGrid="0" snapToObjects="1">
      <p:cViewPr varScale="1">
        <p:scale>
          <a:sx n="106" d="100"/>
          <a:sy n="106" d="100"/>
        </p:scale>
        <p:origin x="1800"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B74B599B-0FD1-4FF0-9745-F0BDA9EF8233}" type="datetimeFigureOut">
              <a:rPr lang="en-CA" smtClean="0"/>
              <a:t>2023-03-31</a:t>
            </a:fld>
            <a:endParaRPr lang="en-CA"/>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66B2303E-2E81-45CA-901A-043B08CA7BB5}" type="slidenum">
              <a:rPr lang="en-CA" smtClean="0"/>
              <a:t>‹#›</a:t>
            </a:fld>
            <a:endParaRPr lang="en-CA"/>
          </a:p>
        </p:txBody>
      </p:sp>
    </p:spTree>
    <p:extLst>
      <p:ext uri="{BB962C8B-B14F-4D97-AF65-F5344CB8AC3E}">
        <p14:creationId xmlns:p14="http://schemas.microsoft.com/office/powerpoint/2010/main" val="171903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D196BFE3-1F61-47D7-9F97-9AD3C736D383}" type="slidenum">
              <a:rPr lang="en-CA" smtClean="0"/>
              <a:t>1</a:t>
            </a:fld>
            <a:endParaRPr lang="en-CA"/>
          </a:p>
        </p:txBody>
      </p:sp>
    </p:spTree>
    <p:extLst>
      <p:ext uri="{BB962C8B-B14F-4D97-AF65-F5344CB8AC3E}">
        <p14:creationId xmlns:p14="http://schemas.microsoft.com/office/powerpoint/2010/main" val="7058143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Rectangle 6"/>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9pPr>
          </a:lstStyle>
          <a:p>
            <a:pPr>
              <a:spcBef>
                <a:spcPct val="0"/>
              </a:spcBef>
            </a:pPr>
            <a:fld id="{E299CE93-401B-446D-8E89-D4C2FD1F16FB}" type="slidenum">
              <a:rPr lang="en-US" altLang="en-US" smtClean="0"/>
              <a:pPr>
                <a:spcBef>
                  <a:spcPct val="0"/>
                </a:spcBef>
              </a:pPr>
              <a:t>12</a:t>
            </a:fld>
            <a:endParaRPr lang="en-US" altLang="en-US"/>
          </a:p>
        </p:txBody>
      </p:sp>
      <p:sp>
        <p:nvSpPr>
          <p:cNvPr id="5123" name="Rectangle 1"/>
          <p:cNvSpPr>
            <a:spLocks noGrp="1" noRot="1" noChangeAspect="1" noChangeArrowheads="1" noTextEdit="1"/>
          </p:cNvSpPr>
          <p:nvPr>
            <p:ph type="sldImg"/>
          </p:nvPr>
        </p:nvSpPr>
        <p:spPr>
          <a:xfrm>
            <a:off x="1116013" y="706438"/>
            <a:ext cx="4649787" cy="3486150"/>
          </a:xfrm>
          <a:solidFill>
            <a:srgbClr val="FFFFFF"/>
          </a:solidFill>
          <a:ln>
            <a:solidFill>
              <a:srgbClr val="000000"/>
            </a:solidFill>
            <a:miter lim="800000"/>
            <a:headEnd/>
            <a:tailEnd/>
          </a:ln>
        </p:spPr>
      </p:sp>
      <p:sp>
        <p:nvSpPr>
          <p:cNvPr id="5124" name="Rectangle 2"/>
          <p:cNvSpPr>
            <a:spLocks noGrp="1" noChangeArrowheads="1"/>
          </p:cNvSpPr>
          <p:nvPr>
            <p:ph type="body" idx="1"/>
          </p:nvPr>
        </p:nvSpPr>
        <p:spPr>
          <a:xfrm>
            <a:off x="687388" y="4414838"/>
            <a:ext cx="5507037" cy="4184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lIns="81052" tIns="40526" rIns="81052" bIns="40526" anchor="ctr"/>
          <a:lstStyle/>
          <a:p>
            <a:endParaRPr lang="fr-FR" altLang="en-US">
              <a:latin typeface="Times New Roman" panose="02020603050405020304" pitchFamily="18" charset="0"/>
            </a:endParaRPr>
          </a:p>
        </p:txBody>
      </p:sp>
    </p:spTree>
    <p:extLst>
      <p:ext uri="{BB962C8B-B14F-4D97-AF65-F5344CB8AC3E}">
        <p14:creationId xmlns:p14="http://schemas.microsoft.com/office/powerpoint/2010/main" val="3195882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6"/>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9pPr>
          </a:lstStyle>
          <a:p>
            <a:pPr>
              <a:spcBef>
                <a:spcPct val="0"/>
              </a:spcBef>
            </a:pPr>
            <a:fld id="{FF7F4F8D-B2E8-4E4B-892A-76179198112C}" type="slidenum">
              <a:rPr lang="en-US" altLang="en-US" smtClean="0"/>
              <a:pPr>
                <a:spcBef>
                  <a:spcPct val="0"/>
                </a:spcBef>
              </a:pPr>
              <a:t>14</a:t>
            </a:fld>
            <a:endParaRPr lang="en-US" altLang="en-US"/>
          </a:p>
        </p:txBody>
      </p:sp>
      <p:sp>
        <p:nvSpPr>
          <p:cNvPr id="8195" name="Rectangle 1"/>
          <p:cNvSpPr>
            <a:spLocks noGrp="1" noRot="1" noChangeAspect="1" noChangeArrowheads="1" noTextEdit="1"/>
          </p:cNvSpPr>
          <p:nvPr>
            <p:ph type="sldImg"/>
          </p:nvPr>
        </p:nvSpPr>
        <p:spPr>
          <a:xfrm>
            <a:off x="1116013" y="706438"/>
            <a:ext cx="4649787" cy="3486150"/>
          </a:xfrm>
          <a:solidFill>
            <a:srgbClr val="FFFFFF"/>
          </a:solidFill>
          <a:ln>
            <a:solidFill>
              <a:srgbClr val="000000"/>
            </a:solidFill>
            <a:miter lim="800000"/>
            <a:headEnd/>
            <a:tailEnd/>
          </a:ln>
        </p:spPr>
      </p:sp>
      <p:sp>
        <p:nvSpPr>
          <p:cNvPr id="8196" name="Rectangle 2"/>
          <p:cNvSpPr>
            <a:spLocks noGrp="1" noChangeArrowheads="1"/>
          </p:cNvSpPr>
          <p:nvPr>
            <p:ph type="body" idx="1"/>
          </p:nvPr>
        </p:nvSpPr>
        <p:spPr>
          <a:xfrm>
            <a:off x="687388" y="4414838"/>
            <a:ext cx="5507037" cy="4184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lIns="81052" tIns="40526" rIns="81052" bIns="40526" anchor="ctr"/>
          <a:lstStyle/>
          <a:p>
            <a:endParaRPr lang="fr-FR" altLang="en-US">
              <a:latin typeface="Times New Roman" panose="02020603050405020304" pitchFamily="18" charset="0"/>
            </a:endParaRPr>
          </a:p>
        </p:txBody>
      </p:sp>
    </p:spTree>
    <p:extLst>
      <p:ext uri="{BB962C8B-B14F-4D97-AF65-F5344CB8AC3E}">
        <p14:creationId xmlns:p14="http://schemas.microsoft.com/office/powerpoint/2010/main" val="23043372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2" name="Rectangle 6"/>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641350" algn="l"/>
                <a:tab pos="1282700" algn="l"/>
                <a:tab pos="1924050" algn="l"/>
                <a:tab pos="2565400" algn="l"/>
              </a:tabLst>
              <a:defRPr sz="1200">
                <a:solidFill>
                  <a:srgbClr val="000000"/>
                </a:solidFill>
                <a:latin typeface="Times New Roman" panose="02020603050405020304" pitchFamily="18" charset="0"/>
              </a:defRPr>
            </a:lvl9pPr>
          </a:lstStyle>
          <a:p>
            <a:pPr>
              <a:spcBef>
                <a:spcPct val="0"/>
              </a:spcBef>
            </a:pPr>
            <a:fld id="{CFAC5794-A70A-4561-BE70-D628876F96AD}" type="slidenum">
              <a:rPr lang="en-US" altLang="en-US" smtClean="0"/>
              <a:pPr>
                <a:spcBef>
                  <a:spcPct val="0"/>
                </a:spcBef>
              </a:pPr>
              <a:t>15</a:t>
            </a:fld>
            <a:endParaRPr lang="en-US" altLang="en-US"/>
          </a:p>
        </p:txBody>
      </p:sp>
      <p:sp>
        <p:nvSpPr>
          <p:cNvPr id="10243" name="Rectangle 1"/>
          <p:cNvSpPr>
            <a:spLocks noGrp="1" noRot="1" noChangeAspect="1" noChangeArrowheads="1" noTextEdit="1"/>
          </p:cNvSpPr>
          <p:nvPr>
            <p:ph type="sldImg"/>
          </p:nvPr>
        </p:nvSpPr>
        <p:spPr>
          <a:xfrm>
            <a:off x="1116013" y="706438"/>
            <a:ext cx="4649787" cy="3486150"/>
          </a:xfrm>
          <a:solidFill>
            <a:srgbClr val="FFFFFF"/>
          </a:solidFill>
          <a:ln>
            <a:solidFill>
              <a:srgbClr val="000000"/>
            </a:solidFill>
            <a:miter lim="800000"/>
            <a:headEnd/>
            <a:tailEnd/>
          </a:ln>
        </p:spPr>
      </p:sp>
      <p:sp>
        <p:nvSpPr>
          <p:cNvPr id="10244" name="Rectangle 2"/>
          <p:cNvSpPr>
            <a:spLocks noGrp="1" noChangeArrowheads="1"/>
          </p:cNvSpPr>
          <p:nvPr>
            <p:ph type="body" idx="1"/>
          </p:nvPr>
        </p:nvSpPr>
        <p:spPr>
          <a:xfrm>
            <a:off x="687388" y="4414838"/>
            <a:ext cx="5507037" cy="4184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lIns="81052" tIns="40526" rIns="81052" bIns="40526" anchor="ctr"/>
          <a:lstStyle/>
          <a:p>
            <a:endParaRPr lang="fr-FR" altLang="en-US">
              <a:latin typeface="Times New Roman" panose="02020603050405020304" pitchFamily="18" charset="0"/>
            </a:endParaRPr>
          </a:p>
        </p:txBody>
      </p:sp>
    </p:spTree>
    <p:extLst>
      <p:ext uri="{BB962C8B-B14F-4D97-AF65-F5344CB8AC3E}">
        <p14:creationId xmlns:p14="http://schemas.microsoft.com/office/powerpoint/2010/main" val="320763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9"/>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spcBef>
                <a:spcPct val="0"/>
              </a:spcBef>
              <a:buClrTx/>
              <a:buFontTx/>
              <a:buNone/>
            </a:pPr>
            <a:fld id="{5B4B3F0F-250E-4C4E-B852-2A5A162FFE3A}" type="slidenum">
              <a:rPr lang="en-US" altLang="en-US" sz="1400" smtClean="0"/>
              <a:pPr>
                <a:spcBef>
                  <a:spcPct val="0"/>
                </a:spcBef>
                <a:buClrTx/>
                <a:buFontTx/>
                <a:buNone/>
              </a:pPr>
              <a:t>18</a:t>
            </a:fld>
            <a:endParaRPr lang="en-US" altLang="en-US" sz="1400"/>
          </a:p>
        </p:txBody>
      </p:sp>
      <p:sp>
        <p:nvSpPr>
          <p:cNvPr id="4099"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100" name="Rectangle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671188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9"/>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spcBef>
                <a:spcPct val="0"/>
              </a:spcBef>
              <a:buClrTx/>
              <a:buFontTx/>
              <a:buNone/>
            </a:pPr>
            <a:fld id="{C20ADB7E-4C31-4E4D-9461-5A2434478150}" type="slidenum">
              <a:rPr lang="en-US" altLang="en-US" sz="1400" smtClean="0"/>
              <a:pPr>
                <a:spcBef>
                  <a:spcPct val="0"/>
                </a:spcBef>
                <a:buClrTx/>
                <a:buFontTx/>
                <a:buNone/>
              </a:pPr>
              <a:t>19</a:t>
            </a:fld>
            <a:endParaRPr lang="en-US" altLang="en-US" sz="1400"/>
          </a:p>
        </p:txBody>
      </p:sp>
      <p:sp>
        <p:nvSpPr>
          <p:cNvPr id="6147"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5182677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9"/>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spcBef>
                <a:spcPct val="0"/>
              </a:spcBef>
              <a:buClrTx/>
              <a:buFontTx/>
              <a:buNone/>
            </a:pPr>
            <a:fld id="{97539C2F-400E-4DFF-84CE-F50666BA554A}" type="slidenum">
              <a:rPr lang="en-US" altLang="en-US" sz="1400" smtClean="0"/>
              <a:pPr>
                <a:spcBef>
                  <a:spcPct val="0"/>
                </a:spcBef>
                <a:buClrTx/>
                <a:buFontTx/>
                <a:buNone/>
              </a:pPr>
              <a:t>20</a:t>
            </a:fld>
            <a:endParaRPr lang="en-US" altLang="en-US" sz="1400"/>
          </a:p>
        </p:txBody>
      </p:sp>
      <p:sp>
        <p:nvSpPr>
          <p:cNvPr id="8195" name="Rectangle 1"/>
          <p:cNvSpPr>
            <a:spLocks noGrp="1" noRot="1" noChangeAspect="1" noChangeArrowheads="1" noTextEdit="1"/>
          </p:cNvSpPr>
          <p:nvPr>
            <p:ph type="sldImg"/>
          </p:nvPr>
        </p:nvSpPr>
        <p:spPr>
          <a:xfrm>
            <a:off x="1106488" y="812800"/>
            <a:ext cx="5341937" cy="4005263"/>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196" name="Rectangle 2"/>
          <p:cNvSpPr>
            <a:spLocks noGrp="1" noChangeArrowheads="1"/>
          </p:cNvSpPr>
          <p:nvPr>
            <p:ph type="body" idx="1"/>
          </p:nvPr>
        </p:nvSpPr>
        <p:spPr>
          <a:xfrm>
            <a:off x="755650" y="5078413"/>
            <a:ext cx="6045200" cy="4808537"/>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8829777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2" name="Rectangle 9"/>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spcBef>
                <a:spcPct val="0"/>
              </a:spcBef>
              <a:buClrTx/>
              <a:buFontTx/>
              <a:buNone/>
            </a:pPr>
            <a:fld id="{3233E41E-B7FB-44F2-8156-952AFC324554}" type="slidenum">
              <a:rPr lang="en-US" altLang="en-US" sz="1400" smtClean="0"/>
              <a:pPr>
                <a:spcBef>
                  <a:spcPct val="0"/>
                </a:spcBef>
                <a:buClrTx/>
                <a:buFontTx/>
                <a:buNone/>
              </a:pPr>
              <a:t>21</a:t>
            </a:fld>
            <a:endParaRPr lang="en-US" altLang="en-US" sz="1400"/>
          </a:p>
        </p:txBody>
      </p:sp>
      <p:sp>
        <p:nvSpPr>
          <p:cNvPr id="10243" name="Rectangle 1"/>
          <p:cNvSpPr>
            <a:spLocks noGrp="1" noRot="1" noChangeAspect="1" noChangeArrowheads="1" noTextEdit="1"/>
          </p:cNvSpPr>
          <p:nvPr>
            <p:ph type="sldImg"/>
          </p:nvPr>
        </p:nvSpPr>
        <p:spPr>
          <a:xfrm>
            <a:off x="1106488" y="812800"/>
            <a:ext cx="5341937" cy="4005263"/>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244" name="Rectangle 2"/>
          <p:cNvSpPr>
            <a:spLocks noGrp="1" noChangeArrowheads="1"/>
          </p:cNvSpPr>
          <p:nvPr>
            <p:ph type="body" idx="1"/>
          </p:nvPr>
        </p:nvSpPr>
        <p:spPr>
          <a:xfrm>
            <a:off x="755650" y="5078413"/>
            <a:ext cx="6045200" cy="4808537"/>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1693124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5A06B7-63D0-45F3-943F-F5BB7F597E75}" type="datetime1">
              <a:rPr lang="en-US" smtClean="0"/>
              <a:t>3/31/23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4BEF221-4509-47A4-9CA5-09C1E0895316}" type="datetime1">
              <a:rPr lang="en-US" smtClean="0"/>
              <a:t>3/31/23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9174A7-FEC0-4A26-9254-9957E0A841D8}" type="datetime1">
              <a:rPr lang="en-US" smtClean="0"/>
              <a:t>3/31/23</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04012FE-9E33-4C07-9EF1-A55953264CA7}" type="datetime1">
              <a:rPr lang="en-US" smtClean="0"/>
              <a:t>3/31/23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521420B-137F-4AD9-BEA5-C7EEE0946476}" type="datetime1">
              <a:rPr lang="en-US" smtClean="0"/>
              <a:t>3/31/23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AA1CC82-A905-4D18-A826-B8257F7DE6BB}" type="datetime1">
              <a:rPr lang="en-US" smtClean="0"/>
              <a:t>3/31/23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CE6481-8003-41B8-8619-622F513CB2E8}" type="datetime1">
              <a:rPr lang="en-US" smtClean="0"/>
              <a:t>3/31/23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FE9D30-4DE0-432D-B429-163551F9745E}" type="datetime1">
              <a:rPr lang="en-US" smtClean="0"/>
              <a:t>3/31/23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83CE7214-7294-4B2B-ACFF-812A4AAC2203}" type="datetime1">
              <a:rPr lang="en-US" smtClean="0"/>
              <a:t>3/31/23</a:t>
            </a:fld>
            <a:endParaRPr lang="en-US" dirty="0"/>
          </a:p>
        </p:txBody>
      </p:sp>
      <p:sp>
        <p:nvSpPr>
          <p:cNvPr id="9" name="Slide Number Placeholder 8"/>
          <p:cNvSpPr>
            <a:spLocks noGrp="1"/>
          </p:cNvSpPr>
          <p:nvPr>
            <p:ph type="sldNum" sz="quarter" idx="11"/>
          </p:nvPr>
        </p:nvSpPr>
        <p:spPr/>
        <p:txBody>
          <a:bodyPr/>
          <a:lstStyle/>
          <a:p>
            <a:fld id="{6E2D2B3B-882E-40F3-A32F-6DD516915044}" type="slidenum">
              <a:rPr lang="en-US" smtClean="0"/>
              <a:pPr/>
              <a:t>‹#›</a:t>
            </a:fld>
            <a:endParaRPr lang="en-US" dirty="0"/>
          </a:p>
        </p:txBody>
      </p:sp>
      <p:sp>
        <p:nvSpPr>
          <p:cNvPr id="10" name="Footer Placeholder 9"/>
          <p:cNvSpPr>
            <a:spLocks noGrp="1"/>
          </p:cNvSpPr>
          <p:nvPr>
            <p:ph type="ftr" sz="quarter" idx="12"/>
          </p:nvPr>
        </p:nvSpPr>
        <p:spPr/>
        <p:txBody>
          <a:bodyPr/>
          <a:lstStyle/>
          <a:p>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6111FE-5193-47EF-8BE9-5869585EA94D}" type="datetime1">
              <a:rPr lang="en-US" smtClean="0"/>
              <a:t>3/31/23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FFF6DA-B5EF-4027-9DDE-4DA729997CF1}" type="datetime1">
              <a:rPr lang="en-US" smtClean="0"/>
              <a:t>3/31/23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6E2D2B3B-882E-40F3-A32F-6DD516915044}" type="slidenum">
              <a:rPr lang="en-US" smtClean="0"/>
              <a:pPr/>
              <a:t>‹#›</a:t>
            </a:fld>
            <a:endParaRPr lang="en-US" dirty="0"/>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dirty="0"/>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AC7A4780-BF45-48FB-8163-CCD37D391062}" type="datetime1">
              <a:rPr lang="en-US" smtClean="0"/>
              <a:t>3/31/23</a:t>
            </a:fld>
            <a:endParaRPr lang="en-US" dirty="0"/>
          </a:p>
        </p:txBody>
      </p:sp>
    </p:spTree>
  </p:cSld>
  <p:clrMap bg1="lt1" tx1="dk1" bg2="lt2" tx2="dk2" accent1="accent1" accent2="accent2" accent3="accent3" accent4="accent4" accent5="accent5" accent6="accent6" hlink="hlink" folHlink="folHlink"/>
  <p:sldLayoutIdLst>
    <p:sldLayoutId id="2147483951" r:id="rId1"/>
    <p:sldLayoutId id="2147483952" r:id="rId2"/>
    <p:sldLayoutId id="2147483953" r:id="rId3"/>
    <p:sldLayoutId id="2147483954" r:id="rId4"/>
    <p:sldLayoutId id="2147483955" r:id="rId5"/>
    <p:sldLayoutId id="2147483956" r:id="rId6"/>
    <p:sldLayoutId id="2147483957" r:id="rId7"/>
    <p:sldLayoutId id="2147483958" r:id="rId8"/>
    <p:sldLayoutId id="2147483959" r:id="rId9"/>
    <p:sldLayoutId id="2147483960" r:id="rId10"/>
    <p:sldLayoutId id="2147483961" r:id="rId11"/>
  </p:sldLayoutIdLst>
  <p:hf hdr="0" ft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guides.lib.uw.edu/research/faq/reliabl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uides.lib.uw.edu/research/faq/reliable"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9158" y="-12879"/>
            <a:ext cx="7620000" cy="1004552"/>
          </a:xfrm>
        </p:spPr>
        <p:txBody>
          <a:bodyPr/>
          <a:lstStyle/>
          <a:p>
            <a:r>
              <a:rPr lang="en-US" dirty="0"/>
              <a:t>604-420  Week 10</a:t>
            </a:r>
          </a:p>
        </p:txBody>
      </p:sp>
      <p:sp>
        <p:nvSpPr>
          <p:cNvPr id="3" name="Content Placeholder 2"/>
          <p:cNvSpPr>
            <a:spLocks noGrp="1"/>
          </p:cNvSpPr>
          <p:nvPr>
            <p:ph idx="1"/>
          </p:nvPr>
        </p:nvSpPr>
        <p:spPr>
          <a:xfrm>
            <a:off x="360609" y="1165539"/>
            <a:ext cx="8017098" cy="6143222"/>
          </a:xfrm>
        </p:spPr>
        <p:txBody>
          <a:bodyPr>
            <a:normAutofit/>
          </a:bodyPr>
          <a:lstStyle/>
          <a:p>
            <a:pPr marL="571500" indent="-457200">
              <a:buFont typeface="Arial" pitchFamily="34" charset="0"/>
              <a:buAutoNum type="arabicPeriod"/>
            </a:pPr>
            <a:r>
              <a:rPr lang="en-US" sz="2400" dirty="0"/>
              <a:t>Attendance</a:t>
            </a:r>
          </a:p>
          <a:p>
            <a:pPr marL="571500" indent="-457200">
              <a:buFont typeface="Arial" pitchFamily="34" charset="0"/>
              <a:buAutoNum type="arabicPeriod"/>
            </a:pPr>
            <a:r>
              <a:rPr lang="en-US" sz="2400" dirty="0"/>
              <a:t>Review of </a:t>
            </a:r>
            <a:r>
              <a:rPr lang="fr-CA" sz="2400" dirty="0" err="1"/>
              <a:t>Task</a:t>
            </a:r>
            <a:r>
              <a:rPr lang="fr-CA" sz="2400" dirty="0"/>
              <a:t> 2 Innovation Reading </a:t>
            </a:r>
            <a:r>
              <a:rPr lang="fr-CA" sz="2400" dirty="0" err="1"/>
              <a:t>Research</a:t>
            </a:r>
            <a:endParaRPr lang="fr-CA" sz="2400" dirty="0"/>
          </a:p>
          <a:p>
            <a:pPr marL="571500" indent="-457200">
              <a:buFont typeface="Arial" pitchFamily="34" charset="0"/>
              <a:buAutoNum type="arabicPeriod"/>
            </a:pPr>
            <a:r>
              <a:rPr lang="fr-CA" sz="2400" dirty="0" err="1"/>
              <a:t>Review</a:t>
            </a:r>
            <a:r>
              <a:rPr lang="fr-CA" sz="2400" dirty="0"/>
              <a:t> of </a:t>
            </a:r>
            <a:r>
              <a:rPr lang="en-US" sz="2400" dirty="0"/>
              <a:t>Modals </a:t>
            </a:r>
          </a:p>
          <a:p>
            <a:pPr marL="571500" indent="-457200">
              <a:buFont typeface="Arial" pitchFamily="34" charset="0"/>
              <a:buAutoNum type="arabicPeriod"/>
            </a:pPr>
            <a:r>
              <a:rPr lang="en-US" sz="2400" dirty="0"/>
              <a:t>Info on Summative evaluation 2: Task II Writing 15% </a:t>
            </a:r>
          </a:p>
          <a:p>
            <a:pPr marL="571500" indent="-457200">
              <a:buFont typeface="Arial" pitchFamily="34" charset="0"/>
              <a:buAutoNum type="arabicPeriod"/>
            </a:pPr>
            <a:r>
              <a:rPr lang="en-US" sz="2400" dirty="0"/>
              <a:t>Writing Exam Descriptors (on LEA)</a:t>
            </a:r>
          </a:p>
          <a:p>
            <a:pPr marL="571500" indent="-457200">
              <a:buFont typeface="Arial" pitchFamily="34" charset="0"/>
              <a:buAutoNum type="arabicPeriod"/>
            </a:pPr>
            <a:r>
              <a:rPr lang="en-US" sz="2400" dirty="0"/>
              <a:t>Simplified Evaluation Grid based on the Descriptors </a:t>
            </a:r>
          </a:p>
          <a:p>
            <a:pPr marL="571500" indent="-457200">
              <a:buFont typeface="Arial" pitchFamily="34" charset="0"/>
              <a:buAutoNum type="arabicPeriod"/>
            </a:pPr>
            <a:r>
              <a:rPr lang="en-US" sz="2400" dirty="0"/>
              <a:t>Basic Academic Essay Structure</a:t>
            </a:r>
          </a:p>
          <a:p>
            <a:pPr marL="571500" indent="-457200">
              <a:buFont typeface="Arial" pitchFamily="34" charset="0"/>
              <a:buAutoNum type="arabicPeriod"/>
            </a:pPr>
            <a:r>
              <a:rPr lang="en-US" sz="2400" dirty="0"/>
              <a:t>Lab Outline: Write and edit your outline to prepare for your Summative Task II Writing evaluation 15% in </a:t>
            </a:r>
            <a:r>
              <a:rPr lang="en-US" sz="2400" dirty="0">
                <a:solidFill>
                  <a:srgbClr val="C00000"/>
                </a:solidFill>
              </a:rPr>
              <a:t>Week 11</a:t>
            </a:r>
            <a:r>
              <a:rPr lang="en-US" sz="2400" dirty="0"/>
              <a:t>. </a:t>
            </a:r>
          </a:p>
          <a:p>
            <a:pPr marL="114300" indent="0">
              <a:buNone/>
            </a:pPr>
            <a:endParaRPr lang="en-US" sz="2400" dirty="0">
              <a:solidFill>
                <a:srgbClr val="FF0000"/>
              </a:solidFill>
            </a:endParaRPr>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1</a:t>
            </a:fld>
            <a:endParaRPr lang="en-US"/>
          </a:p>
        </p:txBody>
      </p:sp>
    </p:spTree>
    <p:extLst>
      <p:ext uri="{BB962C8B-B14F-4D97-AF65-F5344CB8AC3E}">
        <p14:creationId xmlns:p14="http://schemas.microsoft.com/office/powerpoint/2010/main" val="481778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727CD-B78D-8078-CF95-921F82B62164}"/>
              </a:ext>
            </a:extLst>
          </p:cNvPr>
          <p:cNvSpPr>
            <a:spLocks noGrp="1"/>
          </p:cNvSpPr>
          <p:nvPr>
            <p:ph type="title"/>
          </p:nvPr>
        </p:nvSpPr>
        <p:spPr/>
        <p:txBody>
          <a:bodyPr/>
          <a:lstStyle/>
          <a:p>
            <a:pPr algn="l" defTabSz="914400" rtl="1" eaLnBrk="1" latinLnBrk="0" hangingPunct="1">
              <a:spcBef>
                <a:spcPct val="0"/>
              </a:spcBef>
              <a:buNone/>
            </a:pPr>
            <a:r>
              <a:rPr lang="en-US" dirty="0"/>
              <a:t>Our Schedule </a:t>
            </a:r>
          </a:p>
        </p:txBody>
      </p:sp>
      <p:graphicFrame>
        <p:nvGraphicFramePr>
          <p:cNvPr id="5" name="Table 5">
            <a:extLst>
              <a:ext uri="{FF2B5EF4-FFF2-40B4-BE49-F238E27FC236}">
                <a16:creationId xmlns:a16="http://schemas.microsoft.com/office/drawing/2014/main" id="{CEFA7045-19D2-8A2A-FF77-7D06F2C98CE8}"/>
              </a:ext>
            </a:extLst>
          </p:cNvPr>
          <p:cNvGraphicFramePr>
            <a:graphicFrameLocks noGrp="1"/>
          </p:cNvGraphicFramePr>
          <p:nvPr>
            <p:ph idx="1"/>
            <p:extLst>
              <p:ext uri="{D42A27DB-BD31-4B8C-83A1-F6EECF244321}">
                <p14:modId xmlns:p14="http://schemas.microsoft.com/office/powerpoint/2010/main" val="3448051590"/>
              </p:ext>
            </p:extLst>
          </p:nvPr>
        </p:nvGraphicFramePr>
        <p:xfrm>
          <a:off x="662608" y="1600200"/>
          <a:ext cx="6626087" cy="1483360"/>
        </p:xfrm>
        <a:graphic>
          <a:graphicData uri="http://schemas.openxmlformats.org/drawingml/2006/table">
            <a:tbl>
              <a:tblPr firstRow="1" bandRow="1">
                <a:tableStyleId>{69CF1AB2-1976-4502-BF36-3FF5EA218861}</a:tableStyleId>
              </a:tblPr>
              <a:tblGrid>
                <a:gridCol w="1872590">
                  <a:extLst>
                    <a:ext uri="{9D8B030D-6E8A-4147-A177-3AD203B41FA5}">
                      <a16:colId xmlns:a16="http://schemas.microsoft.com/office/drawing/2014/main" val="2921721138"/>
                    </a:ext>
                  </a:extLst>
                </a:gridCol>
                <a:gridCol w="4753497">
                  <a:extLst>
                    <a:ext uri="{9D8B030D-6E8A-4147-A177-3AD203B41FA5}">
                      <a16:colId xmlns:a16="http://schemas.microsoft.com/office/drawing/2014/main" val="1117430874"/>
                    </a:ext>
                  </a:extLst>
                </a:gridCol>
              </a:tblGrid>
              <a:tr h="370840">
                <a:tc>
                  <a:txBody>
                    <a:bodyPr/>
                    <a:lstStyle/>
                    <a:p>
                      <a:pPr algn="l">
                        <a:spcBef>
                          <a:spcPts val="2400"/>
                        </a:spcBef>
                        <a:spcAft>
                          <a:spcPts val="2400"/>
                        </a:spcAft>
                      </a:pPr>
                      <a:r>
                        <a:rPr lang="en-US" dirty="0"/>
                        <a:t>Week 11</a:t>
                      </a:r>
                    </a:p>
                  </a:txBody>
                  <a:tcPr anchor="ctr"/>
                </a:tc>
                <a:tc>
                  <a:txBody>
                    <a:bodyPr/>
                    <a:lstStyle/>
                    <a:p>
                      <a:pPr algn="l">
                        <a:spcBef>
                          <a:spcPts val="2400"/>
                        </a:spcBef>
                        <a:spcAft>
                          <a:spcPts val="2400"/>
                        </a:spcAft>
                      </a:pPr>
                      <a:r>
                        <a:rPr lang="en-CA" sz="1800" kern="1200" dirty="0">
                          <a:solidFill>
                            <a:schemeClr val="dk1"/>
                          </a:solidFill>
                          <a:effectLst/>
                          <a:latin typeface="+mn-lt"/>
                          <a:ea typeface="+mn-ea"/>
                          <a:cs typeface="+mn-cs"/>
                        </a:rPr>
                        <a:t>Summative evaluation 2: Task II Writing 15%</a:t>
                      </a:r>
                      <a:r>
                        <a:rPr lang="en-CA" dirty="0">
                          <a:effectLst/>
                        </a:rPr>
                        <a:t> </a:t>
                      </a:r>
                      <a:endParaRPr lang="en-US" dirty="0"/>
                    </a:p>
                  </a:txBody>
                  <a:tcPr anchor="ctr"/>
                </a:tc>
                <a:extLst>
                  <a:ext uri="{0D108BD9-81ED-4DB2-BD59-A6C34878D82A}">
                    <a16:rowId xmlns:a16="http://schemas.microsoft.com/office/drawing/2014/main" val="1899378391"/>
                  </a:ext>
                </a:extLst>
              </a:tr>
              <a:tr h="370840">
                <a:tc>
                  <a:txBody>
                    <a:bodyPr/>
                    <a:lstStyle/>
                    <a:p>
                      <a:pPr algn="l">
                        <a:spcBef>
                          <a:spcPts val="2400"/>
                        </a:spcBef>
                        <a:spcAft>
                          <a:spcPts val="2400"/>
                        </a:spcAft>
                      </a:pPr>
                      <a:r>
                        <a:rPr lang="en-US" dirty="0"/>
                        <a:t>Week 12 </a:t>
                      </a:r>
                    </a:p>
                  </a:txBody>
                  <a:tcPr anchor="ctr"/>
                </a:tc>
                <a:tc>
                  <a:txBody>
                    <a:bodyPr/>
                    <a:lstStyle/>
                    <a:p>
                      <a:pPr marL="0" marR="0" lvl="0" indent="0" algn="l" defTabSz="914400" rtl="0" eaLnBrk="1" fontAlgn="auto" latinLnBrk="0" hangingPunct="1">
                        <a:lnSpc>
                          <a:spcPct val="100000"/>
                        </a:lnSpc>
                        <a:spcBef>
                          <a:spcPts val="2400"/>
                        </a:spcBef>
                        <a:spcAft>
                          <a:spcPts val="2400"/>
                        </a:spcAft>
                        <a:buClrTx/>
                        <a:buSzTx/>
                        <a:buFontTx/>
                        <a:buNone/>
                        <a:tabLst/>
                        <a:defRPr/>
                      </a:pPr>
                      <a:r>
                        <a:rPr lang="en-CA" sz="1800" kern="1200" dirty="0">
                          <a:solidFill>
                            <a:schemeClr val="dk1"/>
                          </a:solidFill>
                          <a:effectLst/>
                          <a:latin typeface="+mn-lt"/>
                          <a:ea typeface="+mn-ea"/>
                          <a:cs typeface="+mn-cs"/>
                        </a:rPr>
                        <a:t>Extra credit </a:t>
                      </a:r>
                    </a:p>
                  </a:txBody>
                  <a:tcPr anchor="ctr"/>
                </a:tc>
                <a:extLst>
                  <a:ext uri="{0D108BD9-81ED-4DB2-BD59-A6C34878D82A}">
                    <a16:rowId xmlns:a16="http://schemas.microsoft.com/office/drawing/2014/main" val="2431974828"/>
                  </a:ext>
                </a:extLst>
              </a:tr>
              <a:tr h="370840">
                <a:tc>
                  <a:txBody>
                    <a:bodyPr/>
                    <a:lstStyle/>
                    <a:p>
                      <a:pPr algn="l">
                        <a:spcBef>
                          <a:spcPts val="2400"/>
                        </a:spcBef>
                        <a:spcAft>
                          <a:spcPts val="2400"/>
                        </a:spcAft>
                      </a:pPr>
                      <a:r>
                        <a:rPr lang="en-US" dirty="0"/>
                        <a:t>Week 14</a:t>
                      </a:r>
                    </a:p>
                  </a:txBody>
                  <a:tcPr anchor="ctr"/>
                </a:tc>
                <a:tc>
                  <a:txBody>
                    <a:bodyPr/>
                    <a:lstStyle/>
                    <a:p>
                      <a:pPr marL="0" marR="0" lvl="0" indent="0" algn="l" defTabSz="914400" rtl="0" eaLnBrk="1" fontAlgn="auto" latinLnBrk="0" hangingPunct="1">
                        <a:lnSpc>
                          <a:spcPct val="100000"/>
                        </a:lnSpc>
                        <a:spcBef>
                          <a:spcPts val="2400"/>
                        </a:spcBef>
                        <a:spcAft>
                          <a:spcPts val="2400"/>
                        </a:spcAft>
                        <a:buClrTx/>
                        <a:buSzTx/>
                        <a:buFontTx/>
                        <a:buNone/>
                        <a:tabLst/>
                        <a:defRPr/>
                      </a:pPr>
                      <a:r>
                        <a:rPr lang="en-CA" sz="1800" kern="1200" dirty="0" err="1">
                          <a:solidFill>
                            <a:schemeClr val="dk1"/>
                          </a:solidFill>
                          <a:effectLst/>
                          <a:latin typeface="+mn-lt"/>
                          <a:ea typeface="+mn-ea"/>
                          <a:cs typeface="+mn-cs"/>
                        </a:rPr>
                        <a:t>Certificative</a:t>
                      </a:r>
                      <a:r>
                        <a:rPr lang="en-CA" sz="1800" kern="1200" dirty="0">
                          <a:solidFill>
                            <a:schemeClr val="dk1"/>
                          </a:solidFill>
                          <a:effectLst/>
                          <a:latin typeface="+mn-lt"/>
                          <a:ea typeface="+mn-ea"/>
                          <a:cs typeface="+mn-cs"/>
                        </a:rPr>
                        <a:t> evaluation: Task III Writing 25%</a:t>
                      </a:r>
                    </a:p>
                  </a:txBody>
                  <a:tcPr anchor="ctr"/>
                </a:tc>
                <a:extLst>
                  <a:ext uri="{0D108BD9-81ED-4DB2-BD59-A6C34878D82A}">
                    <a16:rowId xmlns:a16="http://schemas.microsoft.com/office/drawing/2014/main" val="2803200285"/>
                  </a:ext>
                </a:extLst>
              </a:tr>
              <a:tr h="370840">
                <a:tc>
                  <a:txBody>
                    <a:bodyPr/>
                    <a:lstStyle/>
                    <a:p>
                      <a:pPr algn="l">
                        <a:spcBef>
                          <a:spcPts val="2400"/>
                        </a:spcBef>
                        <a:spcAft>
                          <a:spcPts val="2400"/>
                        </a:spcAft>
                      </a:pPr>
                      <a:r>
                        <a:rPr lang="en-US" dirty="0"/>
                        <a:t>Week 15</a:t>
                      </a:r>
                    </a:p>
                  </a:txBody>
                  <a:tcPr anchor="ctr"/>
                </a:tc>
                <a:tc>
                  <a:txBody>
                    <a:bodyPr/>
                    <a:lstStyle/>
                    <a:p>
                      <a:pPr marL="0" marR="0" lvl="0" indent="0" algn="l" defTabSz="914400" rtl="0" eaLnBrk="1" fontAlgn="auto" latinLnBrk="0" hangingPunct="1">
                        <a:lnSpc>
                          <a:spcPct val="100000"/>
                        </a:lnSpc>
                        <a:spcBef>
                          <a:spcPts val="2400"/>
                        </a:spcBef>
                        <a:spcAft>
                          <a:spcPts val="2400"/>
                        </a:spcAft>
                        <a:buClrTx/>
                        <a:buSzTx/>
                        <a:buFontTx/>
                        <a:buNone/>
                        <a:tabLst/>
                        <a:defRPr/>
                      </a:pPr>
                      <a:r>
                        <a:rPr lang="en-CA" sz="1800" kern="1200" dirty="0" err="1">
                          <a:solidFill>
                            <a:schemeClr val="dk1"/>
                          </a:solidFill>
                          <a:effectLst/>
                          <a:latin typeface="+mn-lt"/>
                          <a:ea typeface="+mn-ea"/>
                          <a:cs typeface="+mn-cs"/>
                        </a:rPr>
                        <a:t>Certificative</a:t>
                      </a:r>
                      <a:r>
                        <a:rPr lang="en-CA" sz="1800" kern="1200" dirty="0">
                          <a:solidFill>
                            <a:schemeClr val="dk1"/>
                          </a:solidFill>
                          <a:effectLst/>
                          <a:latin typeface="+mn-lt"/>
                          <a:ea typeface="+mn-ea"/>
                          <a:cs typeface="+mn-cs"/>
                        </a:rPr>
                        <a:t> evaluation: Task III Speaking 25%</a:t>
                      </a:r>
                    </a:p>
                  </a:txBody>
                  <a:tcPr anchor="ctr"/>
                </a:tc>
                <a:extLst>
                  <a:ext uri="{0D108BD9-81ED-4DB2-BD59-A6C34878D82A}">
                    <a16:rowId xmlns:a16="http://schemas.microsoft.com/office/drawing/2014/main" val="3129417613"/>
                  </a:ext>
                </a:extLst>
              </a:tr>
            </a:tbl>
          </a:graphicData>
        </a:graphic>
      </p:graphicFrame>
      <p:sp>
        <p:nvSpPr>
          <p:cNvPr id="4" name="Slide Number Placeholder 3">
            <a:extLst>
              <a:ext uri="{FF2B5EF4-FFF2-40B4-BE49-F238E27FC236}">
                <a16:creationId xmlns:a16="http://schemas.microsoft.com/office/drawing/2014/main" id="{C64EC857-86EE-0254-C960-CD7791D42069}"/>
              </a:ext>
            </a:extLst>
          </p:cNvPr>
          <p:cNvSpPr>
            <a:spLocks noGrp="1"/>
          </p:cNvSpPr>
          <p:nvPr>
            <p:ph type="sldNum" sz="quarter" idx="12"/>
          </p:nvPr>
        </p:nvSpPr>
        <p:spPr/>
        <p:txBody>
          <a:bodyPr/>
          <a:lstStyle/>
          <a:p>
            <a:fld id="{6E2D2B3B-882E-40F3-A32F-6DD516915044}" type="slidenum">
              <a:rPr lang="en-US" smtClean="0"/>
              <a:pPr/>
              <a:t>2</a:t>
            </a:fld>
            <a:endParaRPr lang="en-US"/>
          </a:p>
        </p:txBody>
      </p:sp>
    </p:spTree>
    <p:extLst>
      <p:ext uri="{BB962C8B-B14F-4D97-AF65-F5344CB8AC3E}">
        <p14:creationId xmlns:p14="http://schemas.microsoft.com/office/powerpoint/2010/main" val="135512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11C2C-82B5-7821-5E9C-D7BC3354CCDF}"/>
              </a:ext>
            </a:extLst>
          </p:cNvPr>
          <p:cNvSpPr>
            <a:spLocks noGrp="1"/>
          </p:cNvSpPr>
          <p:nvPr>
            <p:ph type="title"/>
          </p:nvPr>
        </p:nvSpPr>
        <p:spPr/>
        <p:txBody>
          <a:bodyPr/>
          <a:lstStyle/>
          <a:p>
            <a:r>
              <a:rPr lang="en-US" sz="3600" dirty="0"/>
              <a:t>Review of </a:t>
            </a:r>
            <a:r>
              <a:rPr lang="fr-CA" sz="3600" dirty="0" err="1"/>
              <a:t>Task</a:t>
            </a:r>
            <a:r>
              <a:rPr lang="fr-CA" sz="3600" dirty="0"/>
              <a:t> 2 :</a:t>
            </a:r>
            <a:br>
              <a:rPr lang="fr-CA" sz="3600" dirty="0"/>
            </a:br>
            <a:r>
              <a:rPr lang="fr-CA" sz="3600" dirty="0"/>
              <a:t>Innovation Reading </a:t>
            </a:r>
            <a:r>
              <a:rPr lang="fr-CA" sz="3600" dirty="0" err="1"/>
              <a:t>Research</a:t>
            </a:r>
            <a:endParaRPr lang="en-US" dirty="0"/>
          </a:p>
        </p:txBody>
      </p:sp>
      <p:sp>
        <p:nvSpPr>
          <p:cNvPr id="3" name="Content Placeholder 2">
            <a:extLst>
              <a:ext uri="{FF2B5EF4-FFF2-40B4-BE49-F238E27FC236}">
                <a16:creationId xmlns:a16="http://schemas.microsoft.com/office/drawing/2014/main" id="{E0C0196E-072D-BD77-F88E-58F62C3AB587}"/>
              </a:ext>
            </a:extLst>
          </p:cNvPr>
          <p:cNvSpPr>
            <a:spLocks noGrp="1"/>
          </p:cNvSpPr>
          <p:nvPr>
            <p:ph idx="1"/>
          </p:nvPr>
        </p:nvSpPr>
        <p:spPr/>
        <p:txBody>
          <a:bodyPr/>
          <a:lstStyle/>
          <a:p>
            <a:pPr marL="114300" indent="0">
              <a:buNone/>
            </a:pPr>
            <a:r>
              <a:rPr lang="en-US" dirty="0"/>
              <a:t>Briefly summarize the text you read to your partner. Then, answer the following questions about it: </a:t>
            </a:r>
          </a:p>
          <a:p>
            <a:pPr lvl="1"/>
            <a:r>
              <a:rPr lang="en-US" dirty="0"/>
              <a:t>What was the main idea of the text? </a:t>
            </a:r>
          </a:p>
          <a:p>
            <a:pPr lvl="1"/>
            <a:r>
              <a:rPr lang="en-US" dirty="0"/>
              <a:t>Where did you find your text? </a:t>
            </a:r>
          </a:p>
          <a:p>
            <a:pPr lvl="1"/>
            <a:r>
              <a:rPr lang="en-US" dirty="0"/>
              <a:t>How did you determine if your text is from a reliable source?</a:t>
            </a:r>
          </a:p>
          <a:p>
            <a:pPr lvl="1"/>
            <a:r>
              <a:rPr lang="en-US" dirty="0"/>
              <a:t>Did you learn anything new from it? </a:t>
            </a:r>
          </a:p>
          <a:p>
            <a:pPr lvl="1"/>
            <a:r>
              <a:rPr lang="en-US" dirty="0"/>
              <a:t>Did the text confirm anything you already knew? </a:t>
            </a:r>
          </a:p>
          <a:p>
            <a:pPr lvl="1"/>
            <a:r>
              <a:rPr lang="en-US" dirty="0"/>
              <a:t>Did you disagree with anything in the text? </a:t>
            </a:r>
          </a:p>
          <a:p>
            <a:endParaRPr lang="en-US" dirty="0"/>
          </a:p>
        </p:txBody>
      </p:sp>
      <p:sp>
        <p:nvSpPr>
          <p:cNvPr id="4" name="Slide Number Placeholder 3">
            <a:extLst>
              <a:ext uri="{FF2B5EF4-FFF2-40B4-BE49-F238E27FC236}">
                <a16:creationId xmlns:a16="http://schemas.microsoft.com/office/drawing/2014/main" id="{2DDC776D-99B2-D80B-AC05-812FA39AB8AB}"/>
              </a:ext>
            </a:extLst>
          </p:cNvPr>
          <p:cNvSpPr>
            <a:spLocks noGrp="1"/>
          </p:cNvSpPr>
          <p:nvPr>
            <p:ph type="sldNum" sz="quarter" idx="12"/>
          </p:nvPr>
        </p:nvSpPr>
        <p:spPr/>
        <p:txBody>
          <a:bodyPr/>
          <a:lstStyle/>
          <a:p>
            <a:fld id="{6E2D2B3B-882E-40F3-A32F-6DD516915044}" type="slidenum">
              <a:rPr lang="en-US" smtClean="0"/>
              <a:pPr/>
              <a:t>3</a:t>
            </a:fld>
            <a:endParaRPr lang="en-US"/>
          </a:p>
        </p:txBody>
      </p:sp>
    </p:spTree>
    <p:extLst>
      <p:ext uri="{BB962C8B-B14F-4D97-AF65-F5344CB8AC3E}">
        <p14:creationId xmlns:p14="http://schemas.microsoft.com/office/powerpoint/2010/main" val="185681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77B05-EED3-9DCE-E7BC-1815B7AB1BC0}"/>
              </a:ext>
            </a:extLst>
          </p:cNvPr>
          <p:cNvSpPr>
            <a:spLocks noGrp="1"/>
          </p:cNvSpPr>
          <p:nvPr>
            <p:ph type="title"/>
          </p:nvPr>
        </p:nvSpPr>
        <p:spPr/>
        <p:txBody>
          <a:bodyPr/>
          <a:lstStyle/>
          <a:p>
            <a:r>
              <a:rPr lang="en-US" dirty="0"/>
              <a:t>Did you remember to include: 	</a:t>
            </a:r>
          </a:p>
        </p:txBody>
      </p:sp>
      <p:sp>
        <p:nvSpPr>
          <p:cNvPr id="3" name="Content Placeholder 2">
            <a:extLst>
              <a:ext uri="{FF2B5EF4-FFF2-40B4-BE49-F238E27FC236}">
                <a16:creationId xmlns:a16="http://schemas.microsoft.com/office/drawing/2014/main" id="{CEC3A2A4-A2CE-B7C0-5833-51A98DF83FA2}"/>
              </a:ext>
            </a:extLst>
          </p:cNvPr>
          <p:cNvSpPr>
            <a:spLocks noGrp="1"/>
          </p:cNvSpPr>
          <p:nvPr>
            <p:ph idx="1"/>
          </p:nvPr>
        </p:nvSpPr>
        <p:spPr/>
        <p:txBody>
          <a:bodyPr/>
          <a:lstStyle/>
          <a:p>
            <a:r>
              <a:rPr lang="en-US" dirty="0"/>
              <a:t>A title? </a:t>
            </a:r>
          </a:p>
          <a:p>
            <a:r>
              <a:rPr lang="en-US" dirty="0"/>
              <a:t>T</a:t>
            </a:r>
            <a:r>
              <a:rPr lang="fr-CA" dirty="0" err="1"/>
              <a:t>he</a:t>
            </a:r>
            <a:r>
              <a:rPr lang="fr-CA" dirty="0"/>
              <a:t> </a:t>
            </a:r>
            <a:r>
              <a:rPr lang="fr-CA" dirty="0" err="1"/>
              <a:t>name</a:t>
            </a:r>
            <a:r>
              <a:rPr lang="fr-CA" dirty="0"/>
              <a:t> of the </a:t>
            </a:r>
            <a:r>
              <a:rPr lang="fr-CA" dirty="0" err="1"/>
              <a:t>author</a:t>
            </a:r>
            <a:r>
              <a:rPr lang="fr-CA" dirty="0"/>
              <a:t>? </a:t>
            </a:r>
          </a:p>
          <a:p>
            <a:r>
              <a:rPr lang="fr-CA" dirty="0"/>
              <a:t>The </a:t>
            </a:r>
            <a:r>
              <a:rPr lang="fr-CA" dirty="0" err="1"/>
              <a:t>name</a:t>
            </a:r>
            <a:r>
              <a:rPr lang="fr-CA" dirty="0"/>
              <a:t> of the </a:t>
            </a:r>
            <a:r>
              <a:rPr lang="fr-CA" dirty="0" err="1"/>
              <a:t>website</a:t>
            </a:r>
            <a:r>
              <a:rPr lang="fr-CA" dirty="0"/>
              <a:t> or news organisation </a:t>
            </a:r>
            <a:r>
              <a:rPr lang="fr-CA" dirty="0" err="1"/>
              <a:t>you</a:t>
            </a:r>
            <a:r>
              <a:rPr lang="fr-CA" dirty="0"/>
              <a:t> </a:t>
            </a:r>
            <a:r>
              <a:rPr lang="fr-CA" dirty="0" err="1"/>
              <a:t>got</a:t>
            </a:r>
            <a:r>
              <a:rPr lang="fr-CA" dirty="0"/>
              <a:t> the article </a:t>
            </a:r>
            <a:r>
              <a:rPr lang="fr-CA" dirty="0" err="1"/>
              <a:t>from</a:t>
            </a:r>
            <a:r>
              <a:rPr lang="fr-CA" dirty="0"/>
              <a:t>? </a:t>
            </a:r>
          </a:p>
          <a:p>
            <a:r>
              <a:rPr lang="fr-CA" dirty="0"/>
              <a:t>A note </a:t>
            </a:r>
            <a:r>
              <a:rPr lang="fr-CA" dirty="0" err="1"/>
              <a:t>saying</a:t>
            </a:r>
            <a:r>
              <a:rPr lang="fr-CA" dirty="0"/>
              <a:t> </a:t>
            </a:r>
            <a:r>
              <a:rPr lang="fr-CA" dirty="0" err="1"/>
              <a:t>that</a:t>
            </a:r>
            <a:r>
              <a:rPr lang="fr-CA" dirty="0"/>
              <a:t> </a:t>
            </a:r>
            <a:r>
              <a:rPr lang="fr-CA" dirty="0" err="1"/>
              <a:t>you</a:t>
            </a:r>
            <a:r>
              <a:rPr lang="fr-CA" dirty="0"/>
              <a:t> </a:t>
            </a:r>
            <a:r>
              <a:rPr lang="fr-CA" dirty="0" err="1"/>
              <a:t>adapted</a:t>
            </a:r>
            <a:r>
              <a:rPr lang="fr-CA" dirty="0"/>
              <a:t> the article or </a:t>
            </a:r>
            <a:r>
              <a:rPr lang="fr-CA" dirty="0" err="1"/>
              <a:t>only</a:t>
            </a:r>
            <a:r>
              <a:rPr lang="fr-CA" dirty="0"/>
              <a:t> </a:t>
            </a:r>
            <a:r>
              <a:rPr lang="fr-CA" dirty="0" err="1"/>
              <a:t>read</a:t>
            </a:r>
            <a:r>
              <a:rPr lang="fr-CA" dirty="0"/>
              <a:t> a fraction of </a:t>
            </a:r>
            <a:r>
              <a:rPr lang="fr-CA" dirty="0" err="1"/>
              <a:t>it</a:t>
            </a:r>
            <a:r>
              <a:rPr lang="fr-CA" dirty="0"/>
              <a:t>? </a:t>
            </a:r>
          </a:p>
        </p:txBody>
      </p:sp>
      <p:sp>
        <p:nvSpPr>
          <p:cNvPr id="4" name="Slide Number Placeholder 3">
            <a:extLst>
              <a:ext uri="{FF2B5EF4-FFF2-40B4-BE49-F238E27FC236}">
                <a16:creationId xmlns:a16="http://schemas.microsoft.com/office/drawing/2014/main" id="{5231E7C2-29C4-D021-76D0-E31406F285D4}"/>
              </a:ext>
            </a:extLst>
          </p:cNvPr>
          <p:cNvSpPr>
            <a:spLocks noGrp="1"/>
          </p:cNvSpPr>
          <p:nvPr>
            <p:ph type="sldNum" sz="quarter" idx="12"/>
          </p:nvPr>
        </p:nvSpPr>
        <p:spPr/>
        <p:txBody>
          <a:bodyPr/>
          <a:lstStyle/>
          <a:p>
            <a:fld id="{6E2D2B3B-882E-40F3-A32F-6DD516915044}" type="slidenum">
              <a:rPr lang="en-US" smtClean="0"/>
              <a:pPr/>
              <a:t>4</a:t>
            </a:fld>
            <a:endParaRPr lang="en-US"/>
          </a:p>
        </p:txBody>
      </p:sp>
    </p:spTree>
    <p:extLst>
      <p:ext uri="{BB962C8B-B14F-4D97-AF65-F5344CB8AC3E}">
        <p14:creationId xmlns:p14="http://schemas.microsoft.com/office/powerpoint/2010/main" val="902257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65914-239C-585D-F15D-37DF50FC3506}"/>
              </a:ext>
            </a:extLst>
          </p:cNvPr>
          <p:cNvSpPr>
            <a:spLocks noGrp="1"/>
          </p:cNvSpPr>
          <p:nvPr>
            <p:ph type="title"/>
          </p:nvPr>
        </p:nvSpPr>
        <p:spPr/>
        <p:txBody>
          <a:bodyPr/>
          <a:lstStyle/>
          <a:p>
            <a:r>
              <a:rPr lang="en-US" dirty="0"/>
              <a:t>Is your source reliable? </a:t>
            </a:r>
          </a:p>
        </p:txBody>
      </p:sp>
      <p:sp>
        <p:nvSpPr>
          <p:cNvPr id="3" name="Content Placeholder 2">
            <a:extLst>
              <a:ext uri="{FF2B5EF4-FFF2-40B4-BE49-F238E27FC236}">
                <a16:creationId xmlns:a16="http://schemas.microsoft.com/office/drawing/2014/main" id="{BD770A7B-DFD5-004C-E6DB-F22AFF6CA5E8}"/>
              </a:ext>
            </a:extLst>
          </p:cNvPr>
          <p:cNvSpPr>
            <a:spLocks noGrp="1"/>
          </p:cNvSpPr>
          <p:nvPr>
            <p:ph idx="1"/>
          </p:nvPr>
        </p:nvSpPr>
        <p:spPr/>
        <p:txBody>
          <a:bodyPr/>
          <a:lstStyle/>
          <a:p>
            <a:pPr marL="571500" indent="-457200">
              <a:buFont typeface="+mj-lt"/>
              <a:buAutoNum type="arabicPeriod"/>
            </a:pPr>
            <a:r>
              <a:rPr lang="en-US" dirty="0"/>
              <a:t>The 5Ws </a:t>
            </a:r>
          </a:p>
          <a:p>
            <a:pPr marL="571500" indent="-457200">
              <a:buFont typeface="+mj-lt"/>
              <a:buAutoNum type="arabicPeriod"/>
            </a:pPr>
            <a:r>
              <a:rPr lang="en-US" dirty="0"/>
              <a:t>The SMART Check</a:t>
            </a:r>
          </a:p>
          <a:p>
            <a:pPr marL="571500" indent="-457200">
              <a:buFont typeface="+mj-lt"/>
              <a:buAutoNum type="arabicPeriod"/>
            </a:pPr>
            <a:r>
              <a:rPr lang="en-US" dirty="0"/>
              <a:t>The CRAAP Test </a:t>
            </a:r>
          </a:p>
          <a:p>
            <a:endParaRPr lang="en-US" dirty="0"/>
          </a:p>
          <a:p>
            <a:endParaRPr lang="en-US" dirty="0"/>
          </a:p>
          <a:p>
            <a:r>
              <a:rPr lang="en-CA" sz="2400" dirty="0">
                <a:hlinkClick r:id="rId2"/>
              </a:rPr>
              <a:t>https://guides.lib.uw.edu/research/faq/reliable</a:t>
            </a:r>
            <a:endParaRPr lang="en-US" dirty="0"/>
          </a:p>
        </p:txBody>
      </p:sp>
      <p:sp>
        <p:nvSpPr>
          <p:cNvPr id="4" name="Slide Number Placeholder 3">
            <a:extLst>
              <a:ext uri="{FF2B5EF4-FFF2-40B4-BE49-F238E27FC236}">
                <a16:creationId xmlns:a16="http://schemas.microsoft.com/office/drawing/2014/main" id="{B58AAC38-DC4D-6457-72BC-7234C282FAA0}"/>
              </a:ext>
            </a:extLst>
          </p:cNvPr>
          <p:cNvSpPr>
            <a:spLocks noGrp="1"/>
          </p:cNvSpPr>
          <p:nvPr>
            <p:ph type="sldNum" sz="quarter" idx="12"/>
          </p:nvPr>
        </p:nvSpPr>
        <p:spPr/>
        <p:txBody>
          <a:bodyPr/>
          <a:lstStyle/>
          <a:p>
            <a:fld id="{6E2D2B3B-882E-40F3-A32F-6DD516915044}" type="slidenum">
              <a:rPr lang="en-US" smtClean="0"/>
              <a:pPr/>
              <a:t>5</a:t>
            </a:fld>
            <a:endParaRPr lang="en-US"/>
          </a:p>
        </p:txBody>
      </p:sp>
    </p:spTree>
    <p:extLst>
      <p:ext uri="{BB962C8B-B14F-4D97-AF65-F5344CB8AC3E}">
        <p14:creationId xmlns:p14="http://schemas.microsoft.com/office/powerpoint/2010/main" val="4061925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B4876-DDE2-08E4-6D77-BB20F9F001CB}"/>
              </a:ext>
            </a:extLst>
          </p:cNvPr>
          <p:cNvSpPr>
            <a:spLocks noGrp="1"/>
          </p:cNvSpPr>
          <p:nvPr>
            <p:ph type="title"/>
          </p:nvPr>
        </p:nvSpPr>
        <p:spPr/>
        <p:txBody>
          <a:bodyPr/>
          <a:lstStyle/>
          <a:p>
            <a:r>
              <a:rPr lang="en-US" dirty="0"/>
              <a:t>On Definitions </a:t>
            </a:r>
          </a:p>
        </p:txBody>
      </p:sp>
      <p:sp>
        <p:nvSpPr>
          <p:cNvPr id="3" name="Content Placeholder 2">
            <a:extLst>
              <a:ext uri="{FF2B5EF4-FFF2-40B4-BE49-F238E27FC236}">
                <a16:creationId xmlns:a16="http://schemas.microsoft.com/office/drawing/2014/main" id="{EBFB3B0A-D23E-87BC-31EA-D17587A6CAB5}"/>
              </a:ext>
            </a:extLst>
          </p:cNvPr>
          <p:cNvSpPr>
            <a:spLocks noGrp="1"/>
          </p:cNvSpPr>
          <p:nvPr>
            <p:ph idx="1"/>
          </p:nvPr>
        </p:nvSpPr>
        <p:spPr/>
        <p:txBody>
          <a:bodyPr/>
          <a:lstStyle/>
          <a:p>
            <a:r>
              <a:rPr lang="en-US" dirty="0"/>
              <a:t>Here are the three things ALL definitions should include: </a:t>
            </a:r>
          </a:p>
          <a:p>
            <a:pPr marL="868680" lvl="1" indent="-457200">
              <a:buFont typeface="+mj-lt"/>
              <a:buAutoNum type="arabicPeriod"/>
            </a:pPr>
            <a:r>
              <a:rPr lang="en-US" dirty="0"/>
              <a:t>The word you are defining</a:t>
            </a:r>
          </a:p>
          <a:p>
            <a:pPr marL="868680" lvl="1" indent="-457200">
              <a:buFont typeface="+mj-lt"/>
              <a:buAutoNum type="arabicPeriod"/>
            </a:pPr>
            <a:r>
              <a:rPr lang="en-US" dirty="0"/>
              <a:t>A general group noun that this word belongs to. (WHAT IS IT?)  </a:t>
            </a:r>
          </a:p>
          <a:p>
            <a:pPr marL="868680" lvl="1" indent="-457200">
              <a:buFont typeface="+mj-lt"/>
              <a:buAutoNum type="arabicPeriod"/>
            </a:pPr>
            <a:r>
              <a:rPr lang="en-US" dirty="0"/>
              <a:t>One or more characteristics that distinguish this word from the other words in its group. </a:t>
            </a:r>
          </a:p>
          <a:p>
            <a:r>
              <a:rPr lang="en-US" dirty="0"/>
              <a:t>An example is NOT a definition! </a:t>
            </a:r>
          </a:p>
          <a:p>
            <a:r>
              <a:rPr lang="en-US" dirty="0"/>
              <a:t>Define the word ‘definition.’</a:t>
            </a:r>
          </a:p>
          <a:p>
            <a:r>
              <a:rPr lang="en-US" dirty="0"/>
              <a:t>A definition is a statement that explains the meaning of a word. </a:t>
            </a:r>
          </a:p>
        </p:txBody>
      </p:sp>
      <p:sp>
        <p:nvSpPr>
          <p:cNvPr id="4" name="Slide Number Placeholder 3">
            <a:extLst>
              <a:ext uri="{FF2B5EF4-FFF2-40B4-BE49-F238E27FC236}">
                <a16:creationId xmlns:a16="http://schemas.microsoft.com/office/drawing/2014/main" id="{FBD6A397-D153-F16C-C5BF-9518CA00CA23}"/>
              </a:ext>
            </a:extLst>
          </p:cNvPr>
          <p:cNvSpPr>
            <a:spLocks noGrp="1"/>
          </p:cNvSpPr>
          <p:nvPr>
            <p:ph type="sldNum" sz="quarter" idx="12"/>
          </p:nvPr>
        </p:nvSpPr>
        <p:spPr/>
        <p:txBody>
          <a:bodyPr/>
          <a:lstStyle/>
          <a:p>
            <a:fld id="{6E2D2B3B-882E-40F3-A32F-6DD516915044}" type="slidenum">
              <a:rPr lang="en-US" smtClean="0"/>
              <a:pPr/>
              <a:t>6</a:t>
            </a:fld>
            <a:endParaRPr lang="en-US"/>
          </a:p>
        </p:txBody>
      </p:sp>
    </p:spTree>
    <p:extLst>
      <p:ext uri="{BB962C8B-B14F-4D97-AF65-F5344CB8AC3E}">
        <p14:creationId xmlns:p14="http://schemas.microsoft.com/office/powerpoint/2010/main" val="2938685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064" y="116632"/>
            <a:ext cx="8229600" cy="634082"/>
          </a:xfrm>
        </p:spPr>
        <p:txBody>
          <a:bodyPr/>
          <a:lstStyle/>
          <a:p>
            <a:r>
              <a:rPr lang="en-CA" dirty="0"/>
              <a:t>Review of Modals </a:t>
            </a:r>
          </a:p>
        </p:txBody>
      </p:sp>
      <p:sp>
        <p:nvSpPr>
          <p:cNvPr id="3" name="Content Placeholder 2"/>
          <p:cNvSpPr>
            <a:spLocks noGrp="1"/>
          </p:cNvSpPr>
          <p:nvPr>
            <p:ph idx="1"/>
          </p:nvPr>
        </p:nvSpPr>
        <p:spPr>
          <a:xfrm>
            <a:off x="0" y="1159099"/>
            <a:ext cx="9143999" cy="5241701"/>
          </a:xfrm>
        </p:spPr>
        <p:txBody>
          <a:bodyPr/>
          <a:lstStyle/>
          <a:p>
            <a:pPr marL="114300" indent="0">
              <a:buNone/>
            </a:pPr>
            <a:r>
              <a:rPr lang="en-CA" sz="2400" dirty="0"/>
              <a:t>1.	Modal auxiliaries are a group of words that indicate _____, 	_______, ________, _______, _______, etc. </a:t>
            </a:r>
          </a:p>
          <a:p>
            <a:pPr marL="571500" indent="-457200">
              <a:buAutoNum type="arabicPeriod"/>
            </a:pPr>
            <a:endParaRPr lang="en-CA" sz="2400" dirty="0"/>
          </a:p>
          <a:p>
            <a:pPr marL="114300" indent="0">
              <a:buNone/>
            </a:pPr>
            <a:r>
              <a:rPr lang="en-CA" sz="2400" dirty="0"/>
              <a:t>	Examples:  Shamir_____speak German.</a:t>
            </a:r>
          </a:p>
          <a:p>
            <a:pPr marL="114300" indent="0">
              <a:buNone/>
            </a:pPr>
            <a:r>
              <a:rPr lang="en-CA" sz="2400" dirty="0"/>
              <a:t>		      You _____ keep the door closed. </a:t>
            </a:r>
          </a:p>
          <a:p>
            <a:pPr marL="114300" indent="0">
              <a:buNone/>
            </a:pPr>
            <a:r>
              <a:rPr lang="en-CA" sz="2400" dirty="0"/>
              <a:t>                                I _____ some fish for dinner. </a:t>
            </a:r>
          </a:p>
          <a:p>
            <a:pPr marL="571500" indent="-457200">
              <a:buAutoNum type="arabicPeriod"/>
            </a:pPr>
            <a:endParaRPr lang="en-CA" sz="2400" dirty="0"/>
          </a:p>
          <a:p>
            <a:pPr marL="571500" indent="-457200">
              <a:buAutoNum type="arabicPeriod" startAt="2"/>
            </a:pPr>
            <a:r>
              <a:rPr lang="en-CA" sz="2400" dirty="0"/>
              <a:t>Are the following statements True or False?  </a:t>
            </a:r>
          </a:p>
          <a:p>
            <a:pPr marL="114300" indent="0">
              <a:buNone/>
            </a:pPr>
            <a:r>
              <a:rPr lang="en-CA" sz="2400" dirty="0"/>
              <a:t>	(1) Most modals do not have third-person-singular forms.</a:t>
            </a:r>
          </a:p>
          <a:p>
            <a:pPr marL="114300" indent="0">
              <a:buNone/>
            </a:pPr>
            <a:r>
              <a:rPr lang="en-CA" sz="2400" dirty="0"/>
              <a:t>	(2) Some modals have past tense forms.</a:t>
            </a:r>
          </a:p>
          <a:p>
            <a:pPr marL="114300" indent="0">
              <a:buNone/>
            </a:pPr>
            <a:r>
              <a:rPr lang="en-CA" sz="2400" dirty="0"/>
              <a:t>	(3) A modal is always followed by a verb in its infinitive form. </a:t>
            </a:r>
          </a:p>
          <a:p>
            <a:pPr marL="114300" indent="0">
              <a:buNone/>
            </a:pPr>
            <a:endParaRPr lang="en-CA" sz="2400" dirty="0"/>
          </a:p>
        </p:txBody>
      </p:sp>
      <p:sp>
        <p:nvSpPr>
          <p:cNvPr id="4" name="Espace réservé du numéro de diapositive 3"/>
          <p:cNvSpPr>
            <a:spLocks noGrp="1"/>
          </p:cNvSpPr>
          <p:nvPr>
            <p:ph type="sldNum" sz="quarter" idx="12"/>
          </p:nvPr>
        </p:nvSpPr>
        <p:spPr/>
        <p:txBody>
          <a:bodyPr/>
          <a:lstStyle/>
          <a:p>
            <a:fld id="{6E2D2B3B-882E-40F3-A32F-6DD516915044}" type="slidenum">
              <a:rPr lang="en-US" smtClean="0"/>
              <a:pPr/>
              <a:t>7</a:t>
            </a:fld>
            <a:endParaRPr lang="en-US"/>
          </a:p>
        </p:txBody>
      </p:sp>
    </p:spTree>
    <p:extLst>
      <p:ext uri="{BB962C8B-B14F-4D97-AF65-F5344CB8AC3E}">
        <p14:creationId xmlns:p14="http://schemas.microsoft.com/office/powerpoint/2010/main" val="3220261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069" y="274638"/>
            <a:ext cx="7886131" cy="489637"/>
          </a:xfrm>
        </p:spPr>
        <p:txBody>
          <a:bodyPr/>
          <a:lstStyle/>
          <a:p>
            <a:r>
              <a:rPr lang="en-CA" sz="2400" dirty="0"/>
              <a:t>Modal Choices (adapted from Avenues 2  by Lynne </a:t>
            </a:r>
            <a:r>
              <a:rPr lang="en-CA" sz="2400" dirty="0" err="1"/>
              <a:t>Gaetz</a:t>
            </a:r>
            <a:r>
              <a:rPr lang="en-CA" sz="2400" dirty="0"/>
              <a:t>)</a:t>
            </a:r>
          </a:p>
        </p:txBody>
      </p:sp>
      <p:sp>
        <p:nvSpPr>
          <p:cNvPr id="3" name="Content Placeholder 2"/>
          <p:cNvSpPr>
            <a:spLocks noGrp="1"/>
          </p:cNvSpPr>
          <p:nvPr>
            <p:ph idx="1"/>
          </p:nvPr>
        </p:nvSpPr>
        <p:spPr>
          <a:xfrm>
            <a:off x="0" y="1173707"/>
            <a:ext cx="8475260" cy="5684293"/>
          </a:xfrm>
        </p:spPr>
        <p:txBody>
          <a:bodyPr>
            <a:normAutofit/>
          </a:bodyPr>
          <a:lstStyle/>
          <a:p>
            <a:pPr marL="114300" indent="0">
              <a:buNone/>
            </a:pPr>
            <a:r>
              <a:rPr lang="en-CA" dirty="0"/>
              <a:t>1. Who has no choice?</a:t>
            </a:r>
          </a:p>
          <a:p>
            <a:pPr marL="411480" lvl="1" indent="0">
              <a:buNone/>
            </a:pPr>
            <a:r>
              <a:rPr lang="en-CA" dirty="0"/>
              <a:t>a. Mike must buy nails.   b. Carolyn should buy nails.   c. Sam could buy nails. </a:t>
            </a:r>
          </a:p>
          <a:p>
            <a:pPr marL="114300" indent="0">
              <a:buNone/>
            </a:pPr>
            <a:endParaRPr lang="en-CA" dirty="0"/>
          </a:p>
          <a:p>
            <a:pPr marL="114300" indent="0">
              <a:buNone/>
            </a:pPr>
            <a:r>
              <a:rPr lang="en-CA" dirty="0"/>
              <a:t>2. Which two sentences have the same meaning?</a:t>
            </a:r>
          </a:p>
          <a:p>
            <a:pPr marL="114300" indent="0">
              <a:buNone/>
            </a:pPr>
            <a:r>
              <a:rPr lang="en-CA" dirty="0"/>
              <a:t>    a. He can help me.     b. He should help me.   c. He ought to help me. </a:t>
            </a:r>
          </a:p>
          <a:p>
            <a:pPr marL="114300" indent="0">
              <a:buNone/>
            </a:pPr>
            <a:endParaRPr lang="en-CA" dirty="0"/>
          </a:p>
          <a:p>
            <a:pPr marL="114300" indent="0">
              <a:buNone/>
            </a:pPr>
            <a:r>
              <a:rPr lang="en-CA" dirty="0"/>
              <a:t>3. Which sentence is most polite?</a:t>
            </a:r>
          </a:p>
          <a:p>
            <a:pPr marL="114300" indent="0">
              <a:buNone/>
            </a:pPr>
            <a:r>
              <a:rPr lang="en-CA" dirty="0"/>
              <a:t>    a. Can I help you?      b. May I help you?    c. Should I help you?</a:t>
            </a:r>
          </a:p>
          <a:p>
            <a:pPr marL="114300" indent="0">
              <a:buNone/>
            </a:pPr>
            <a:endParaRPr lang="en-CA" dirty="0"/>
          </a:p>
          <a:p>
            <a:pPr marL="114300" indent="0">
              <a:buNone/>
            </a:pPr>
            <a:r>
              <a:rPr lang="en-CA" dirty="0"/>
              <a:t>4. Who has no choice?</a:t>
            </a:r>
          </a:p>
          <a:p>
            <a:pPr marL="114300" indent="0">
              <a:buNone/>
            </a:pPr>
            <a:r>
              <a:rPr lang="en-CA" dirty="0"/>
              <a:t>a. He should go home.   b. It ought to go home.  c. She has to go home. </a:t>
            </a:r>
          </a:p>
          <a:p>
            <a:pPr marL="114300" indent="0">
              <a:buNone/>
            </a:pPr>
            <a:endParaRPr lang="en-CA" dirty="0"/>
          </a:p>
          <a:p>
            <a:pPr marL="114300" indent="0">
              <a:buNone/>
            </a:pPr>
            <a:r>
              <a:rPr lang="en-CA" dirty="0"/>
              <a:t>5. What is the spice in the soup?</a:t>
            </a:r>
          </a:p>
          <a:p>
            <a:pPr marL="114300" indent="0">
              <a:buNone/>
            </a:pPr>
            <a:r>
              <a:rPr lang="en-CA" dirty="0"/>
              <a:t>a. It may be paprika. b. It might be cumin. c. It must be coriander. </a:t>
            </a:r>
          </a:p>
          <a:p>
            <a:pPr marL="114300" indent="0">
              <a:buNone/>
            </a:pPr>
            <a:endParaRPr lang="en-CA"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8</a:t>
            </a:fld>
            <a:endParaRPr lang="en-US"/>
          </a:p>
        </p:txBody>
      </p:sp>
    </p:spTree>
    <p:extLst>
      <p:ext uri="{BB962C8B-B14F-4D97-AF65-F5344CB8AC3E}">
        <p14:creationId xmlns:p14="http://schemas.microsoft.com/office/powerpoint/2010/main" val="3047865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300251"/>
            <a:ext cx="8420669" cy="6557749"/>
          </a:xfrm>
        </p:spPr>
        <p:txBody>
          <a:bodyPr>
            <a:normAutofit fontScale="55000" lnSpcReduction="20000"/>
          </a:bodyPr>
          <a:lstStyle/>
          <a:p>
            <a:pPr marL="114300" indent="0">
              <a:buNone/>
            </a:pPr>
            <a:r>
              <a:rPr lang="en-US" sz="7600" dirty="0"/>
              <a:t>Info on Summative evaluation 2: </a:t>
            </a:r>
          </a:p>
          <a:p>
            <a:pPr marL="114300" indent="0">
              <a:buNone/>
            </a:pPr>
            <a:r>
              <a:rPr lang="en-US" sz="7600" dirty="0"/>
              <a:t>Task II Writing </a:t>
            </a:r>
          </a:p>
          <a:p>
            <a:pPr marL="114300" indent="0">
              <a:buNone/>
            </a:pPr>
            <a:endParaRPr lang="en-CA" sz="4400" dirty="0"/>
          </a:p>
          <a:p>
            <a:r>
              <a:rPr lang="en-CA" sz="5100" dirty="0"/>
              <a:t> </a:t>
            </a:r>
            <a:r>
              <a:rPr lang="en-CA" sz="5100" dirty="0">
                <a:solidFill>
                  <a:srgbClr val="C00000"/>
                </a:solidFill>
              </a:rPr>
              <a:t>Week 11 </a:t>
            </a:r>
            <a:r>
              <a:rPr lang="en-CA" sz="5100" dirty="0"/>
              <a:t>Writing evaluation 15% </a:t>
            </a:r>
            <a:r>
              <a:rPr lang="en-CA" sz="5100" dirty="0">
                <a:solidFill>
                  <a:srgbClr val="C00000"/>
                </a:solidFill>
              </a:rPr>
              <a:t>in the classroom </a:t>
            </a:r>
          </a:p>
          <a:p>
            <a:r>
              <a:rPr lang="en-CA" sz="5100" dirty="0">
                <a:solidFill>
                  <a:srgbClr val="C00000"/>
                </a:solidFill>
              </a:rPr>
              <a:t>90 </a:t>
            </a:r>
            <a:r>
              <a:rPr lang="en-CA" sz="5100" dirty="0"/>
              <a:t>minutes  (approximately </a:t>
            </a:r>
            <a:r>
              <a:rPr lang="en-CA" sz="5100" dirty="0">
                <a:solidFill>
                  <a:srgbClr val="FF0000"/>
                </a:solidFill>
              </a:rPr>
              <a:t>300</a:t>
            </a:r>
            <a:r>
              <a:rPr lang="en-CA" sz="5100" dirty="0"/>
              <a:t> words)</a:t>
            </a:r>
          </a:p>
          <a:p>
            <a:pPr marL="114300" indent="0">
              <a:buNone/>
            </a:pPr>
            <a:endParaRPr lang="en-CA" sz="3800" dirty="0"/>
          </a:p>
          <a:p>
            <a:pPr marL="114300" indent="0">
              <a:buNone/>
            </a:pPr>
            <a:r>
              <a:rPr lang="en-CA" sz="4200" dirty="0">
                <a:latin typeface="Times New Roman" panose="02020603050405020304" pitchFamily="18" charset="0"/>
                <a:cs typeface="Times New Roman" panose="02020603050405020304" pitchFamily="18" charset="0"/>
              </a:rPr>
              <a:t>Procedure: </a:t>
            </a:r>
          </a:p>
          <a:p>
            <a:pPr marL="114300" indent="0">
              <a:buNone/>
            </a:pPr>
            <a:r>
              <a:rPr lang="en-CA" sz="4200" dirty="0">
                <a:latin typeface="Times New Roman" panose="02020603050405020304" pitchFamily="18" charset="0"/>
                <a:cs typeface="Times New Roman" panose="02020603050405020304" pitchFamily="18" charset="0"/>
              </a:rPr>
              <a:t>Based on the innovation article you found in Week 9 and the Outline you wrote in Week10, you will write </a:t>
            </a:r>
            <a:r>
              <a:rPr lang="en-CA" sz="4200" dirty="0">
                <a:solidFill>
                  <a:srgbClr val="C00000"/>
                </a:solidFill>
                <a:latin typeface="Times New Roman" panose="02020603050405020304" pitchFamily="18" charset="0"/>
                <a:cs typeface="Times New Roman" panose="02020603050405020304" pitchFamily="18" charset="0"/>
              </a:rPr>
              <a:t>an</a:t>
            </a:r>
            <a:r>
              <a:rPr lang="en-CA" sz="4200" dirty="0">
                <a:latin typeface="Times New Roman" panose="02020603050405020304" pitchFamily="18" charset="0"/>
                <a:cs typeface="Times New Roman" panose="02020603050405020304" pitchFamily="18" charset="0"/>
              </a:rPr>
              <a:t> </a:t>
            </a:r>
            <a:r>
              <a:rPr lang="en-CA" sz="4200" dirty="0">
                <a:solidFill>
                  <a:srgbClr val="C00000"/>
                </a:solidFill>
                <a:latin typeface="Times New Roman" panose="02020603050405020304" pitchFamily="18" charset="0"/>
                <a:cs typeface="Times New Roman" panose="02020603050405020304" pitchFamily="18" charset="0"/>
              </a:rPr>
              <a:t>academic essay </a:t>
            </a:r>
            <a:r>
              <a:rPr lang="en-CA" sz="4200" dirty="0">
                <a:latin typeface="Times New Roman" panose="02020603050405020304" pitchFamily="18" charset="0"/>
                <a:cs typeface="Times New Roman" panose="02020603050405020304" pitchFamily="18" charset="0"/>
              </a:rPr>
              <a:t>of approximately 300 words in Week 11 to present the innovation(s) in your article. The Outline, the Verb List, the Transitional Words List, paper dictionaries and grammar charts are permitted. The innovation research article is </a:t>
            </a:r>
            <a:r>
              <a:rPr lang="en-CA" sz="4200" dirty="0">
                <a:solidFill>
                  <a:srgbClr val="FF0000"/>
                </a:solidFill>
                <a:latin typeface="Times New Roman" panose="02020603050405020304" pitchFamily="18" charset="0"/>
                <a:cs typeface="Times New Roman" panose="02020603050405020304" pitchFamily="18" charset="0"/>
              </a:rPr>
              <a:t>NOT</a:t>
            </a:r>
            <a:r>
              <a:rPr lang="en-CA" sz="4200" dirty="0">
                <a:latin typeface="Times New Roman" panose="02020603050405020304" pitchFamily="18" charset="0"/>
                <a:cs typeface="Times New Roman" panose="02020603050405020304" pitchFamily="18" charset="0"/>
              </a:rPr>
              <a:t> allowed. </a:t>
            </a:r>
          </a:p>
          <a:p>
            <a:pPr marL="114300" indent="0">
              <a:buNone/>
            </a:pPr>
            <a:endParaRPr lang="en-CA" sz="4200" dirty="0">
              <a:latin typeface="Times New Roman" panose="02020603050405020304" pitchFamily="18" charset="0"/>
              <a:cs typeface="Times New Roman" panose="02020603050405020304" pitchFamily="18" charset="0"/>
            </a:endParaRPr>
          </a:p>
          <a:p>
            <a:pPr marL="114300" indent="0">
              <a:buNone/>
            </a:pPr>
            <a:r>
              <a:rPr lang="en-CA" sz="4200" dirty="0">
                <a:latin typeface="Times New Roman" panose="02020603050405020304" pitchFamily="18" charset="0"/>
                <a:cs typeface="Times New Roman" panose="02020603050405020304" pitchFamily="18" charset="0"/>
              </a:rPr>
              <a:t>Evaluation Criteria: See the Writing Evaluation Descriptors on LEA and the simplified evaluation grid on the next page. </a:t>
            </a:r>
          </a:p>
          <a:p>
            <a:endParaRPr lang="en-CA" sz="3800"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9</a:t>
            </a:fld>
            <a:endParaRPr lang="en-US"/>
          </a:p>
        </p:txBody>
      </p:sp>
    </p:spTree>
    <p:extLst>
      <p:ext uri="{BB962C8B-B14F-4D97-AF65-F5344CB8AC3E}">
        <p14:creationId xmlns:p14="http://schemas.microsoft.com/office/powerpoint/2010/main" val="4243265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C31D48-E129-4DB0-A4E7-9F2DEF7A12A4}"/>
              </a:ext>
            </a:extLst>
          </p:cNvPr>
          <p:cNvSpPr>
            <a:spLocks noGrp="1"/>
          </p:cNvSpPr>
          <p:nvPr>
            <p:ph type="title"/>
          </p:nvPr>
        </p:nvSpPr>
        <p:spPr>
          <a:xfrm>
            <a:off x="457200" y="274638"/>
            <a:ext cx="7924800" cy="1143000"/>
          </a:xfrm>
        </p:spPr>
        <p:txBody>
          <a:bodyPr/>
          <a:lstStyle/>
          <a:p>
            <a:r>
              <a:rPr lang="fr-CA" sz="4000" dirty="0" err="1"/>
              <a:t>Simplified</a:t>
            </a:r>
            <a:r>
              <a:rPr lang="fr-CA" sz="4000" dirty="0"/>
              <a:t> </a:t>
            </a:r>
            <a:r>
              <a:rPr lang="fr-CA" sz="4000" dirty="0" err="1"/>
              <a:t>Evaluation</a:t>
            </a:r>
            <a:r>
              <a:rPr lang="fr-CA" sz="4000" dirty="0"/>
              <a:t> </a:t>
            </a:r>
            <a:r>
              <a:rPr lang="fr-CA" sz="4000" dirty="0" err="1"/>
              <a:t>Grid</a:t>
            </a:r>
            <a:br>
              <a:rPr lang="fr-CA" sz="4000" dirty="0"/>
            </a:br>
            <a:r>
              <a:rPr lang="fr-CA" sz="4000" dirty="0" err="1"/>
              <a:t>based</a:t>
            </a:r>
            <a:r>
              <a:rPr lang="fr-CA" sz="4000" dirty="0"/>
              <a:t> on the </a:t>
            </a:r>
            <a:r>
              <a:rPr lang="fr-CA" sz="4000" dirty="0" err="1"/>
              <a:t>descriptors</a:t>
            </a:r>
            <a:r>
              <a:rPr lang="fr-CA" sz="4000" dirty="0"/>
              <a:t> </a:t>
            </a:r>
          </a:p>
        </p:txBody>
      </p:sp>
      <p:graphicFrame>
        <p:nvGraphicFramePr>
          <p:cNvPr id="5" name="Espace réservé du contenu 4">
            <a:extLst>
              <a:ext uri="{FF2B5EF4-FFF2-40B4-BE49-F238E27FC236}">
                <a16:creationId xmlns:a16="http://schemas.microsoft.com/office/drawing/2014/main" id="{79A41D4F-B005-4103-9172-D4C5B306C0BA}"/>
              </a:ext>
            </a:extLst>
          </p:cNvPr>
          <p:cNvGraphicFramePr>
            <a:graphicFrameLocks noGrp="1"/>
          </p:cNvGraphicFramePr>
          <p:nvPr>
            <p:ph idx="1"/>
            <p:extLst>
              <p:ext uri="{D42A27DB-BD31-4B8C-83A1-F6EECF244321}">
                <p14:modId xmlns:p14="http://schemas.microsoft.com/office/powerpoint/2010/main" val="151179477"/>
              </p:ext>
            </p:extLst>
          </p:nvPr>
        </p:nvGraphicFramePr>
        <p:xfrm>
          <a:off x="160986" y="1600200"/>
          <a:ext cx="8099095" cy="5115560"/>
        </p:xfrm>
        <a:graphic>
          <a:graphicData uri="http://schemas.openxmlformats.org/drawingml/2006/table">
            <a:tbl>
              <a:tblPr firstRow="1" bandRow="1">
                <a:tableStyleId>{5C22544A-7EE6-4342-B048-85BDC9FD1C3A}</a:tableStyleId>
              </a:tblPr>
              <a:tblGrid>
                <a:gridCol w="1416676">
                  <a:extLst>
                    <a:ext uri="{9D8B030D-6E8A-4147-A177-3AD203B41FA5}">
                      <a16:colId xmlns:a16="http://schemas.microsoft.com/office/drawing/2014/main" val="1939626645"/>
                    </a:ext>
                  </a:extLst>
                </a:gridCol>
                <a:gridCol w="882203">
                  <a:extLst>
                    <a:ext uri="{9D8B030D-6E8A-4147-A177-3AD203B41FA5}">
                      <a16:colId xmlns:a16="http://schemas.microsoft.com/office/drawing/2014/main" val="993348612"/>
                    </a:ext>
                  </a:extLst>
                </a:gridCol>
                <a:gridCol w="1622738">
                  <a:extLst>
                    <a:ext uri="{9D8B030D-6E8A-4147-A177-3AD203B41FA5}">
                      <a16:colId xmlns:a16="http://schemas.microsoft.com/office/drawing/2014/main" val="305137232"/>
                    </a:ext>
                  </a:extLst>
                </a:gridCol>
                <a:gridCol w="1571222">
                  <a:extLst>
                    <a:ext uri="{9D8B030D-6E8A-4147-A177-3AD203B41FA5}">
                      <a16:colId xmlns:a16="http://schemas.microsoft.com/office/drawing/2014/main" val="3774925551"/>
                    </a:ext>
                  </a:extLst>
                </a:gridCol>
                <a:gridCol w="1584102">
                  <a:extLst>
                    <a:ext uri="{9D8B030D-6E8A-4147-A177-3AD203B41FA5}">
                      <a16:colId xmlns:a16="http://schemas.microsoft.com/office/drawing/2014/main" val="1154601649"/>
                    </a:ext>
                  </a:extLst>
                </a:gridCol>
                <a:gridCol w="1022154">
                  <a:extLst>
                    <a:ext uri="{9D8B030D-6E8A-4147-A177-3AD203B41FA5}">
                      <a16:colId xmlns:a16="http://schemas.microsoft.com/office/drawing/2014/main" val="109929819"/>
                    </a:ext>
                  </a:extLst>
                </a:gridCol>
              </a:tblGrid>
              <a:tr h="450465">
                <a:tc>
                  <a:txBody>
                    <a:bodyPr/>
                    <a:lstStyle/>
                    <a:p>
                      <a:r>
                        <a:rPr lang="fr-CA" dirty="0" err="1"/>
                        <a:t>Criteria</a:t>
                      </a:r>
                      <a:r>
                        <a:rPr lang="fr-CA" dirty="0"/>
                        <a:t> </a:t>
                      </a:r>
                    </a:p>
                  </a:txBody>
                  <a:tcPr/>
                </a:tc>
                <a:tc>
                  <a:txBody>
                    <a:bodyPr/>
                    <a:lstStyle/>
                    <a:p>
                      <a:r>
                        <a:rPr lang="fr-CA" dirty="0"/>
                        <a:t>1</a:t>
                      </a:r>
                    </a:p>
                  </a:txBody>
                  <a:tcPr/>
                </a:tc>
                <a:tc>
                  <a:txBody>
                    <a:bodyPr/>
                    <a:lstStyle/>
                    <a:p>
                      <a:r>
                        <a:rPr lang="fr-CA" dirty="0"/>
                        <a:t>2</a:t>
                      </a:r>
                    </a:p>
                  </a:txBody>
                  <a:tcPr/>
                </a:tc>
                <a:tc>
                  <a:txBody>
                    <a:bodyPr/>
                    <a:lstStyle/>
                    <a:p>
                      <a:r>
                        <a:rPr lang="fr-CA" dirty="0"/>
                        <a:t>3</a:t>
                      </a:r>
                    </a:p>
                  </a:txBody>
                  <a:tcPr/>
                </a:tc>
                <a:tc>
                  <a:txBody>
                    <a:bodyPr/>
                    <a:lstStyle/>
                    <a:p>
                      <a:r>
                        <a:rPr lang="fr-CA" dirty="0"/>
                        <a:t>4</a:t>
                      </a:r>
                    </a:p>
                  </a:txBody>
                  <a:tcPr/>
                </a:tc>
                <a:tc>
                  <a:txBody>
                    <a:bodyPr/>
                    <a:lstStyle/>
                    <a:p>
                      <a:r>
                        <a:rPr lang="fr-CA" dirty="0"/>
                        <a:t>5</a:t>
                      </a:r>
                    </a:p>
                  </a:txBody>
                  <a:tcPr/>
                </a:tc>
                <a:extLst>
                  <a:ext uri="{0D108BD9-81ED-4DB2-BD59-A6C34878D82A}">
                    <a16:rowId xmlns:a16="http://schemas.microsoft.com/office/drawing/2014/main" val="4266229803"/>
                  </a:ext>
                </a:extLst>
              </a:tr>
              <a:tr h="1443958">
                <a:tc>
                  <a:txBody>
                    <a:bodyPr/>
                    <a:lstStyle/>
                    <a:p>
                      <a:r>
                        <a:rPr lang="fr-CA" b="1" dirty="0" err="1"/>
                        <a:t>Language</a:t>
                      </a:r>
                      <a:endParaRPr lang="fr-CA" b="1" dirty="0"/>
                    </a:p>
                    <a:p>
                      <a:r>
                        <a:rPr lang="fr-CA" dirty="0"/>
                        <a:t>(</a:t>
                      </a:r>
                      <a:r>
                        <a:rPr lang="fr-CA" dirty="0" err="1"/>
                        <a:t>vocabulary</a:t>
                      </a:r>
                      <a:r>
                        <a:rPr lang="fr-CA" dirty="0"/>
                        <a:t>,</a:t>
                      </a:r>
                    </a:p>
                    <a:p>
                      <a:r>
                        <a:rPr lang="fr-CA" dirty="0"/>
                        <a:t>sentence, </a:t>
                      </a:r>
                      <a:r>
                        <a:rPr lang="fr-CA" dirty="0" err="1"/>
                        <a:t>grammar</a:t>
                      </a:r>
                      <a:r>
                        <a:rPr lang="fr-CA" dirty="0"/>
                        <a:t>)</a:t>
                      </a:r>
                    </a:p>
                  </a:txBody>
                  <a:tcPr/>
                </a:tc>
                <a:tc>
                  <a:txBody>
                    <a:bodyPr/>
                    <a:lstStyle/>
                    <a:p>
                      <a:r>
                        <a:rPr lang="fr-CA" dirty="0"/>
                        <a:t>Very </a:t>
                      </a:r>
                      <a:r>
                        <a:rPr lang="fr-CA" dirty="0" err="1"/>
                        <a:t>weak</a:t>
                      </a:r>
                      <a:endParaRPr lang="fr-CA" dirty="0"/>
                    </a:p>
                  </a:txBody>
                  <a:tcPr/>
                </a:tc>
                <a:tc>
                  <a:txBody>
                    <a:bodyPr/>
                    <a:lstStyle/>
                    <a:p>
                      <a:r>
                        <a:rPr lang="fr-CA" dirty="0"/>
                        <a:t>Weak</a:t>
                      </a:r>
                    </a:p>
                  </a:txBody>
                  <a:tcPr/>
                </a:tc>
                <a:tc>
                  <a:txBody>
                    <a:bodyPr/>
                    <a:lstStyle/>
                    <a:p>
                      <a:r>
                        <a:rPr lang="fr-CA" dirty="0"/>
                        <a:t>Good</a:t>
                      </a:r>
                    </a:p>
                  </a:txBody>
                  <a:tcPr/>
                </a:tc>
                <a:tc>
                  <a:txBody>
                    <a:bodyPr/>
                    <a:lstStyle/>
                    <a:p>
                      <a:r>
                        <a:rPr lang="fr-CA" dirty="0"/>
                        <a:t>Very good</a:t>
                      </a:r>
                    </a:p>
                  </a:txBody>
                  <a:tcPr/>
                </a:tc>
                <a:tc>
                  <a:txBody>
                    <a:bodyPr/>
                    <a:lstStyle/>
                    <a:p>
                      <a:r>
                        <a:rPr lang="fr-CA" dirty="0"/>
                        <a:t>Excellent</a:t>
                      </a:r>
                    </a:p>
                  </a:txBody>
                  <a:tcPr/>
                </a:tc>
                <a:extLst>
                  <a:ext uri="{0D108BD9-81ED-4DB2-BD59-A6C34878D82A}">
                    <a16:rowId xmlns:a16="http://schemas.microsoft.com/office/drawing/2014/main" val="217827746"/>
                  </a:ext>
                </a:extLst>
              </a:tr>
              <a:tr h="1777179">
                <a:tc>
                  <a:txBody>
                    <a:bodyPr/>
                    <a:lstStyle/>
                    <a:p>
                      <a:r>
                        <a:rPr lang="fr-CA" b="1" dirty="0"/>
                        <a:t>Content</a:t>
                      </a:r>
                    </a:p>
                    <a:p>
                      <a:r>
                        <a:rPr lang="fr-CA" dirty="0"/>
                        <a:t>(</a:t>
                      </a:r>
                      <a:r>
                        <a:rPr lang="fr-CA" dirty="0" err="1"/>
                        <a:t>reliability</a:t>
                      </a:r>
                      <a:r>
                        <a:rPr lang="fr-CA" dirty="0"/>
                        <a:t>,</a:t>
                      </a:r>
                    </a:p>
                    <a:p>
                      <a:r>
                        <a:rPr lang="fr-CA" dirty="0"/>
                        <a:t>relevance,</a:t>
                      </a:r>
                    </a:p>
                    <a:p>
                      <a:r>
                        <a:rPr lang="fr-CA" dirty="0" err="1"/>
                        <a:t>coherence</a:t>
                      </a:r>
                      <a:r>
                        <a:rPr lang="fr-CA" dirty="0"/>
                        <a:t>,</a:t>
                      </a:r>
                    </a:p>
                    <a:p>
                      <a:r>
                        <a:rPr lang="fr-CA" dirty="0"/>
                        <a:t>support)</a:t>
                      </a:r>
                    </a:p>
                  </a:txBody>
                  <a:tcPr/>
                </a:tc>
                <a:tc>
                  <a:txBody>
                    <a:bodyPr/>
                    <a:lstStyle/>
                    <a:p>
                      <a:r>
                        <a:rPr lang="fr-CA" dirty="0"/>
                        <a:t>Very </a:t>
                      </a:r>
                      <a:r>
                        <a:rPr lang="fr-CA" dirty="0" err="1"/>
                        <a:t>weak</a:t>
                      </a:r>
                      <a:endParaRPr lang="fr-CA" dirty="0"/>
                    </a:p>
                  </a:txBody>
                  <a:tcPr/>
                </a:tc>
                <a:tc>
                  <a:txBody>
                    <a:bodyPr/>
                    <a:lstStyle/>
                    <a:p>
                      <a:r>
                        <a:rPr lang="fr-CA" dirty="0"/>
                        <a:t>Weak</a:t>
                      </a:r>
                    </a:p>
                  </a:txBody>
                  <a:tcPr/>
                </a:tc>
                <a:tc>
                  <a:txBody>
                    <a:bodyPr/>
                    <a:lstStyle/>
                    <a:p>
                      <a:r>
                        <a:rPr lang="fr-CA" dirty="0"/>
                        <a:t>Good</a:t>
                      </a:r>
                    </a:p>
                  </a:txBody>
                  <a:tcPr/>
                </a:tc>
                <a:tc>
                  <a:txBody>
                    <a:bodyPr/>
                    <a:lstStyle/>
                    <a:p>
                      <a:r>
                        <a:rPr lang="fr-CA" dirty="0"/>
                        <a:t>Very good</a:t>
                      </a:r>
                    </a:p>
                  </a:txBody>
                  <a:tcPr/>
                </a:tc>
                <a:tc>
                  <a:txBody>
                    <a:bodyPr/>
                    <a:lstStyle/>
                    <a:p>
                      <a:r>
                        <a:rPr lang="fr-CA" dirty="0"/>
                        <a:t>Excellent</a:t>
                      </a:r>
                    </a:p>
                  </a:txBody>
                  <a:tcPr/>
                </a:tc>
                <a:extLst>
                  <a:ext uri="{0D108BD9-81ED-4DB2-BD59-A6C34878D82A}">
                    <a16:rowId xmlns:a16="http://schemas.microsoft.com/office/drawing/2014/main" val="566482156"/>
                  </a:ext>
                </a:extLst>
              </a:tr>
              <a:tr h="1443958">
                <a:tc>
                  <a:txBody>
                    <a:bodyPr/>
                    <a:lstStyle/>
                    <a:p>
                      <a:r>
                        <a:rPr lang="fr-CA" b="1" dirty="0"/>
                        <a:t>Structure</a:t>
                      </a:r>
                    </a:p>
                    <a:p>
                      <a:r>
                        <a:rPr lang="fr-CA" dirty="0"/>
                        <a:t>(</a:t>
                      </a:r>
                      <a:r>
                        <a:rPr lang="fr-CA" dirty="0" err="1"/>
                        <a:t>paragraphs,text</a:t>
                      </a:r>
                      <a:r>
                        <a:rPr lang="fr-CA" dirty="0"/>
                        <a:t> type conventions)</a:t>
                      </a:r>
                    </a:p>
                  </a:txBody>
                  <a:tcPr/>
                </a:tc>
                <a:tc>
                  <a:txBody>
                    <a:bodyPr/>
                    <a:lstStyle/>
                    <a:p>
                      <a:r>
                        <a:rPr lang="fr-CA" dirty="0"/>
                        <a:t>Very </a:t>
                      </a:r>
                      <a:r>
                        <a:rPr lang="fr-CA" dirty="0" err="1"/>
                        <a:t>weak</a:t>
                      </a:r>
                      <a:endParaRPr lang="fr-CA" dirty="0"/>
                    </a:p>
                  </a:txBody>
                  <a:tcPr/>
                </a:tc>
                <a:tc>
                  <a:txBody>
                    <a:bodyPr/>
                    <a:lstStyle/>
                    <a:p>
                      <a:r>
                        <a:rPr lang="fr-CA" dirty="0"/>
                        <a:t>Weak</a:t>
                      </a:r>
                    </a:p>
                  </a:txBody>
                  <a:tcPr/>
                </a:tc>
                <a:tc>
                  <a:txBody>
                    <a:bodyPr/>
                    <a:lstStyle/>
                    <a:p>
                      <a:r>
                        <a:rPr lang="fr-CA" dirty="0"/>
                        <a:t>Good</a:t>
                      </a:r>
                    </a:p>
                  </a:txBody>
                  <a:tcPr/>
                </a:tc>
                <a:tc>
                  <a:txBody>
                    <a:bodyPr/>
                    <a:lstStyle/>
                    <a:p>
                      <a:r>
                        <a:rPr lang="fr-CA" dirty="0"/>
                        <a:t>Very good</a:t>
                      </a:r>
                    </a:p>
                  </a:txBody>
                  <a:tcPr/>
                </a:tc>
                <a:tc>
                  <a:txBody>
                    <a:bodyPr/>
                    <a:lstStyle/>
                    <a:p>
                      <a:r>
                        <a:rPr lang="fr-CA" dirty="0"/>
                        <a:t>Excellent </a:t>
                      </a:r>
                    </a:p>
                  </a:txBody>
                  <a:tcPr/>
                </a:tc>
                <a:extLst>
                  <a:ext uri="{0D108BD9-81ED-4DB2-BD59-A6C34878D82A}">
                    <a16:rowId xmlns:a16="http://schemas.microsoft.com/office/drawing/2014/main" val="2385961722"/>
                  </a:ext>
                </a:extLst>
              </a:tr>
            </a:tbl>
          </a:graphicData>
        </a:graphic>
      </p:graphicFrame>
      <p:sp>
        <p:nvSpPr>
          <p:cNvPr id="4" name="Espace réservé du numéro de diapositive 3">
            <a:extLst>
              <a:ext uri="{FF2B5EF4-FFF2-40B4-BE49-F238E27FC236}">
                <a16:creationId xmlns:a16="http://schemas.microsoft.com/office/drawing/2014/main" id="{24E7059E-7C76-4F7B-93E8-1D15EB032020}"/>
              </a:ext>
            </a:extLst>
          </p:cNvPr>
          <p:cNvSpPr>
            <a:spLocks noGrp="1"/>
          </p:cNvSpPr>
          <p:nvPr>
            <p:ph type="sldNum" sz="quarter" idx="12"/>
          </p:nvPr>
        </p:nvSpPr>
        <p:spPr/>
        <p:txBody>
          <a:bodyPr/>
          <a:lstStyle/>
          <a:p>
            <a:fld id="{6E2D2B3B-882E-40F3-A32F-6DD516915044}" type="slidenum">
              <a:rPr lang="en-US" smtClean="0"/>
              <a:pPr/>
              <a:t>10</a:t>
            </a:fld>
            <a:endParaRPr lang="en-US"/>
          </a:p>
        </p:txBody>
      </p:sp>
    </p:spTree>
    <p:extLst>
      <p:ext uri="{BB962C8B-B14F-4D97-AF65-F5344CB8AC3E}">
        <p14:creationId xmlns:p14="http://schemas.microsoft.com/office/powerpoint/2010/main" val="2021376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592" y="10621"/>
            <a:ext cx="7980608" cy="935976"/>
          </a:xfrm>
        </p:spPr>
        <p:txBody>
          <a:bodyPr/>
          <a:lstStyle/>
          <a:p>
            <a:r>
              <a:rPr lang="en-CA" sz="4000" dirty="0"/>
              <a:t>Basic Academic Essay Structure</a:t>
            </a:r>
          </a:p>
        </p:txBody>
      </p:sp>
      <p:sp>
        <p:nvSpPr>
          <p:cNvPr id="3" name="Content Placeholder 2"/>
          <p:cNvSpPr>
            <a:spLocks noGrp="1"/>
          </p:cNvSpPr>
          <p:nvPr>
            <p:ph idx="1"/>
          </p:nvPr>
        </p:nvSpPr>
        <p:spPr>
          <a:xfrm>
            <a:off x="0" y="1275007"/>
            <a:ext cx="8352430" cy="5479961"/>
          </a:xfrm>
        </p:spPr>
        <p:txBody>
          <a:bodyPr>
            <a:normAutofit/>
          </a:bodyPr>
          <a:lstStyle/>
          <a:p>
            <a:pPr marL="0" indent="0">
              <a:buNone/>
            </a:pPr>
            <a:r>
              <a:rPr lang="en-CA" sz="2400" dirty="0">
                <a:latin typeface="Times New Roman" panose="02020603050405020304" pitchFamily="18" charset="0"/>
                <a:cs typeface="Times New Roman" panose="02020603050405020304" pitchFamily="18" charset="0"/>
              </a:rPr>
              <a:t>A basic academic essay normally has three parts:</a:t>
            </a:r>
          </a:p>
          <a:p>
            <a:pPr marL="0" indent="0">
              <a:buNone/>
            </a:pPr>
            <a:endParaRPr lang="en-CA" sz="2400" dirty="0">
              <a:latin typeface="Times New Roman" panose="02020603050405020304" pitchFamily="18" charset="0"/>
              <a:cs typeface="Times New Roman" panose="02020603050405020304" pitchFamily="18" charset="0"/>
            </a:endParaRPr>
          </a:p>
          <a:p>
            <a:r>
              <a:rPr lang="en-CA" sz="2400" b="1" u="sng" dirty="0">
                <a:latin typeface="Times New Roman" panose="02020603050405020304" pitchFamily="18" charset="0"/>
                <a:cs typeface="Times New Roman" panose="02020603050405020304" pitchFamily="18" charset="0"/>
              </a:rPr>
              <a:t>Introduction</a:t>
            </a:r>
          </a:p>
          <a:p>
            <a:pPr marL="0" indent="0">
              <a:buNone/>
            </a:pPr>
            <a:r>
              <a:rPr lang="en-CA" sz="2400" dirty="0">
                <a:latin typeface="Times New Roman" panose="02020603050405020304" pitchFamily="18" charset="0"/>
                <a:cs typeface="Times New Roman" panose="02020603050405020304" pitchFamily="18" charset="0"/>
              </a:rPr>
              <a:t>     It introduces the topic and makes the readers interested. </a:t>
            </a:r>
          </a:p>
          <a:p>
            <a:r>
              <a:rPr lang="en-CA" sz="2400" b="1" u="sng" dirty="0">
                <a:latin typeface="Times New Roman" panose="02020603050405020304" pitchFamily="18" charset="0"/>
                <a:cs typeface="Times New Roman" panose="02020603050405020304" pitchFamily="18" charset="0"/>
              </a:rPr>
              <a:t>Body </a:t>
            </a:r>
          </a:p>
          <a:p>
            <a:pPr marL="0" indent="0">
              <a:buNone/>
            </a:pPr>
            <a:r>
              <a:rPr lang="en-CA" sz="2400" dirty="0">
                <a:latin typeface="Times New Roman" panose="02020603050405020304" pitchFamily="18" charset="0"/>
                <a:cs typeface="Times New Roman" panose="02020603050405020304" pitchFamily="18" charset="0"/>
              </a:rPr>
              <a:t>     Each idea needs one body paragraph and each body paragraph  </a:t>
            </a:r>
          </a:p>
          <a:p>
            <a:pPr marL="0" indent="0">
              <a:buNone/>
            </a:pPr>
            <a:r>
              <a:rPr lang="en-CA" sz="2400" dirty="0">
                <a:latin typeface="Times New Roman" panose="02020603050405020304" pitchFamily="18" charset="0"/>
                <a:cs typeface="Times New Roman" panose="02020603050405020304" pitchFamily="18" charset="0"/>
              </a:rPr>
              <a:t>     should have a topic sentence and supporting details. </a:t>
            </a:r>
          </a:p>
          <a:p>
            <a:r>
              <a:rPr lang="en-CA" sz="2400" b="1" u="sng" dirty="0">
                <a:latin typeface="Times New Roman" panose="02020603050405020304" pitchFamily="18" charset="0"/>
                <a:cs typeface="Times New Roman" panose="02020603050405020304" pitchFamily="18" charset="0"/>
              </a:rPr>
              <a:t>Conclusion </a:t>
            </a:r>
          </a:p>
          <a:p>
            <a:pPr marL="0" indent="0">
              <a:buNone/>
            </a:pPr>
            <a:r>
              <a:rPr lang="en-CA" sz="2400" dirty="0">
                <a:latin typeface="Times New Roman" panose="02020603050405020304" pitchFamily="18" charset="0"/>
                <a:cs typeface="Times New Roman" panose="02020603050405020304" pitchFamily="18" charset="0"/>
              </a:rPr>
              <a:t>     It restates your main points and can end with hopes,   </a:t>
            </a:r>
          </a:p>
          <a:p>
            <a:pPr marL="0" indent="0">
              <a:buNone/>
            </a:pPr>
            <a:r>
              <a:rPr lang="en-CA" sz="2400" dirty="0">
                <a:latin typeface="Times New Roman" panose="02020603050405020304" pitchFamily="18" charset="0"/>
                <a:cs typeface="Times New Roman" panose="02020603050405020304" pitchFamily="18" charset="0"/>
              </a:rPr>
              <a:t>     suggestions, or quotations, etc. </a:t>
            </a:r>
          </a:p>
          <a:p>
            <a:pPr marL="0" indent="0">
              <a:buNone/>
            </a:pPr>
            <a:endParaRPr lang="en-CA" dirty="0"/>
          </a:p>
          <a:p>
            <a:pPr marL="0" indent="0">
              <a:buNone/>
            </a:pPr>
            <a:endParaRPr lang="en-CA"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11</a:t>
            </a:fld>
            <a:endParaRPr lang="en-US"/>
          </a:p>
        </p:txBody>
      </p:sp>
    </p:spTree>
    <p:extLst>
      <p:ext uri="{BB962C8B-B14F-4D97-AF65-F5344CB8AC3E}">
        <p14:creationId xmlns:p14="http://schemas.microsoft.com/office/powerpoint/2010/main" val="1194106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Grp="1" noChangeArrowheads="1"/>
          </p:cNvSpPr>
          <p:nvPr>
            <p:ph type="title"/>
          </p:nvPr>
        </p:nvSpPr>
        <p:spPr>
          <a:xfrm>
            <a:off x="457921" y="163081"/>
            <a:ext cx="8033760" cy="1144800"/>
          </a:xfrm>
        </p:spPr>
        <p:txBody>
          <a:bodyPr vert="horz" lIns="91440" tIns="20573" rIns="91440" bIns="45720" rtlCol="0" anchor="ctr">
            <a:noAutofit/>
          </a:bodyPr>
          <a:lstStyle/>
          <a:p>
            <a:pPr>
              <a:lnSpc>
                <a:spcPct val="95000"/>
              </a:lnSpc>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en-US" sz="3266" dirty="0">
                <a:latin typeface="Times New Roman" panose="02020603050405020304" pitchFamily="18" charset="0"/>
              </a:rPr>
              <a:t>The Introductory Paragraph </a:t>
            </a:r>
          </a:p>
        </p:txBody>
      </p:sp>
      <p:sp>
        <p:nvSpPr>
          <p:cNvPr id="4099" name="Rectangle 2"/>
          <p:cNvSpPr>
            <a:spLocks noGrp="1" noChangeArrowheads="1"/>
          </p:cNvSpPr>
          <p:nvPr>
            <p:ph type="body" idx="1"/>
          </p:nvPr>
        </p:nvSpPr>
        <p:spPr>
          <a:xfrm>
            <a:off x="109182" y="1208520"/>
            <a:ext cx="8382499" cy="5649479"/>
          </a:xfrm>
        </p:spPr>
        <p:txBody>
          <a:bodyPr/>
          <a:lstStyle/>
          <a:p>
            <a:pPr marL="783372" indent="-586089">
              <a:buSzPct val="45000"/>
              <a:buNone/>
              <a:tabLst>
                <a:tab pos="656650" algn="l"/>
                <a:tab pos="1313299" algn="l"/>
                <a:tab pos="1969949" algn="l"/>
                <a:tab pos="2626599" algn="l"/>
                <a:tab pos="3283248" algn="l"/>
                <a:tab pos="3939898" algn="l"/>
                <a:tab pos="4596548" algn="l"/>
                <a:tab pos="5253198" algn="l"/>
                <a:tab pos="5909847" algn="l"/>
                <a:tab pos="6566497" algn="l"/>
                <a:tab pos="7223147" algn="l"/>
              </a:tabLst>
            </a:pPr>
            <a:endParaRPr lang="en-US" altLang="en-US" dirty="0"/>
          </a:p>
          <a:p>
            <a:pPr marL="783372" indent="-586089">
              <a:buSzPct val="45000"/>
              <a:buNone/>
              <a:tabLst>
                <a:tab pos="656650" algn="l"/>
                <a:tab pos="1313299" algn="l"/>
                <a:tab pos="1969949" algn="l"/>
                <a:tab pos="2626599" algn="l"/>
                <a:tab pos="3283248" algn="l"/>
                <a:tab pos="3939898" algn="l"/>
                <a:tab pos="4596548" algn="l"/>
                <a:tab pos="5253198" algn="l"/>
                <a:tab pos="5909847" algn="l"/>
                <a:tab pos="6566497" algn="l"/>
                <a:tab pos="7223147" algn="l"/>
              </a:tabLst>
            </a:pPr>
            <a:r>
              <a:rPr lang="en-US" altLang="en-US" sz="2400" dirty="0"/>
              <a:t>The introductory paragraph includes at least these two things:</a:t>
            </a:r>
          </a:p>
          <a:p>
            <a:pPr marL="195843" lvl="1" indent="0">
              <a:spcAft>
                <a:spcPts val="1293"/>
              </a:spcAft>
              <a:buSzPct val="45000"/>
              <a:buNone/>
              <a:tabLst>
                <a:tab pos="656650" algn="l"/>
                <a:tab pos="1313299" algn="l"/>
                <a:tab pos="1969949" algn="l"/>
                <a:tab pos="2626599" algn="l"/>
                <a:tab pos="3283248" algn="l"/>
                <a:tab pos="3939898" algn="l"/>
                <a:tab pos="4596548" algn="l"/>
                <a:tab pos="5253198" algn="l"/>
                <a:tab pos="5909847" algn="l"/>
                <a:tab pos="6566497" algn="l"/>
                <a:tab pos="7223147" algn="l"/>
              </a:tabLst>
            </a:pPr>
            <a:r>
              <a:rPr lang="en-US" altLang="en-US" sz="2400" u="sng" dirty="0">
                <a:latin typeface="Times New Roman" panose="02020603050405020304" pitchFamily="18" charset="0"/>
                <a:cs typeface="Times New Roman" panose="02020603050405020304" pitchFamily="18" charset="0"/>
              </a:rPr>
              <a:t>1. The Topic</a:t>
            </a:r>
          </a:p>
          <a:p>
            <a:pPr marL="195843" lvl="1" indent="0">
              <a:spcAft>
                <a:spcPts val="1293"/>
              </a:spcAft>
              <a:buSzPct val="45000"/>
              <a:buNone/>
              <a:tabLst>
                <a:tab pos="656650" algn="l"/>
                <a:tab pos="1313299" algn="l"/>
                <a:tab pos="1969949" algn="l"/>
                <a:tab pos="2626599" algn="l"/>
                <a:tab pos="3283248" algn="l"/>
                <a:tab pos="3939898" algn="l"/>
                <a:tab pos="4596548" algn="l"/>
                <a:tab pos="5253198" algn="l"/>
                <a:tab pos="5909847" algn="l"/>
                <a:tab pos="6566497" algn="l"/>
                <a:tab pos="7223147" algn="l"/>
              </a:tabLst>
            </a:pPr>
            <a:r>
              <a:rPr lang="en-US" altLang="en-US" sz="2400" dirty="0"/>
              <a:t>You need to explain the topic, in other words, provide background/general information about the topic so that your readers are ready or interested. </a:t>
            </a:r>
          </a:p>
          <a:p>
            <a:pPr marL="783372" indent="-586089">
              <a:buSzPct val="45000"/>
              <a:buNone/>
              <a:tabLst>
                <a:tab pos="656650" algn="l"/>
                <a:tab pos="1313299" algn="l"/>
                <a:tab pos="1969949" algn="l"/>
                <a:tab pos="2626599" algn="l"/>
                <a:tab pos="3283248" algn="l"/>
                <a:tab pos="3939898" algn="l"/>
                <a:tab pos="4596548" algn="l"/>
                <a:tab pos="5253198" algn="l"/>
                <a:tab pos="5909847" algn="l"/>
                <a:tab pos="6566497" algn="l"/>
                <a:tab pos="7223147" algn="l"/>
              </a:tabLst>
            </a:pPr>
            <a:r>
              <a:rPr lang="en-US" altLang="en-US" sz="2400" u="sng" dirty="0">
                <a:latin typeface="Times New Roman" panose="02020603050405020304" pitchFamily="18" charset="0"/>
                <a:cs typeface="Times New Roman" panose="02020603050405020304" pitchFamily="18" charset="0"/>
              </a:rPr>
              <a:t>2. Your main idea (thesis statement)</a:t>
            </a:r>
          </a:p>
          <a:p>
            <a:pPr marL="783372" indent="-586089">
              <a:buSzPct val="45000"/>
              <a:buNone/>
              <a:tabLst>
                <a:tab pos="656650" algn="l"/>
                <a:tab pos="1313299" algn="l"/>
                <a:tab pos="1969949" algn="l"/>
                <a:tab pos="2626599" algn="l"/>
                <a:tab pos="3283248" algn="l"/>
                <a:tab pos="3939898" algn="l"/>
                <a:tab pos="4596548" algn="l"/>
                <a:tab pos="5253198" algn="l"/>
                <a:tab pos="5909847" algn="l"/>
                <a:tab pos="6566497" algn="l"/>
                <a:tab pos="7223147" algn="l"/>
              </a:tabLst>
            </a:pPr>
            <a:r>
              <a:rPr lang="en-US" altLang="en-US" sz="2400" dirty="0">
                <a:latin typeface="Times New Roman" panose="02020603050405020304" pitchFamily="18" charset="0"/>
                <a:cs typeface="Times New Roman" panose="02020603050405020304" pitchFamily="18" charset="0"/>
              </a:rPr>
              <a:t>	You need to state clearly your main idea so that your readers can follow easily. </a:t>
            </a:r>
          </a:p>
        </p:txBody>
      </p:sp>
      <p:sp>
        <p:nvSpPr>
          <p:cNvPr id="2" name="Slide Number Placeholder 1"/>
          <p:cNvSpPr>
            <a:spLocks noGrp="1"/>
          </p:cNvSpPr>
          <p:nvPr>
            <p:ph type="sldNum" sz="quarter" idx="12"/>
          </p:nvPr>
        </p:nvSpPr>
        <p:spPr/>
        <p:txBody>
          <a:bodyPr/>
          <a:lstStyle/>
          <a:p>
            <a:fld id="{6E2D2B3B-882E-40F3-A32F-6DD516915044}" type="slidenum">
              <a:rPr lang="en-US" smtClean="0"/>
              <a:pPr/>
              <a:t>12</a:t>
            </a:fld>
            <a:endParaRPr lang="en-US"/>
          </a:p>
        </p:txBody>
      </p:sp>
    </p:spTree>
    <p:extLst>
      <p:ext uri="{BB962C8B-B14F-4D97-AF65-F5344CB8AC3E}">
        <p14:creationId xmlns:p14="http://schemas.microsoft.com/office/powerpoint/2010/main" val="376348225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CA" altLang="fr-FR" sz="3266"/>
              <a:t>Identify the thesis statement</a:t>
            </a:r>
          </a:p>
        </p:txBody>
      </p:sp>
      <p:sp>
        <p:nvSpPr>
          <p:cNvPr id="6147" name="Content Placeholder 2"/>
          <p:cNvSpPr>
            <a:spLocks noGrp="1"/>
          </p:cNvSpPr>
          <p:nvPr>
            <p:ph idx="1"/>
          </p:nvPr>
        </p:nvSpPr>
        <p:spPr>
          <a:xfrm>
            <a:off x="456481" y="1623241"/>
            <a:ext cx="8164800" cy="5061600"/>
          </a:xfrm>
        </p:spPr>
        <p:txBody>
          <a:bodyPr/>
          <a:lstStyle/>
          <a:p>
            <a:pPr marL="0" indent="0"/>
            <a:r>
              <a:rPr lang="en-CA" altLang="fr-FR" sz="2540"/>
              <a:t>The thesis statement is also called the main idea. It should be stated clearly in your introduction. Identify the thesis statement in the following introduction:</a:t>
            </a:r>
          </a:p>
          <a:p>
            <a:pPr marL="0" indent="0"/>
            <a:endParaRPr lang="en-CA" altLang="fr-FR" sz="2540"/>
          </a:p>
          <a:p>
            <a:pPr marL="0" indent="0"/>
            <a:r>
              <a:rPr lang="en-CA" altLang="fr-FR" sz="2540"/>
              <a:t>“Canada is a materialistic nation. At a young age, children watch commercials about breakfast cereals and toys, and they learn to desire those items. In fact, the average child sees thousands of advertisements before the age of six. Advertisers have too much influence in our culture.”</a:t>
            </a:r>
          </a:p>
        </p:txBody>
      </p:sp>
      <p:sp>
        <p:nvSpPr>
          <p:cNvPr id="2" name="Slide Number Placeholder 1"/>
          <p:cNvSpPr>
            <a:spLocks noGrp="1"/>
          </p:cNvSpPr>
          <p:nvPr>
            <p:ph type="sldNum" sz="quarter" idx="12"/>
          </p:nvPr>
        </p:nvSpPr>
        <p:spPr/>
        <p:txBody>
          <a:bodyPr/>
          <a:lstStyle/>
          <a:p>
            <a:fld id="{6E2D2B3B-882E-40F3-A32F-6DD516915044}" type="slidenum">
              <a:rPr lang="en-US" smtClean="0"/>
              <a:pPr/>
              <a:t>13</a:t>
            </a:fld>
            <a:endParaRPr lang="en-US"/>
          </a:p>
        </p:txBody>
      </p:sp>
    </p:spTree>
    <p:extLst>
      <p:ext uri="{BB962C8B-B14F-4D97-AF65-F5344CB8AC3E}">
        <p14:creationId xmlns:p14="http://schemas.microsoft.com/office/powerpoint/2010/main" val="1197095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p:cNvSpPr>
            <a:spLocks noGrp="1" noChangeArrowheads="1"/>
          </p:cNvSpPr>
          <p:nvPr>
            <p:ph type="title"/>
          </p:nvPr>
        </p:nvSpPr>
        <p:spPr>
          <a:xfrm>
            <a:off x="456481" y="502921"/>
            <a:ext cx="8033760" cy="1144800"/>
          </a:xfrm>
        </p:spPr>
        <p:txBody>
          <a:bodyPr vert="horz" lIns="91440" tIns="35202" rIns="91440" bIns="45720" rtlCol="0" anchor="ctr">
            <a:noAutofit/>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en-US"/>
              <a:t>Example 1</a:t>
            </a:r>
          </a:p>
        </p:txBody>
      </p:sp>
      <p:sp>
        <p:nvSpPr>
          <p:cNvPr id="7171" name="Rectangle 2"/>
          <p:cNvSpPr>
            <a:spLocks noGrp="1" noChangeArrowheads="1"/>
          </p:cNvSpPr>
          <p:nvPr>
            <p:ph type="body" idx="1"/>
          </p:nvPr>
        </p:nvSpPr>
        <p:spPr>
          <a:xfrm>
            <a:off x="87991" y="1796041"/>
            <a:ext cx="8291734" cy="4572000"/>
          </a:xfrm>
        </p:spPr>
        <p:txBody>
          <a:bodyPr vert="horz" lIns="91440" tIns="14858" rIns="91440" bIns="45720" rtlCol="0">
            <a:normAutofit/>
          </a:bodyPr>
          <a:lstStyle/>
          <a:p>
            <a:pPr>
              <a:lnSpc>
                <a:spcPct val="95000"/>
              </a:lnSpc>
              <a:tabLst>
                <a:tab pos="656650" algn="l"/>
                <a:tab pos="1313299" algn="l"/>
                <a:tab pos="1969949" algn="l"/>
                <a:tab pos="2626599" algn="l"/>
                <a:tab pos="3283248" algn="l"/>
                <a:tab pos="3939898" algn="l"/>
                <a:tab pos="4596548" algn="l"/>
                <a:tab pos="5253198" algn="l"/>
                <a:tab pos="5909847" algn="l"/>
                <a:tab pos="6566497" algn="l"/>
                <a:tab pos="7223147" algn="l"/>
              </a:tabLst>
            </a:pPr>
            <a:r>
              <a:rPr lang="en-CA" altLang="en-US" sz="2800" dirty="0">
                <a:latin typeface="Times New Roman" panose="02020603050405020304" pitchFamily="18" charset="0"/>
              </a:rPr>
              <a:t>“Some people like to eat out at food stands and restaurants, while others like to prepare food at home. Often it depends on the kind of lifestyle people have. Those with very busy jobs outside the house don't always have time to cook. They like the convenience of eating out. Overall, though, it is cheaper and healthier to eat at home.”</a:t>
            </a:r>
          </a:p>
          <a:p>
            <a:pPr>
              <a:lnSpc>
                <a:spcPct val="95000"/>
              </a:lnSpc>
              <a:tabLst>
                <a:tab pos="656650" algn="l"/>
                <a:tab pos="1313299" algn="l"/>
                <a:tab pos="1969949" algn="l"/>
                <a:tab pos="2626599" algn="l"/>
                <a:tab pos="3283248" algn="l"/>
                <a:tab pos="3939898" algn="l"/>
                <a:tab pos="4596548" algn="l"/>
                <a:tab pos="5253198" algn="l"/>
                <a:tab pos="5909847" algn="l"/>
                <a:tab pos="6566497" algn="l"/>
                <a:tab pos="7223147" algn="l"/>
              </a:tabLst>
            </a:pPr>
            <a:endParaRPr lang="en-CA" altLang="en-US" sz="2358" dirty="0">
              <a:latin typeface="Times New Roman" panose="02020603050405020304" pitchFamily="18" charset="0"/>
            </a:endParaRPr>
          </a:p>
          <a:p>
            <a:pPr algn="ctr">
              <a:lnSpc>
                <a:spcPct val="95000"/>
              </a:lnSpc>
              <a:tabLst>
                <a:tab pos="656650" algn="l"/>
                <a:tab pos="1313299" algn="l"/>
                <a:tab pos="1969949" algn="l"/>
                <a:tab pos="2626599" algn="l"/>
                <a:tab pos="3283248" algn="l"/>
                <a:tab pos="3939898" algn="l"/>
                <a:tab pos="4596548" algn="l"/>
                <a:tab pos="5253198" algn="l"/>
                <a:tab pos="5909847" algn="l"/>
                <a:tab pos="6566497" algn="l"/>
                <a:tab pos="7223147" algn="l"/>
              </a:tabLst>
            </a:pPr>
            <a:r>
              <a:rPr lang="en-CA" altLang="en-US" sz="2540" i="1" dirty="0">
                <a:latin typeface="Times New Roman" panose="02020603050405020304" pitchFamily="18" charset="0"/>
              </a:rPr>
              <a:t>Question: What is the main idea? </a:t>
            </a:r>
          </a:p>
        </p:txBody>
      </p:sp>
      <p:sp>
        <p:nvSpPr>
          <p:cNvPr id="2" name="Slide Number Placeholder 1"/>
          <p:cNvSpPr>
            <a:spLocks noGrp="1"/>
          </p:cNvSpPr>
          <p:nvPr>
            <p:ph type="sldNum" sz="quarter" idx="12"/>
          </p:nvPr>
        </p:nvSpPr>
        <p:spPr/>
        <p:txBody>
          <a:bodyPr/>
          <a:lstStyle/>
          <a:p>
            <a:fld id="{6E2D2B3B-882E-40F3-A32F-6DD516915044}" type="slidenum">
              <a:rPr lang="en-US" smtClean="0"/>
              <a:pPr/>
              <a:t>14</a:t>
            </a:fld>
            <a:endParaRPr lang="en-US"/>
          </a:p>
        </p:txBody>
      </p:sp>
    </p:spTree>
    <p:extLst>
      <p:ext uri="{BB962C8B-B14F-4D97-AF65-F5344CB8AC3E}">
        <p14:creationId xmlns:p14="http://schemas.microsoft.com/office/powerpoint/2010/main" val="299889055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noChangeArrowheads="1"/>
          </p:cNvSpPr>
          <p:nvPr>
            <p:ph type="title"/>
          </p:nvPr>
        </p:nvSpPr>
        <p:spPr>
          <a:xfrm>
            <a:off x="456481" y="502921"/>
            <a:ext cx="8033760" cy="1144800"/>
          </a:xfrm>
        </p:spPr>
        <p:txBody>
          <a:bodyPr vert="horz" lIns="91440" tIns="35202" rIns="91440" bIns="45720" rtlCol="0" anchor="ctr">
            <a:noAutofit/>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en-US"/>
              <a:t>Example 2</a:t>
            </a:r>
          </a:p>
        </p:txBody>
      </p:sp>
      <p:sp>
        <p:nvSpPr>
          <p:cNvPr id="9219" name="Rectangle 2"/>
          <p:cNvSpPr>
            <a:spLocks noGrp="1" noChangeArrowheads="1"/>
          </p:cNvSpPr>
          <p:nvPr>
            <p:ph type="body" idx="1"/>
          </p:nvPr>
        </p:nvSpPr>
        <p:spPr>
          <a:xfrm>
            <a:off x="1" y="1796040"/>
            <a:ext cx="8366078" cy="5061959"/>
          </a:xfrm>
        </p:spPr>
        <p:txBody>
          <a:bodyPr vert="horz" lIns="91440" tIns="14858" rIns="91440" bIns="45720" rtlCol="0">
            <a:normAutofit/>
          </a:bodyPr>
          <a:lstStyle/>
          <a:p>
            <a:pPr>
              <a:lnSpc>
                <a:spcPct val="95000"/>
              </a:lnSpc>
              <a:tabLst>
                <a:tab pos="656650" algn="l"/>
                <a:tab pos="1313299" algn="l"/>
                <a:tab pos="1969949" algn="l"/>
                <a:tab pos="2626599" algn="l"/>
                <a:tab pos="3283248" algn="l"/>
                <a:tab pos="3939898" algn="l"/>
                <a:tab pos="4596548" algn="l"/>
                <a:tab pos="5253198" algn="l"/>
                <a:tab pos="5909847" algn="l"/>
                <a:tab pos="6566497" algn="l"/>
                <a:tab pos="7223147" algn="l"/>
              </a:tabLst>
            </a:pPr>
            <a:r>
              <a:rPr lang="en-CA" altLang="en-US" sz="3200" dirty="0">
                <a:latin typeface="Times New Roman" panose="02020603050405020304" pitchFamily="18" charset="0"/>
              </a:rPr>
              <a:t>“Throughout my life, I have been lucky enough to have a very good relationship with my parents. They have supported me, given me necessary criticism, and taught me a great deal about how to live my life. Parents can be very important teachers in our lives; however, they are not always the best teachers.”</a:t>
            </a:r>
          </a:p>
          <a:p>
            <a:pPr marL="114300" indent="0">
              <a:lnSpc>
                <a:spcPct val="95000"/>
              </a:lnSpc>
              <a:buNone/>
              <a:tabLst>
                <a:tab pos="656650" algn="l"/>
                <a:tab pos="1313299" algn="l"/>
                <a:tab pos="1969949" algn="l"/>
                <a:tab pos="2626599" algn="l"/>
                <a:tab pos="3283248" algn="l"/>
                <a:tab pos="3939898" algn="l"/>
                <a:tab pos="4596548" algn="l"/>
                <a:tab pos="5253198" algn="l"/>
                <a:tab pos="5909847" algn="l"/>
                <a:tab pos="6566497" algn="l"/>
                <a:tab pos="7223147" algn="l"/>
              </a:tabLst>
            </a:pPr>
            <a:endParaRPr lang="en-CA" altLang="en-US" sz="3200" dirty="0">
              <a:latin typeface="Times New Roman" panose="02020603050405020304" pitchFamily="18" charset="0"/>
            </a:endParaRPr>
          </a:p>
          <a:p>
            <a:pPr algn="ctr">
              <a:lnSpc>
                <a:spcPct val="95000"/>
              </a:lnSpc>
              <a:tabLst>
                <a:tab pos="656650" algn="l"/>
                <a:tab pos="1313299" algn="l"/>
                <a:tab pos="1969949" algn="l"/>
                <a:tab pos="2626599" algn="l"/>
                <a:tab pos="3283248" algn="l"/>
                <a:tab pos="3939898" algn="l"/>
                <a:tab pos="4596548" algn="l"/>
                <a:tab pos="5253198" algn="l"/>
                <a:tab pos="5909847" algn="l"/>
                <a:tab pos="6566497" algn="l"/>
                <a:tab pos="7223147" algn="l"/>
              </a:tabLst>
            </a:pPr>
            <a:r>
              <a:rPr lang="en-CA" altLang="en-US" i="1" dirty="0">
                <a:latin typeface="Times New Roman" panose="02020603050405020304" pitchFamily="18" charset="0"/>
              </a:rPr>
              <a:t>Question: What is the main idea? </a:t>
            </a:r>
          </a:p>
        </p:txBody>
      </p:sp>
      <p:sp>
        <p:nvSpPr>
          <p:cNvPr id="2" name="Slide Number Placeholder 1"/>
          <p:cNvSpPr>
            <a:spLocks noGrp="1"/>
          </p:cNvSpPr>
          <p:nvPr>
            <p:ph type="sldNum" sz="quarter" idx="12"/>
          </p:nvPr>
        </p:nvSpPr>
        <p:spPr/>
        <p:txBody>
          <a:bodyPr/>
          <a:lstStyle/>
          <a:p>
            <a:fld id="{6E2D2B3B-882E-40F3-A32F-6DD516915044}" type="slidenum">
              <a:rPr lang="en-US" smtClean="0"/>
              <a:pPr/>
              <a:t>15</a:t>
            </a:fld>
            <a:endParaRPr lang="en-US"/>
          </a:p>
        </p:txBody>
      </p:sp>
    </p:spTree>
    <p:extLst>
      <p:ext uri="{BB962C8B-B14F-4D97-AF65-F5344CB8AC3E}">
        <p14:creationId xmlns:p14="http://schemas.microsoft.com/office/powerpoint/2010/main" val="428638968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CA" altLang="fr-FR" sz="2903"/>
              <a:t>Common problems with </a:t>
            </a:r>
            <a:r>
              <a:rPr lang="en-CA" altLang="fr-FR" sz="2903">
                <a:solidFill>
                  <a:srgbClr val="FF0000"/>
                </a:solidFill>
              </a:rPr>
              <a:t>ineffective</a:t>
            </a:r>
            <a:r>
              <a:rPr lang="en-CA" altLang="fr-FR" sz="2903"/>
              <a:t> thesis statements</a:t>
            </a:r>
          </a:p>
        </p:txBody>
      </p:sp>
      <p:sp>
        <p:nvSpPr>
          <p:cNvPr id="11267" name="Content Placeholder 2"/>
          <p:cNvSpPr>
            <a:spLocks noGrp="1"/>
          </p:cNvSpPr>
          <p:nvPr>
            <p:ph idx="1"/>
          </p:nvPr>
        </p:nvSpPr>
        <p:spPr>
          <a:xfrm>
            <a:off x="0" y="1600200"/>
            <a:ext cx="8531788" cy="4800600"/>
          </a:xfrm>
        </p:spPr>
        <p:txBody>
          <a:bodyPr>
            <a:normAutofit/>
          </a:bodyPr>
          <a:lstStyle/>
          <a:p>
            <a:r>
              <a:rPr lang="en-CA" altLang="fr-FR" sz="2800" b="1" u="sng" dirty="0"/>
              <a:t>Announcement</a:t>
            </a:r>
          </a:p>
          <a:p>
            <a:r>
              <a:rPr lang="en-CA" altLang="fr-FR" sz="2800" dirty="0"/>
              <a:t>“I will talk about medical innovations.”</a:t>
            </a:r>
          </a:p>
          <a:p>
            <a:r>
              <a:rPr lang="en-CA" altLang="fr-FR" sz="2800" b="1" u="sng" dirty="0"/>
              <a:t>Obvious</a:t>
            </a:r>
          </a:p>
          <a:p>
            <a:r>
              <a:rPr lang="en-CA" altLang="fr-FR" sz="2800" dirty="0"/>
              <a:t>“It’s important to have good health.”</a:t>
            </a:r>
          </a:p>
          <a:p>
            <a:r>
              <a:rPr lang="en-CA" altLang="fr-FR" sz="2800" b="1" u="sng" dirty="0"/>
              <a:t>Vague</a:t>
            </a:r>
          </a:p>
          <a:p>
            <a:r>
              <a:rPr lang="en-CA" altLang="fr-FR" sz="2800" dirty="0"/>
              <a:t>“There are many technological advancements.”</a:t>
            </a:r>
          </a:p>
          <a:p>
            <a:r>
              <a:rPr lang="en-CA" altLang="fr-FR" sz="2800" b="1" u="sng" dirty="0"/>
              <a:t>Question </a:t>
            </a:r>
          </a:p>
          <a:p>
            <a:r>
              <a:rPr lang="en-CA" altLang="fr-FR" sz="2800" dirty="0"/>
              <a:t>“Why should we apply these new methods?”</a:t>
            </a:r>
          </a:p>
        </p:txBody>
      </p:sp>
      <p:sp>
        <p:nvSpPr>
          <p:cNvPr id="2" name="Slide Number Placeholder 1"/>
          <p:cNvSpPr>
            <a:spLocks noGrp="1"/>
          </p:cNvSpPr>
          <p:nvPr>
            <p:ph type="sldNum" sz="quarter" idx="12"/>
          </p:nvPr>
        </p:nvSpPr>
        <p:spPr/>
        <p:txBody>
          <a:bodyPr/>
          <a:lstStyle/>
          <a:p>
            <a:fld id="{6E2D2B3B-882E-40F3-A32F-6DD516915044}" type="slidenum">
              <a:rPr lang="en-US" smtClean="0"/>
              <a:pPr/>
              <a:t>16</a:t>
            </a:fld>
            <a:endParaRPr lang="en-US"/>
          </a:p>
        </p:txBody>
      </p:sp>
    </p:spTree>
    <p:extLst>
      <p:ext uri="{BB962C8B-B14F-4D97-AF65-F5344CB8AC3E}">
        <p14:creationId xmlns:p14="http://schemas.microsoft.com/office/powerpoint/2010/main" val="18826389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CA" altLang="fr-FR" sz="3628" dirty="0"/>
              <a:t>Are these good thesis statements?</a:t>
            </a:r>
          </a:p>
        </p:txBody>
      </p:sp>
      <p:sp>
        <p:nvSpPr>
          <p:cNvPr id="12291" name="Content Placeholder 2"/>
          <p:cNvSpPr>
            <a:spLocks noGrp="1"/>
          </p:cNvSpPr>
          <p:nvPr>
            <p:ph idx="1"/>
          </p:nvPr>
        </p:nvSpPr>
        <p:spPr>
          <a:xfrm>
            <a:off x="195841" y="1796041"/>
            <a:ext cx="8948160" cy="4572000"/>
          </a:xfrm>
        </p:spPr>
        <p:txBody>
          <a:bodyPr/>
          <a:lstStyle/>
          <a:p>
            <a:pPr>
              <a:buFont typeface="Arial" panose="020B0604020202020204" pitchFamily="34" charset="0"/>
              <a:buAutoNum type="arabicPeriod"/>
            </a:pPr>
            <a:r>
              <a:rPr lang="en-CA" altLang="fr-FR" sz="2540" dirty="0"/>
              <a:t>In this paper, I will discuss the new methods to treat cancer.</a:t>
            </a:r>
          </a:p>
          <a:p>
            <a:pPr>
              <a:buFont typeface="Arial" panose="020B0604020202020204" pitchFamily="34" charset="0"/>
              <a:buAutoNum type="arabicPeriod"/>
            </a:pPr>
            <a:r>
              <a:rPr lang="en-CA" altLang="fr-FR" sz="2540" dirty="0"/>
              <a:t>Some innovations in this field are very important.</a:t>
            </a:r>
          </a:p>
          <a:p>
            <a:pPr>
              <a:buFont typeface="Arial" panose="020B0604020202020204" pitchFamily="34" charset="0"/>
              <a:buAutoNum type="arabicPeriod"/>
            </a:pPr>
            <a:r>
              <a:rPr lang="en-CA" altLang="fr-FR" sz="2540" dirty="0"/>
              <a:t>Why should people learn new languages?</a:t>
            </a:r>
          </a:p>
          <a:p>
            <a:pPr>
              <a:buFont typeface="Arial" panose="020B0604020202020204" pitchFamily="34" charset="0"/>
              <a:buAutoNum type="arabicPeriod"/>
            </a:pPr>
            <a:r>
              <a:rPr lang="en-CA" altLang="fr-FR" sz="2540" dirty="0"/>
              <a:t>Digital platforms for learning have both advantages and disadvantages.  </a:t>
            </a:r>
          </a:p>
          <a:p>
            <a:endParaRPr lang="en-CA" altLang="fr-FR" dirty="0"/>
          </a:p>
        </p:txBody>
      </p:sp>
      <p:sp>
        <p:nvSpPr>
          <p:cNvPr id="2" name="Slide Number Placeholder 1"/>
          <p:cNvSpPr>
            <a:spLocks noGrp="1"/>
          </p:cNvSpPr>
          <p:nvPr>
            <p:ph type="sldNum" sz="quarter" idx="12"/>
          </p:nvPr>
        </p:nvSpPr>
        <p:spPr/>
        <p:txBody>
          <a:bodyPr/>
          <a:lstStyle/>
          <a:p>
            <a:fld id="{6E2D2B3B-882E-40F3-A32F-6DD516915044}" type="slidenum">
              <a:rPr lang="en-US" smtClean="0"/>
              <a:pPr/>
              <a:t>17</a:t>
            </a:fld>
            <a:endParaRPr lang="en-US"/>
          </a:p>
        </p:txBody>
      </p:sp>
    </p:spTree>
    <p:extLst>
      <p:ext uri="{BB962C8B-B14F-4D97-AF65-F5344CB8AC3E}">
        <p14:creationId xmlns:p14="http://schemas.microsoft.com/office/powerpoint/2010/main" val="3612949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
          <p:cNvSpPr>
            <a:spLocks noGrp="1" noChangeArrowheads="1"/>
          </p:cNvSpPr>
          <p:nvPr>
            <p:ph type="title"/>
          </p:nvPr>
        </p:nvSpPr>
        <p:spPr>
          <a:xfrm>
            <a:off x="456481" y="502921"/>
            <a:ext cx="8033760" cy="1144800"/>
          </a:xfrm>
        </p:spPr>
        <p:txBody>
          <a:bodyPr vert="horz" lIns="91440" tIns="20573" rIns="91440" bIns="45720" rtlCol="0" anchor="ctr">
            <a:noAutofit/>
          </a:bodyPr>
          <a:lstStyle/>
          <a:p>
            <a:pPr>
              <a:lnSpc>
                <a:spcPct val="95000"/>
              </a:lnSpc>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US" altLang="en-US" sz="3266" dirty="0">
                <a:latin typeface="Times New Roman" panose="02020603050405020304" pitchFamily="18" charset="0"/>
              </a:rPr>
              <a:t>The Conclusion Paragraph </a:t>
            </a:r>
          </a:p>
        </p:txBody>
      </p:sp>
      <p:sp>
        <p:nvSpPr>
          <p:cNvPr id="3075" name="Rectangle 2"/>
          <p:cNvSpPr>
            <a:spLocks noGrp="1" noChangeArrowheads="1"/>
          </p:cNvSpPr>
          <p:nvPr>
            <p:ph type="body" idx="1"/>
          </p:nvPr>
        </p:nvSpPr>
        <p:spPr>
          <a:xfrm>
            <a:off x="0" y="1796040"/>
            <a:ext cx="8490241" cy="5061959"/>
          </a:xfrm>
        </p:spPr>
        <p:txBody>
          <a:bodyPr/>
          <a:lstStyle/>
          <a:p>
            <a:pPr marL="783372" indent="-581769">
              <a:buClrTx/>
              <a:buSzPct val="45000"/>
              <a:buNone/>
              <a:tabLst>
                <a:tab pos="783372" algn="l"/>
                <a:tab pos="878413" algn="l"/>
                <a:tab pos="1285939" algn="l"/>
                <a:tab pos="1693465" algn="l"/>
                <a:tab pos="2100991" algn="l"/>
                <a:tab pos="2508517" algn="l"/>
                <a:tab pos="2916043" algn="l"/>
                <a:tab pos="3323569" algn="l"/>
                <a:tab pos="3731096" algn="l"/>
                <a:tab pos="4138621" algn="l"/>
                <a:tab pos="4546148" algn="l"/>
                <a:tab pos="4953673" algn="l"/>
                <a:tab pos="5361200" algn="l"/>
                <a:tab pos="5768725" algn="l"/>
                <a:tab pos="6176252" algn="l"/>
                <a:tab pos="6583777" algn="l"/>
                <a:tab pos="6991304" algn="l"/>
                <a:tab pos="7398829" algn="l"/>
                <a:tab pos="7806356" algn="l"/>
                <a:tab pos="8213881" algn="l"/>
                <a:tab pos="8621408" algn="l"/>
              </a:tabLst>
            </a:pPr>
            <a:endParaRPr lang="en-US" altLang="en-US" dirty="0"/>
          </a:p>
          <a:p>
            <a:pPr marL="783372" indent="-581769">
              <a:buClrTx/>
              <a:buSzPct val="45000"/>
              <a:buNone/>
              <a:tabLst>
                <a:tab pos="783372" algn="l"/>
                <a:tab pos="878413" algn="l"/>
                <a:tab pos="1285939" algn="l"/>
                <a:tab pos="1693465" algn="l"/>
                <a:tab pos="2100991" algn="l"/>
                <a:tab pos="2508517" algn="l"/>
                <a:tab pos="2916043" algn="l"/>
                <a:tab pos="3323569" algn="l"/>
                <a:tab pos="3731096" algn="l"/>
                <a:tab pos="4138621" algn="l"/>
                <a:tab pos="4546148" algn="l"/>
                <a:tab pos="4953673" algn="l"/>
                <a:tab pos="5361200" algn="l"/>
                <a:tab pos="5768725" algn="l"/>
                <a:tab pos="6176252" algn="l"/>
                <a:tab pos="6583777" algn="l"/>
                <a:tab pos="6991304" algn="l"/>
                <a:tab pos="7398829" algn="l"/>
                <a:tab pos="7806356" algn="l"/>
                <a:tab pos="8213881" algn="l"/>
                <a:tab pos="8621408" algn="l"/>
              </a:tabLst>
            </a:pPr>
            <a:r>
              <a:rPr lang="en-US" altLang="en-US" sz="2800" dirty="0">
                <a:latin typeface="Times New Roman" panose="02020603050405020304" pitchFamily="18" charset="0"/>
                <a:cs typeface="Times New Roman" panose="02020603050405020304" pitchFamily="18" charset="0"/>
              </a:rPr>
              <a:t>A good conclusion </a:t>
            </a:r>
            <a:r>
              <a:rPr lang="en-US" altLang="en-US" sz="2800" b="1" dirty="0">
                <a:solidFill>
                  <a:srgbClr val="00B0F0"/>
                </a:solidFill>
                <a:latin typeface="Times New Roman" panose="02020603050405020304" pitchFamily="18" charset="0"/>
                <a:cs typeface="Times New Roman" panose="02020603050405020304" pitchFamily="18" charset="0"/>
              </a:rPr>
              <a:t>restates the main points </a:t>
            </a:r>
            <a:r>
              <a:rPr lang="en-US" altLang="en-US" sz="2800" dirty="0">
                <a:latin typeface="Times New Roman" panose="02020603050405020304" pitchFamily="18" charset="0"/>
                <a:cs typeface="Times New Roman" panose="02020603050405020304" pitchFamily="18" charset="0"/>
              </a:rPr>
              <a:t>and </a:t>
            </a:r>
            <a:r>
              <a:rPr lang="en-US" altLang="en-US" sz="2800" b="1" dirty="0">
                <a:solidFill>
                  <a:srgbClr val="00B0F0"/>
                </a:solidFill>
                <a:latin typeface="Times New Roman" panose="02020603050405020304" pitchFamily="18" charset="0"/>
                <a:cs typeface="Times New Roman" panose="02020603050405020304" pitchFamily="18" charset="0"/>
              </a:rPr>
              <a:t>does not introduce new ideas!</a:t>
            </a:r>
          </a:p>
          <a:p>
            <a:pPr marL="783372" indent="-581769">
              <a:buClrTx/>
              <a:buSzPct val="45000"/>
              <a:buNone/>
              <a:tabLst>
                <a:tab pos="783372" algn="l"/>
                <a:tab pos="878413" algn="l"/>
                <a:tab pos="1285939" algn="l"/>
                <a:tab pos="1693465" algn="l"/>
                <a:tab pos="2100991" algn="l"/>
                <a:tab pos="2508517" algn="l"/>
                <a:tab pos="2916043" algn="l"/>
                <a:tab pos="3323569" algn="l"/>
                <a:tab pos="3731096" algn="l"/>
                <a:tab pos="4138621" algn="l"/>
                <a:tab pos="4546148" algn="l"/>
                <a:tab pos="4953673" algn="l"/>
                <a:tab pos="5361200" algn="l"/>
                <a:tab pos="5768725" algn="l"/>
                <a:tab pos="6176252" algn="l"/>
                <a:tab pos="6583777" algn="l"/>
                <a:tab pos="6991304" algn="l"/>
                <a:tab pos="7398829" algn="l"/>
                <a:tab pos="7806356" algn="l"/>
                <a:tab pos="8213881" algn="l"/>
                <a:tab pos="8621408" algn="l"/>
              </a:tabLst>
            </a:pPr>
            <a:endParaRPr lang="en-US" altLang="en-US" dirty="0"/>
          </a:p>
        </p:txBody>
      </p:sp>
      <p:sp>
        <p:nvSpPr>
          <p:cNvPr id="2" name="Slide Number Placeholder 1"/>
          <p:cNvSpPr>
            <a:spLocks noGrp="1"/>
          </p:cNvSpPr>
          <p:nvPr>
            <p:ph type="sldNum" sz="quarter" idx="12"/>
          </p:nvPr>
        </p:nvSpPr>
        <p:spPr/>
        <p:txBody>
          <a:bodyPr/>
          <a:lstStyle/>
          <a:p>
            <a:fld id="{6E2D2B3B-882E-40F3-A32F-6DD516915044}" type="slidenum">
              <a:rPr lang="en-US" smtClean="0"/>
              <a:pPr/>
              <a:t>18</a:t>
            </a:fld>
            <a:endParaRPr lang="en-US"/>
          </a:p>
        </p:txBody>
      </p:sp>
    </p:spTree>
    <p:extLst>
      <p:ext uri="{BB962C8B-B14F-4D97-AF65-F5344CB8AC3E}">
        <p14:creationId xmlns:p14="http://schemas.microsoft.com/office/powerpoint/2010/main" val="186810191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521281" y="102155"/>
            <a:ext cx="8033760" cy="1144800"/>
          </a:xfrm>
        </p:spPr>
        <p:txBody>
          <a:bodyPr vert="horz" lIns="91440" tIns="35268" rIns="91440" bIns="45720" rtlCol="0" anchor="ctr">
            <a:noAutofit/>
          </a:bodyPr>
          <a:lstStyle/>
          <a:p>
            <a:pPr>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CA" altLang="en-US" sz="3266" dirty="0">
                <a:latin typeface="Times New Roman" panose="02020603050405020304" pitchFamily="18" charset="0"/>
              </a:rPr>
              <a:t>Example 1 Learning about Finances</a:t>
            </a:r>
          </a:p>
        </p:txBody>
      </p:sp>
      <p:sp>
        <p:nvSpPr>
          <p:cNvPr id="5123" name="Rectangle 2"/>
          <p:cNvSpPr>
            <a:spLocks noGrp="1" noChangeArrowheads="1"/>
          </p:cNvSpPr>
          <p:nvPr>
            <p:ph type="body" idx="1"/>
          </p:nvPr>
        </p:nvSpPr>
        <p:spPr>
          <a:xfrm>
            <a:off x="0" y="1502281"/>
            <a:ext cx="8229601" cy="4734720"/>
          </a:xfrm>
        </p:spPr>
        <p:txBody>
          <a:bodyPr vert="horz" lIns="91440" tIns="15021" rIns="91440" bIns="45720" rtlCol="0">
            <a:normAutofit/>
          </a:bodyPr>
          <a:lstStyle/>
          <a:p>
            <a:pPr indent="-308165">
              <a:lnSpc>
                <a:spcPct val="95000"/>
              </a:lnSpc>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CA" altLang="en-US" sz="2358" b="1" dirty="0">
                <a:latin typeface="Times New Roman" panose="02020603050405020304" pitchFamily="18" charset="0"/>
              </a:rPr>
              <a:t> 1.</a:t>
            </a:r>
            <a:r>
              <a:rPr lang="en-CA" altLang="en-US" sz="2540" dirty="0">
                <a:latin typeface="Times New Roman" panose="02020603050405020304" pitchFamily="18" charset="0"/>
              </a:rPr>
              <a:t>“We need money to pay for food and clothing. We also need money for shelter. But if we make mistakes with our finances, this can cause a long-term disaster. Everyone should learn to use money responsibly.”</a:t>
            </a:r>
          </a:p>
          <a:p>
            <a:pPr indent="-308165">
              <a:lnSpc>
                <a:spcPct val="95000"/>
              </a:lnSpc>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endParaRPr lang="en-CA" altLang="en-US" sz="2540" dirty="0">
              <a:latin typeface="Times New Roman" panose="02020603050405020304" pitchFamily="18" charset="0"/>
            </a:endParaRPr>
          </a:p>
          <a:p>
            <a:pPr indent="-308165">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CA" altLang="en-US" sz="2540" dirty="0">
                <a:latin typeface="Times New Roman" panose="02020603050405020304" pitchFamily="18" charset="0"/>
              </a:rPr>
              <a:t>2. “Everybody needs to learn to make a budget and save money. There could be many unexpected events in life and we need to be financially responsible. So learning about finances is very important.”</a:t>
            </a:r>
          </a:p>
          <a:p>
            <a:pPr indent="-308165" algn="ctr">
              <a:lnSpc>
                <a:spcPct val="95000"/>
              </a:lnSpc>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endParaRPr lang="en-CA" altLang="en-US" sz="2358" b="1" i="1" dirty="0">
              <a:latin typeface="Times New Roman" panose="02020603050405020304" pitchFamily="18" charset="0"/>
            </a:endParaRPr>
          </a:p>
          <a:p>
            <a:pPr indent="-308165" algn="ctr">
              <a:lnSpc>
                <a:spcPct val="95000"/>
              </a:lnSpc>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CA" altLang="en-US" sz="2358" b="1" i="1" dirty="0">
                <a:latin typeface="Times New Roman" panose="02020603050405020304" pitchFamily="18" charset="0"/>
              </a:rPr>
              <a:t>Question: Which paragraph is the conclusion?</a:t>
            </a:r>
          </a:p>
          <a:p>
            <a:pPr indent="-308165">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endParaRPr lang="en-CA" altLang="en-US" sz="2358" b="1" i="1" dirty="0">
              <a:latin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6E2D2B3B-882E-40F3-A32F-6DD516915044}" type="slidenum">
              <a:rPr lang="en-US" smtClean="0"/>
              <a:pPr/>
              <a:t>19</a:t>
            </a:fld>
            <a:endParaRPr lang="en-US"/>
          </a:p>
        </p:txBody>
      </p:sp>
    </p:spTree>
    <p:extLst>
      <p:ext uri="{BB962C8B-B14F-4D97-AF65-F5344CB8AC3E}">
        <p14:creationId xmlns:p14="http://schemas.microsoft.com/office/powerpoint/2010/main" val="85531149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p:cNvSpPr>
            <a:spLocks noGrp="1" noChangeArrowheads="1"/>
          </p:cNvSpPr>
          <p:nvPr>
            <p:ph type="title"/>
          </p:nvPr>
        </p:nvSpPr>
        <p:spPr>
          <a:xfrm>
            <a:off x="556560" y="13524"/>
            <a:ext cx="8030880" cy="1141920"/>
          </a:xfrm>
        </p:spPr>
        <p:txBody>
          <a:bodyPr/>
          <a:lstStyle/>
          <a:p>
            <a:pPr>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CA" altLang="en-US" sz="3266" dirty="0">
                <a:latin typeface="Times New Roman" panose="02020603050405020304" pitchFamily="18" charset="0"/>
              </a:rPr>
              <a:t>Example 2 Should People Learn English?</a:t>
            </a:r>
          </a:p>
        </p:txBody>
      </p:sp>
      <p:sp>
        <p:nvSpPr>
          <p:cNvPr id="7171" name="Rectangle 2"/>
          <p:cNvSpPr>
            <a:spLocks noGrp="1" noChangeArrowheads="1"/>
          </p:cNvSpPr>
          <p:nvPr>
            <p:ph type="body" idx="1"/>
          </p:nvPr>
        </p:nvSpPr>
        <p:spPr>
          <a:xfrm>
            <a:off x="0" y="1204175"/>
            <a:ext cx="8226721" cy="6071427"/>
          </a:xfrm>
        </p:spPr>
        <p:txBody>
          <a:bodyPr/>
          <a:lstStyle/>
          <a:p>
            <a:pPr indent="-308165">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CA" altLang="en-US" sz="2400" dirty="0">
                <a:latin typeface="Times New Roman" panose="02020603050405020304" pitchFamily="18" charset="0"/>
                <a:cs typeface="Times New Roman" panose="02020603050405020304" pitchFamily="18" charset="0"/>
              </a:rPr>
              <a:t>1.”There is no doubt that many people in the world are already doing their best to learn English. When you have a chance to learn this very useful language, you should take it seriously because your English skills will not only help you in your travels but also your career. ”</a:t>
            </a:r>
          </a:p>
          <a:p>
            <a:pPr indent="-308165">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endParaRPr lang="en-CA" altLang="en-US" sz="2400" dirty="0">
              <a:latin typeface="Times New Roman" panose="02020603050405020304" pitchFamily="18" charset="0"/>
              <a:cs typeface="Times New Roman" panose="02020603050405020304" pitchFamily="18" charset="0"/>
            </a:endParaRPr>
          </a:p>
          <a:p>
            <a:pPr indent="-308165">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CA" altLang="en-US" sz="2400" dirty="0">
                <a:latin typeface="Times New Roman" panose="02020603050405020304" pitchFamily="18" charset="0"/>
                <a:cs typeface="Times New Roman" panose="02020603050405020304" pitchFamily="18" charset="0"/>
              </a:rPr>
              <a:t>2.“Many countries have English-speaking populations. The UK, The US, and Australia are just some of the places where English is the first language. Around the world, more than one billion people speak English as a second language. In my opinion, people should learn English for two main reasons.”</a:t>
            </a:r>
          </a:p>
          <a:p>
            <a:pPr indent="-308165">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endParaRPr lang="en-CA" altLang="en-US" sz="2177" dirty="0"/>
          </a:p>
          <a:p>
            <a:pPr indent="-308165" algn="ctr">
              <a:lnSpc>
                <a:spcPct val="95000"/>
              </a:lnSpc>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CA" altLang="en-US" sz="2358" b="1" i="1" dirty="0">
                <a:latin typeface="Times New Roman" panose="02020603050405020304" pitchFamily="18" charset="0"/>
              </a:rPr>
              <a:t>Question: Which paragraph is the conclusion? </a:t>
            </a:r>
            <a:endParaRPr lang="en-CA" altLang="en-US" sz="2358" dirty="0"/>
          </a:p>
          <a:p>
            <a:pPr indent="-308165">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endParaRPr lang="en-CA" altLang="en-US" sz="2358" dirty="0"/>
          </a:p>
        </p:txBody>
      </p:sp>
      <p:sp>
        <p:nvSpPr>
          <p:cNvPr id="2" name="Slide Number Placeholder 1"/>
          <p:cNvSpPr>
            <a:spLocks noGrp="1"/>
          </p:cNvSpPr>
          <p:nvPr>
            <p:ph type="sldNum" sz="quarter" idx="12"/>
          </p:nvPr>
        </p:nvSpPr>
        <p:spPr/>
        <p:txBody>
          <a:bodyPr/>
          <a:lstStyle/>
          <a:p>
            <a:fld id="{6E2D2B3B-882E-40F3-A32F-6DD516915044}" type="slidenum">
              <a:rPr lang="en-US" smtClean="0"/>
              <a:pPr/>
              <a:t>20</a:t>
            </a:fld>
            <a:endParaRPr lang="en-US"/>
          </a:p>
        </p:txBody>
      </p:sp>
    </p:spTree>
    <p:extLst>
      <p:ext uri="{BB962C8B-B14F-4D97-AF65-F5344CB8AC3E}">
        <p14:creationId xmlns:p14="http://schemas.microsoft.com/office/powerpoint/2010/main" val="99880807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noChangeArrowheads="1"/>
          </p:cNvSpPr>
          <p:nvPr>
            <p:ph type="title"/>
          </p:nvPr>
        </p:nvSpPr>
        <p:spPr>
          <a:xfrm>
            <a:off x="456481" y="502921"/>
            <a:ext cx="8030880" cy="378720"/>
          </a:xfrm>
        </p:spPr>
        <p:txBody>
          <a:bodyPr/>
          <a:lstStyle/>
          <a:p>
            <a:pPr>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CA" altLang="en-US" sz="3266"/>
              <a:t>Example 3 Making the Right Choices</a:t>
            </a:r>
          </a:p>
        </p:txBody>
      </p:sp>
      <p:sp>
        <p:nvSpPr>
          <p:cNvPr id="9219" name="Rectangle 2"/>
          <p:cNvSpPr>
            <a:spLocks noGrp="1" noChangeArrowheads="1"/>
          </p:cNvSpPr>
          <p:nvPr>
            <p:ph type="body" idx="1"/>
          </p:nvPr>
        </p:nvSpPr>
        <p:spPr>
          <a:xfrm>
            <a:off x="95534" y="1312932"/>
            <a:ext cx="8130467" cy="5316480"/>
          </a:xfrm>
        </p:spPr>
        <p:txBody>
          <a:bodyPr>
            <a:normAutofit/>
          </a:bodyPr>
          <a:lstStyle/>
          <a:p>
            <a:pPr indent="-308165">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CA" altLang="en-US" sz="2358" dirty="0">
                <a:latin typeface="Times New Roman" panose="02020603050405020304" pitchFamily="18" charset="0"/>
                <a:cs typeface="Times New Roman" panose="02020603050405020304" pitchFamily="18" charset="0"/>
              </a:rPr>
              <a:t>1 “Everybody should consider the impacts that their daily activities will have on the environment. By making conscious, environmentally friendly choices, we will reduce the negative impacts and set good examples for the future generations. The current environmental laws are not very effective.”</a:t>
            </a:r>
          </a:p>
          <a:p>
            <a:pPr indent="-308165">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endParaRPr lang="en-CA" altLang="en-US" sz="2358" dirty="0">
              <a:latin typeface="Times New Roman" panose="02020603050405020304" pitchFamily="18" charset="0"/>
              <a:cs typeface="Times New Roman" panose="02020603050405020304" pitchFamily="18" charset="0"/>
            </a:endParaRPr>
          </a:p>
          <a:p>
            <a:pPr indent="-308165">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CA" altLang="en-US" sz="2358" dirty="0">
                <a:latin typeface="Times New Roman" panose="02020603050405020304" pitchFamily="18" charset="0"/>
                <a:cs typeface="Times New Roman" panose="02020603050405020304" pitchFamily="18" charset="0"/>
              </a:rPr>
              <a:t>2.”There are weird weather conditions all over the planet. Winter storms hit the southern US, and in Canada, there was unusually warm weather. In their daily actions, people should make the right choices for the environment.”</a:t>
            </a:r>
          </a:p>
          <a:p>
            <a:pPr indent="-308165">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endParaRPr lang="en-CA" altLang="en-US" sz="2358" dirty="0"/>
          </a:p>
          <a:p>
            <a:pPr indent="-308165" algn="ctr">
              <a:lnSpc>
                <a:spcPct val="95000"/>
              </a:lnSpc>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CA" altLang="en-US" sz="2358" b="1" i="1" dirty="0">
                <a:latin typeface="Times New Roman" panose="02020603050405020304" pitchFamily="18" charset="0"/>
              </a:rPr>
              <a:t>Question: Which paragraph is the conclusion? </a:t>
            </a:r>
          </a:p>
          <a:p>
            <a:pPr indent="-308165" algn="ctr">
              <a:lnSpc>
                <a:spcPct val="95000"/>
              </a:lnSpc>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CA" altLang="en-US" sz="2358" b="1" i="1" dirty="0">
                <a:latin typeface="Times New Roman" panose="02020603050405020304" pitchFamily="18" charset="0"/>
              </a:rPr>
              <a:t> </a:t>
            </a:r>
          </a:p>
        </p:txBody>
      </p:sp>
      <p:sp>
        <p:nvSpPr>
          <p:cNvPr id="2" name="Slide Number Placeholder 1"/>
          <p:cNvSpPr>
            <a:spLocks noGrp="1"/>
          </p:cNvSpPr>
          <p:nvPr>
            <p:ph type="sldNum" sz="quarter" idx="12"/>
          </p:nvPr>
        </p:nvSpPr>
        <p:spPr/>
        <p:txBody>
          <a:bodyPr/>
          <a:lstStyle/>
          <a:p>
            <a:fld id="{6E2D2B3B-882E-40F3-A32F-6DD516915044}" type="slidenum">
              <a:rPr lang="en-US" smtClean="0"/>
              <a:pPr/>
              <a:t>21</a:t>
            </a:fld>
            <a:endParaRPr lang="en-US"/>
          </a:p>
        </p:txBody>
      </p:sp>
    </p:spTree>
    <p:extLst>
      <p:ext uri="{BB962C8B-B14F-4D97-AF65-F5344CB8AC3E}">
        <p14:creationId xmlns:p14="http://schemas.microsoft.com/office/powerpoint/2010/main" val="175241343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Are these essay plans good?</a:t>
            </a:r>
          </a:p>
        </p:txBody>
      </p:sp>
      <p:sp>
        <p:nvSpPr>
          <p:cNvPr id="3" name="Content Placeholder 2"/>
          <p:cNvSpPr>
            <a:spLocks noGrp="1"/>
          </p:cNvSpPr>
          <p:nvPr>
            <p:ph idx="1"/>
          </p:nvPr>
        </p:nvSpPr>
        <p:spPr>
          <a:xfrm>
            <a:off x="-1" y="1600200"/>
            <a:ext cx="8420669" cy="4800600"/>
          </a:xfrm>
        </p:spPr>
        <p:txBody>
          <a:bodyPr>
            <a:noAutofit/>
          </a:bodyPr>
          <a:lstStyle/>
          <a:p>
            <a:r>
              <a:rPr lang="en-CA" sz="2400" u="sng" dirty="0">
                <a:latin typeface="Times New Roman" panose="02020603050405020304" pitchFamily="18" charset="0"/>
                <a:cs typeface="Times New Roman" panose="02020603050405020304" pitchFamily="18" charset="0"/>
              </a:rPr>
              <a:t>Essay plan A</a:t>
            </a:r>
          </a:p>
          <a:p>
            <a:pPr marL="0" indent="0">
              <a:buNone/>
            </a:pPr>
            <a:r>
              <a:rPr lang="en-CA" sz="2400" dirty="0">
                <a:latin typeface="Times New Roman" panose="02020603050405020304" pitchFamily="18" charset="0"/>
                <a:cs typeface="Times New Roman" panose="02020603050405020304" pitchFamily="18" charset="0"/>
              </a:rPr>
              <a:t>     Thesis statement: Online learning has many advantages. </a:t>
            </a:r>
          </a:p>
          <a:p>
            <a:pPr marL="0" indent="0">
              <a:buNone/>
            </a:pPr>
            <a:r>
              <a:rPr lang="en-CA" sz="2000" dirty="0">
                <a:latin typeface="Times New Roman" panose="02020603050405020304" pitchFamily="18" charset="0"/>
                <a:cs typeface="Times New Roman" panose="02020603050405020304" pitchFamily="18" charset="0"/>
              </a:rPr>
              <a:t>            Topic sentence 1: Many people use online learning during the pandemic.</a:t>
            </a:r>
          </a:p>
          <a:p>
            <a:pPr marL="0" indent="0">
              <a:buNone/>
            </a:pPr>
            <a:r>
              <a:rPr lang="en-CA" sz="2000" dirty="0">
                <a:latin typeface="Times New Roman" panose="02020603050405020304" pitchFamily="18" charset="0"/>
                <a:cs typeface="Times New Roman" panose="02020603050405020304" pitchFamily="18" charset="0"/>
              </a:rPr>
              <a:t>            Topic sentence 2: Online learning provides flexibility. </a:t>
            </a:r>
          </a:p>
          <a:p>
            <a:r>
              <a:rPr lang="en-CA" sz="2400" u="sng" dirty="0">
                <a:latin typeface="Times New Roman" panose="02020603050405020304" pitchFamily="18" charset="0"/>
                <a:cs typeface="Times New Roman" panose="02020603050405020304" pitchFamily="18" charset="0"/>
              </a:rPr>
              <a:t>Essay plan B</a:t>
            </a:r>
          </a:p>
          <a:p>
            <a:pPr marL="0" indent="0">
              <a:buNone/>
            </a:pPr>
            <a:r>
              <a:rPr lang="en-CA" sz="2400" dirty="0">
                <a:latin typeface="Times New Roman" panose="02020603050405020304" pitchFamily="18" charset="0"/>
                <a:cs typeface="Times New Roman" panose="02020603050405020304" pitchFamily="18" charset="0"/>
              </a:rPr>
              <a:t>     Thesis statement: Teletherapy is a great way to help people.</a:t>
            </a:r>
          </a:p>
          <a:p>
            <a:pPr marL="0" indent="0">
              <a:buNone/>
            </a:pPr>
            <a:r>
              <a:rPr lang="en-CA" sz="2400" dirty="0">
                <a:latin typeface="Times New Roman" panose="02020603050405020304" pitchFamily="18" charset="0"/>
                <a:cs typeface="Times New Roman" panose="02020603050405020304" pitchFamily="18" charset="0"/>
              </a:rPr>
              <a:t> 	</a:t>
            </a:r>
            <a:r>
              <a:rPr lang="en-CA" sz="2000" dirty="0">
                <a:latin typeface="Times New Roman" panose="02020603050405020304" pitchFamily="18" charset="0"/>
                <a:cs typeface="Times New Roman" panose="02020603050405020304" pitchFamily="18" charset="0"/>
              </a:rPr>
              <a:t>Topic sentence 1:  My family and I used teletherapy many times.</a:t>
            </a:r>
          </a:p>
          <a:p>
            <a:pPr marL="0" indent="0">
              <a:buNone/>
            </a:pPr>
            <a:r>
              <a:rPr lang="en-CA" sz="2000" dirty="0">
                <a:latin typeface="Times New Roman" panose="02020603050405020304" pitchFamily="18" charset="0"/>
                <a:cs typeface="Times New Roman" panose="02020603050405020304" pitchFamily="18" charset="0"/>
              </a:rPr>
              <a:t>	Topic sentence 2: Teletherapy makes people feel more comfortable. </a:t>
            </a:r>
          </a:p>
        </p:txBody>
      </p:sp>
      <p:sp>
        <p:nvSpPr>
          <p:cNvPr id="4" name="Slide Number Placeholder 3"/>
          <p:cNvSpPr>
            <a:spLocks noGrp="1"/>
          </p:cNvSpPr>
          <p:nvPr>
            <p:ph type="sldNum" sz="quarter" idx="12"/>
          </p:nvPr>
        </p:nvSpPr>
        <p:spPr/>
        <p:txBody>
          <a:bodyPr/>
          <a:lstStyle/>
          <a:p>
            <a:fld id="{6E2D2B3B-882E-40F3-A32F-6DD516915044}" type="slidenum">
              <a:rPr lang="en-US" smtClean="0"/>
              <a:pPr/>
              <a:t>22</a:t>
            </a:fld>
            <a:endParaRPr lang="en-US"/>
          </a:p>
        </p:txBody>
      </p:sp>
    </p:spTree>
    <p:extLst>
      <p:ext uri="{BB962C8B-B14F-4D97-AF65-F5344CB8AC3E}">
        <p14:creationId xmlns:p14="http://schemas.microsoft.com/office/powerpoint/2010/main" val="27650038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821E2-B2CF-6221-6CE9-8A56F99B5FC9}"/>
              </a:ext>
            </a:extLst>
          </p:cNvPr>
          <p:cNvSpPr>
            <a:spLocks noGrp="1"/>
          </p:cNvSpPr>
          <p:nvPr>
            <p:ph type="title"/>
          </p:nvPr>
        </p:nvSpPr>
        <p:spPr>
          <a:xfrm>
            <a:off x="0" y="0"/>
            <a:ext cx="8531788" cy="1417638"/>
          </a:xfrm>
        </p:spPr>
        <p:txBody>
          <a:bodyPr/>
          <a:lstStyle/>
          <a:p>
            <a:pPr algn="ctr"/>
            <a:r>
              <a:rPr lang="en-CA" sz="5400" dirty="0"/>
              <a:t>Outline</a:t>
            </a:r>
            <a:br>
              <a:rPr lang="en-CA" dirty="0"/>
            </a:br>
            <a:r>
              <a:rPr lang="en-CA" sz="3200" b="1" u="sng" dirty="0"/>
              <a:t>Title of the Essay </a:t>
            </a:r>
          </a:p>
        </p:txBody>
      </p:sp>
      <p:sp>
        <p:nvSpPr>
          <p:cNvPr id="3" name="Content Placeholder 2">
            <a:extLst>
              <a:ext uri="{FF2B5EF4-FFF2-40B4-BE49-F238E27FC236}">
                <a16:creationId xmlns:a16="http://schemas.microsoft.com/office/drawing/2014/main" id="{5AC7FB0B-B3B1-6224-7632-7D57C7B72B43}"/>
              </a:ext>
            </a:extLst>
          </p:cNvPr>
          <p:cNvSpPr>
            <a:spLocks noGrp="1"/>
          </p:cNvSpPr>
          <p:nvPr>
            <p:ph idx="1"/>
          </p:nvPr>
        </p:nvSpPr>
        <p:spPr/>
        <p:txBody>
          <a:bodyPr>
            <a:normAutofit fontScale="85000" lnSpcReduction="10000"/>
          </a:bodyPr>
          <a:lstStyle/>
          <a:p>
            <a:pPr marL="114300" indent="0">
              <a:buNone/>
            </a:pPr>
            <a:r>
              <a:rPr lang="en-CA" sz="3200" b="1" u="sng" dirty="0"/>
              <a:t>Paragraph 1 Introduction</a:t>
            </a:r>
          </a:p>
          <a:p>
            <a:pPr marL="114300" indent="0">
              <a:buNone/>
            </a:pPr>
            <a:r>
              <a:rPr lang="en-CA" sz="3200" dirty="0"/>
              <a:t>General statements and thesis statement:</a:t>
            </a:r>
          </a:p>
          <a:p>
            <a:pPr marL="114300" indent="0">
              <a:buNone/>
            </a:pPr>
            <a:r>
              <a:rPr lang="en-CA" sz="3200" b="1" u="sng" dirty="0"/>
              <a:t>Paragraph 2 Body I</a:t>
            </a:r>
          </a:p>
          <a:p>
            <a:pPr marL="114300" indent="0">
              <a:buNone/>
            </a:pPr>
            <a:r>
              <a:rPr lang="en-CA" sz="3200" dirty="0"/>
              <a:t>Topic sentence I: </a:t>
            </a:r>
          </a:p>
          <a:p>
            <a:pPr marL="114300" indent="0">
              <a:buNone/>
            </a:pPr>
            <a:r>
              <a:rPr lang="en-CA" sz="3200" dirty="0"/>
              <a:t>Some supporting details (</a:t>
            </a:r>
            <a:r>
              <a:rPr lang="en-CA" sz="3200" dirty="0">
                <a:solidFill>
                  <a:srgbClr val="FF0000"/>
                </a:solidFill>
              </a:rPr>
              <a:t>no full sentences allowed</a:t>
            </a:r>
            <a:r>
              <a:rPr lang="en-CA" sz="3200" dirty="0"/>
              <a:t>)</a:t>
            </a:r>
          </a:p>
          <a:p>
            <a:pPr marL="114300" indent="0">
              <a:buNone/>
            </a:pPr>
            <a:r>
              <a:rPr lang="en-CA" sz="3200" b="1" u="sng" dirty="0"/>
              <a:t>Paragraph 3 Body II</a:t>
            </a:r>
          </a:p>
          <a:p>
            <a:pPr marL="114300" indent="0">
              <a:buNone/>
            </a:pPr>
            <a:r>
              <a:rPr lang="en-CA" sz="3200" dirty="0"/>
              <a:t>Topic sentence II: </a:t>
            </a:r>
          </a:p>
          <a:p>
            <a:pPr marL="114300" indent="0">
              <a:buNone/>
            </a:pPr>
            <a:r>
              <a:rPr lang="en-CA" sz="3200" dirty="0"/>
              <a:t>Some supporting details (</a:t>
            </a:r>
            <a:r>
              <a:rPr lang="en-CA" sz="3200" dirty="0">
                <a:solidFill>
                  <a:srgbClr val="FF0000"/>
                </a:solidFill>
              </a:rPr>
              <a:t>no full sentences allowed</a:t>
            </a:r>
            <a:r>
              <a:rPr lang="en-CA" sz="3200" dirty="0"/>
              <a:t>)</a:t>
            </a:r>
          </a:p>
          <a:p>
            <a:pPr marL="114300" indent="0">
              <a:buNone/>
            </a:pPr>
            <a:r>
              <a:rPr lang="en-CA" sz="3200" b="1" u="sng" dirty="0"/>
              <a:t>Paragraph 4 Conclusion</a:t>
            </a:r>
          </a:p>
          <a:p>
            <a:pPr marL="114300" indent="0">
              <a:buNone/>
            </a:pPr>
            <a:r>
              <a:rPr lang="en-CA" sz="3200" dirty="0"/>
              <a:t>Restate your main ideas:  </a:t>
            </a:r>
          </a:p>
        </p:txBody>
      </p:sp>
      <p:sp>
        <p:nvSpPr>
          <p:cNvPr id="4" name="Slide Number Placeholder 3">
            <a:extLst>
              <a:ext uri="{FF2B5EF4-FFF2-40B4-BE49-F238E27FC236}">
                <a16:creationId xmlns:a16="http://schemas.microsoft.com/office/drawing/2014/main" id="{6986D0F1-2213-9ECC-BFA3-D8A6ED37AF68}"/>
              </a:ext>
            </a:extLst>
          </p:cNvPr>
          <p:cNvSpPr>
            <a:spLocks noGrp="1"/>
          </p:cNvSpPr>
          <p:nvPr>
            <p:ph type="sldNum" sz="quarter" idx="12"/>
          </p:nvPr>
        </p:nvSpPr>
        <p:spPr/>
        <p:txBody>
          <a:bodyPr/>
          <a:lstStyle/>
          <a:p>
            <a:fld id="{6E2D2B3B-882E-40F3-A32F-6DD516915044}" type="slidenum">
              <a:rPr lang="en-US" smtClean="0"/>
              <a:pPr/>
              <a:t>23</a:t>
            </a:fld>
            <a:endParaRPr lang="en-US"/>
          </a:p>
        </p:txBody>
      </p:sp>
    </p:spTree>
    <p:extLst>
      <p:ext uri="{BB962C8B-B14F-4D97-AF65-F5344CB8AC3E}">
        <p14:creationId xmlns:p14="http://schemas.microsoft.com/office/powerpoint/2010/main" val="38875003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Bibliography </a:t>
            </a:r>
          </a:p>
        </p:txBody>
      </p:sp>
      <p:sp>
        <p:nvSpPr>
          <p:cNvPr id="3" name="Content Placeholder 2"/>
          <p:cNvSpPr>
            <a:spLocks noGrp="1"/>
          </p:cNvSpPr>
          <p:nvPr>
            <p:ph idx="1"/>
          </p:nvPr>
        </p:nvSpPr>
        <p:spPr/>
        <p:txBody>
          <a:bodyPr/>
          <a:lstStyle/>
          <a:p>
            <a:pPr marL="571500" indent="-457200">
              <a:buAutoNum type="arabicPeriod"/>
            </a:pPr>
            <a:r>
              <a:rPr lang="en-CA" dirty="0"/>
              <a:t>Insight by Jane </a:t>
            </a:r>
            <a:r>
              <a:rPr lang="en-CA" dirty="0" err="1"/>
              <a:t>Petring</a:t>
            </a:r>
            <a:endParaRPr lang="en-CA" dirty="0"/>
          </a:p>
          <a:p>
            <a:pPr marL="571500" indent="-457200">
              <a:buAutoNum type="arabicPeriod"/>
            </a:pPr>
            <a:r>
              <a:rPr lang="en-CA" dirty="0"/>
              <a:t>Fields of Opportunity by Caroline Orton</a:t>
            </a:r>
          </a:p>
          <a:p>
            <a:pPr marL="571500" indent="-457200">
              <a:buAutoNum type="arabicPeriod"/>
            </a:pPr>
            <a:r>
              <a:rPr lang="en-CA" dirty="0"/>
              <a:t>Goals by Lynne </a:t>
            </a:r>
            <a:r>
              <a:rPr lang="en-CA" dirty="0" err="1"/>
              <a:t>Gaetz</a:t>
            </a:r>
            <a:endParaRPr lang="en-CA" dirty="0"/>
          </a:p>
          <a:p>
            <a:pPr marL="571500" indent="-457200">
              <a:buAutoNum type="arabicPeriod"/>
            </a:pPr>
            <a:r>
              <a:rPr lang="en-CA" dirty="0"/>
              <a:t>Avenues series by Lynne </a:t>
            </a:r>
            <a:r>
              <a:rPr lang="en-CA" dirty="0" err="1"/>
              <a:t>Gaetz</a:t>
            </a:r>
            <a:r>
              <a:rPr lang="en-CA" dirty="0"/>
              <a:t> </a:t>
            </a:r>
          </a:p>
          <a:p>
            <a:pPr marL="571500" indent="-457200">
              <a:buAutoNum type="arabicPeriod"/>
            </a:pPr>
            <a:r>
              <a:rPr lang="en-CA" dirty="0"/>
              <a:t>Collins Online English Dictionary </a:t>
            </a:r>
          </a:p>
          <a:p>
            <a:endParaRPr lang="en-CA" dirty="0"/>
          </a:p>
          <a:p>
            <a:endParaRPr lang="en-CA" dirty="0"/>
          </a:p>
        </p:txBody>
      </p:sp>
    </p:spTree>
    <p:extLst>
      <p:ext uri="{BB962C8B-B14F-4D97-AF65-F5344CB8AC3E}">
        <p14:creationId xmlns:p14="http://schemas.microsoft.com/office/powerpoint/2010/main" val="21347780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6E174-D5B2-06AB-63F9-2CF608F26909}"/>
              </a:ext>
            </a:extLst>
          </p:cNvPr>
          <p:cNvSpPr>
            <a:spLocks noGrp="1"/>
          </p:cNvSpPr>
          <p:nvPr>
            <p:ph type="title"/>
          </p:nvPr>
        </p:nvSpPr>
        <p:spPr>
          <a:xfrm>
            <a:off x="412124" y="775952"/>
            <a:ext cx="7620000" cy="811369"/>
          </a:xfrm>
        </p:spPr>
        <p:txBody>
          <a:bodyPr/>
          <a:lstStyle/>
          <a:p>
            <a:r>
              <a:rPr lang="en-CA" dirty="0"/>
              <a:t>Frameworks </a:t>
            </a:r>
            <a:br>
              <a:rPr lang="en-CA" dirty="0"/>
            </a:br>
            <a:r>
              <a:rPr lang="en-CA" sz="1800" dirty="0"/>
              <a:t>Adapted from </a:t>
            </a:r>
            <a:r>
              <a:rPr lang="en-CA" sz="1800" dirty="0">
                <a:hlinkClick r:id="rId2"/>
              </a:rPr>
              <a:t>https://guides.lib.uw.edu/research/faq/reliable</a:t>
            </a:r>
            <a:br>
              <a:rPr lang="en-CA" dirty="0"/>
            </a:br>
            <a:endParaRPr lang="en-CA" dirty="0"/>
          </a:p>
        </p:txBody>
      </p:sp>
      <p:sp>
        <p:nvSpPr>
          <p:cNvPr id="3" name="Content Placeholder 2">
            <a:extLst>
              <a:ext uri="{FF2B5EF4-FFF2-40B4-BE49-F238E27FC236}">
                <a16:creationId xmlns:a16="http://schemas.microsoft.com/office/drawing/2014/main" id="{25905AE1-E480-74DB-67BA-07304A27B44C}"/>
              </a:ext>
            </a:extLst>
          </p:cNvPr>
          <p:cNvSpPr>
            <a:spLocks noGrp="1"/>
          </p:cNvSpPr>
          <p:nvPr>
            <p:ph idx="1"/>
          </p:nvPr>
        </p:nvSpPr>
        <p:spPr>
          <a:xfrm>
            <a:off x="412124" y="1703231"/>
            <a:ext cx="7620000" cy="4800600"/>
          </a:xfrm>
        </p:spPr>
        <p:txBody>
          <a:bodyPr>
            <a:normAutofit/>
          </a:bodyPr>
          <a:lstStyle/>
          <a:p>
            <a:pPr marL="571500" indent="-457200">
              <a:buAutoNum type="arabicPeriod"/>
            </a:pPr>
            <a:r>
              <a:rPr lang="en-CA" sz="4000" b="1" dirty="0">
                <a:solidFill>
                  <a:schemeClr val="accent1">
                    <a:lumMod val="75000"/>
                  </a:schemeClr>
                </a:solidFill>
              </a:rPr>
              <a:t>The 5Ws</a:t>
            </a:r>
          </a:p>
          <a:p>
            <a:pPr marL="571500" indent="-457200">
              <a:buAutoNum type="arabicPeriod"/>
            </a:pPr>
            <a:endParaRPr lang="en-CA" dirty="0"/>
          </a:p>
          <a:p>
            <a:pPr marL="571500" indent="-457200">
              <a:buAutoNum type="arabicPeriod"/>
            </a:pPr>
            <a:endParaRPr lang="en-CA" dirty="0"/>
          </a:p>
          <a:p>
            <a:pPr marL="571500" indent="-457200">
              <a:buAutoNum type="arabicPeriod"/>
            </a:pPr>
            <a:endParaRPr lang="en-CA" dirty="0"/>
          </a:p>
          <a:p>
            <a:pPr marL="114300" indent="0">
              <a:buNone/>
            </a:pPr>
            <a:endParaRPr lang="en-CA" dirty="0"/>
          </a:p>
          <a:p>
            <a:endParaRPr lang="en-CA" dirty="0"/>
          </a:p>
          <a:p>
            <a:endParaRPr lang="en-CA" dirty="0"/>
          </a:p>
          <a:p>
            <a:endParaRPr lang="en-CA" dirty="0"/>
          </a:p>
          <a:p>
            <a:endParaRPr lang="en-CA" dirty="0"/>
          </a:p>
          <a:p>
            <a:endParaRPr lang="en-CA" dirty="0"/>
          </a:p>
        </p:txBody>
      </p:sp>
      <p:sp>
        <p:nvSpPr>
          <p:cNvPr id="4" name="Slide Number Placeholder 3">
            <a:extLst>
              <a:ext uri="{FF2B5EF4-FFF2-40B4-BE49-F238E27FC236}">
                <a16:creationId xmlns:a16="http://schemas.microsoft.com/office/drawing/2014/main" id="{331416E3-2320-EB7D-02C3-17BA72158C03}"/>
              </a:ext>
            </a:extLst>
          </p:cNvPr>
          <p:cNvSpPr>
            <a:spLocks noGrp="1"/>
          </p:cNvSpPr>
          <p:nvPr>
            <p:ph type="sldNum" sz="quarter" idx="12"/>
          </p:nvPr>
        </p:nvSpPr>
        <p:spPr/>
        <p:txBody>
          <a:bodyPr/>
          <a:lstStyle/>
          <a:p>
            <a:fld id="{6E2D2B3B-882E-40F3-A32F-6DD516915044}" type="slidenum">
              <a:rPr lang="en-US" smtClean="0"/>
              <a:pPr/>
              <a:t>25</a:t>
            </a:fld>
            <a:endParaRPr lang="en-US"/>
          </a:p>
        </p:txBody>
      </p:sp>
      <p:pic>
        <p:nvPicPr>
          <p:cNvPr id="10" name="Picture 9">
            <a:extLst>
              <a:ext uri="{FF2B5EF4-FFF2-40B4-BE49-F238E27FC236}">
                <a16:creationId xmlns:a16="http://schemas.microsoft.com/office/drawing/2014/main" id="{B0A5B285-53A4-311D-8118-C62738871DEF}"/>
              </a:ext>
            </a:extLst>
          </p:cNvPr>
          <p:cNvPicPr>
            <a:picLocks noChangeAspect="1"/>
          </p:cNvPicPr>
          <p:nvPr/>
        </p:nvPicPr>
        <p:blipFill>
          <a:blip r:embed="rId3"/>
          <a:stretch>
            <a:fillRect/>
          </a:stretch>
        </p:blipFill>
        <p:spPr>
          <a:xfrm>
            <a:off x="0" y="2601533"/>
            <a:ext cx="9144000" cy="3612523"/>
          </a:xfrm>
          <a:prstGeom prst="rect">
            <a:avLst/>
          </a:prstGeom>
        </p:spPr>
      </p:pic>
    </p:spTree>
    <p:extLst>
      <p:ext uri="{BB962C8B-B14F-4D97-AF65-F5344CB8AC3E}">
        <p14:creationId xmlns:p14="http://schemas.microsoft.com/office/powerpoint/2010/main" val="28831822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F8528-66DD-C4FA-36CC-BA14046337AB}"/>
              </a:ext>
            </a:extLst>
          </p:cNvPr>
          <p:cNvSpPr>
            <a:spLocks noGrp="1"/>
          </p:cNvSpPr>
          <p:nvPr>
            <p:ph type="title"/>
          </p:nvPr>
        </p:nvSpPr>
        <p:spPr/>
        <p:txBody>
          <a:bodyPr/>
          <a:lstStyle/>
          <a:p>
            <a:r>
              <a:rPr lang="en-CA" dirty="0"/>
              <a:t>2. The SMART Check</a:t>
            </a:r>
          </a:p>
        </p:txBody>
      </p:sp>
      <p:pic>
        <p:nvPicPr>
          <p:cNvPr id="6" name="Content Placeholder 5">
            <a:extLst>
              <a:ext uri="{FF2B5EF4-FFF2-40B4-BE49-F238E27FC236}">
                <a16:creationId xmlns:a16="http://schemas.microsoft.com/office/drawing/2014/main" id="{995F77FA-6F8C-4D9E-804D-9D8FB51118D8}"/>
              </a:ext>
            </a:extLst>
          </p:cNvPr>
          <p:cNvPicPr>
            <a:picLocks noGrp="1" noChangeAspect="1"/>
          </p:cNvPicPr>
          <p:nvPr>
            <p:ph idx="1"/>
          </p:nvPr>
        </p:nvPicPr>
        <p:blipFill>
          <a:blip r:embed="rId2"/>
          <a:stretch>
            <a:fillRect/>
          </a:stretch>
        </p:blipFill>
        <p:spPr>
          <a:xfrm>
            <a:off x="1" y="1989786"/>
            <a:ext cx="9144000" cy="4172755"/>
          </a:xfrm>
        </p:spPr>
      </p:pic>
      <p:sp>
        <p:nvSpPr>
          <p:cNvPr id="4" name="Slide Number Placeholder 3">
            <a:extLst>
              <a:ext uri="{FF2B5EF4-FFF2-40B4-BE49-F238E27FC236}">
                <a16:creationId xmlns:a16="http://schemas.microsoft.com/office/drawing/2014/main" id="{66ED6B9B-7585-6CFF-BF8C-49767E74708D}"/>
              </a:ext>
            </a:extLst>
          </p:cNvPr>
          <p:cNvSpPr>
            <a:spLocks noGrp="1"/>
          </p:cNvSpPr>
          <p:nvPr>
            <p:ph type="sldNum" sz="quarter" idx="12"/>
          </p:nvPr>
        </p:nvSpPr>
        <p:spPr/>
        <p:txBody>
          <a:bodyPr/>
          <a:lstStyle/>
          <a:p>
            <a:fld id="{6E2D2B3B-882E-40F3-A32F-6DD516915044}" type="slidenum">
              <a:rPr lang="en-US" smtClean="0"/>
              <a:pPr/>
              <a:t>26</a:t>
            </a:fld>
            <a:endParaRPr lang="en-US"/>
          </a:p>
        </p:txBody>
      </p:sp>
    </p:spTree>
    <p:extLst>
      <p:ext uri="{BB962C8B-B14F-4D97-AF65-F5344CB8AC3E}">
        <p14:creationId xmlns:p14="http://schemas.microsoft.com/office/powerpoint/2010/main" val="8726312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4B572-91D6-2874-474F-EB204536F568}"/>
              </a:ext>
            </a:extLst>
          </p:cNvPr>
          <p:cNvSpPr>
            <a:spLocks noGrp="1"/>
          </p:cNvSpPr>
          <p:nvPr>
            <p:ph type="title"/>
          </p:nvPr>
        </p:nvSpPr>
        <p:spPr/>
        <p:txBody>
          <a:bodyPr/>
          <a:lstStyle/>
          <a:p>
            <a:r>
              <a:rPr lang="en-CA" dirty="0"/>
              <a:t>3. The CRAAP Test</a:t>
            </a:r>
          </a:p>
        </p:txBody>
      </p:sp>
      <p:pic>
        <p:nvPicPr>
          <p:cNvPr id="6" name="Content Placeholder 5">
            <a:extLst>
              <a:ext uri="{FF2B5EF4-FFF2-40B4-BE49-F238E27FC236}">
                <a16:creationId xmlns:a16="http://schemas.microsoft.com/office/drawing/2014/main" id="{02BAD1C2-6A42-3C67-06BE-BD0E87850586}"/>
              </a:ext>
            </a:extLst>
          </p:cNvPr>
          <p:cNvPicPr>
            <a:picLocks noGrp="1" noChangeAspect="1"/>
          </p:cNvPicPr>
          <p:nvPr>
            <p:ph idx="1"/>
          </p:nvPr>
        </p:nvPicPr>
        <p:blipFill>
          <a:blip r:embed="rId2"/>
          <a:stretch>
            <a:fillRect/>
          </a:stretch>
        </p:blipFill>
        <p:spPr>
          <a:xfrm>
            <a:off x="0" y="1918952"/>
            <a:ext cx="9144000" cy="3580327"/>
          </a:xfrm>
        </p:spPr>
      </p:pic>
      <p:sp>
        <p:nvSpPr>
          <p:cNvPr id="4" name="Slide Number Placeholder 3">
            <a:extLst>
              <a:ext uri="{FF2B5EF4-FFF2-40B4-BE49-F238E27FC236}">
                <a16:creationId xmlns:a16="http://schemas.microsoft.com/office/drawing/2014/main" id="{AA1CB0B9-B1B7-9FC8-CC15-08B29961E546}"/>
              </a:ext>
            </a:extLst>
          </p:cNvPr>
          <p:cNvSpPr>
            <a:spLocks noGrp="1"/>
          </p:cNvSpPr>
          <p:nvPr>
            <p:ph type="sldNum" sz="quarter" idx="12"/>
          </p:nvPr>
        </p:nvSpPr>
        <p:spPr/>
        <p:txBody>
          <a:bodyPr/>
          <a:lstStyle/>
          <a:p>
            <a:fld id="{6E2D2B3B-882E-40F3-A32F-6DD516915044}" type="slidenum">
              <a:rPr lang="en-US" smtClean="0"/>
              <a:pPr/>
              <a:t>27</a:t>
            </a:fld>
            <a:endParaRPr lang="en-US"/>
          </a:p>
        </p:txBody>
      </p:sp>
    </p:spTree>
    <p:extLst>
      <p:ext uri="{BB962C8B-B14F-4D97-AF65-F5344CB8AC3E}">
        <p14:creationId xmlns:p14="http://schemas.microsoft.com/office/powerpoint/2010/main" val="5633280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Genesis">
      <a:dk1>
        <a:sysClr val="windowText" lastClr="000000"/>
      </a:dk1>
      <a:lt1>
        <a:sysClr val="window" lastClr="FFFFFF"/>
      </a:lt1>
      <a:dk2>
        <a:srgbClr val="465466"/>
      </a:dk2>
      <a:lt2>
        <a:srgbClr val="BBD7F8"/>
      </a:lt2>
      <a:accent1>
        <a:srgbClr val="80B606"/>
      </a:accent1>
      <a:accent2>
        <a:srgbClr val="E29F1D"/>
      </a:accent2>
      <a:accent3>
        <a:srgbClr val="2397E2"/>
      </a:accent3>
      <a:accent4>
        <a:srgbClr val="35ACA2"/>
      </a:accent4>
      <a:accent5>
        <a:srgbClr val="5430BB"/>
      </a:accent5>
      <a:accent6>
        <a:srgbClr val="8D34E0"/>
      </a:accent6>
      <a:hlink>
        <a:srgbClr val="00B0F0"/>
      </a:hlink>
      <a:folHlink>
        <a:srgbClr val="0070C0"/>
      </a:folHlink>
    </a:clrScheme>
    <a:fontScheme name="Adjacency">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Adjacency.thmx</Template>
  <TotalTime>4253</TotalTime>
  <Words>1823</Words>
  <Application>Microsoft Macintosh PowerPoint</Application>
  <PresentationFormat>On-screen Show (4:3)</PresentationFormat>
  <Paragraphs>254</Paragraphs>
  <Slides>27</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Cambria</vt:lpstr>
      <vt:lpstr>Times New Roman</vt:lpstr>
      <vt:lpstr>Adjacency</vt:lpstr>
      <vt:lpstr>604-420  Week 10</vt:lpstr>
      <vt:lpstr>Our Schedule </vt:lpstr>
      <vt:lpstr>Review of Task 2 : Innovation Reading Research</vt:lpstr>
      <vt:lpstr>Did you remember to include:  </vt:lpstr>
      <vt:lpstr>Is your source reliable? </vt:lpstr>
      <vt:lpstr>On Definitions </vt:lpstr>
      <vt:lpstr>Review of Modals </vt:lpstr>
      <vt:lpstr>Modal Choices (adapted from Avenues 2  by Lynne Gaetz)</vt:lpstr>
      <vt:lpstr>PowerPoint Presentation</vt:lpstr>
      <vt:lpstr>Simplified Evaluation Grid based on the descriptors </vt:lpstr>
      <vt:lpstr>Basic Academic Essay Structure</vt:lpstr>
      <vt:lpstr>The Introductory Paragraph </vt:lpstr>
      <vt:lpstr>Identify the thesis statement</vt:lpstr>
      <vt:lpstr>Example 1</vt:lpstr>
      <vt:lpstr>Example 2</vt:lpstr>
      <vt:lpstr>Common problems with ineffective thesis statements</vt:lpstr>
      <vt:lpstr>Are these good thesis statements?</vt:lpstr>
      <vt:lpstr>The Conclusion Paragraph </vt:lpstr>
      <vt:lpstr>Example 1 Learning about Finances</vt:lpstr>
      <vt:lpstr>Example 2 Should People Learn English?</vt:lpstr>
      <vt:lpstr>Example 3 Making the Right Choices</vt:lpstr>
      <vt:lpstr>Are these essay plans good?</vt:lpstr>
      <vt:lpstr>Outline Title of the Essay </vt:lpstr>
      <vt:lpstr>Bibliography </vt:lpstr>
      <vt:lpstr>Frameworks  Adapted from https://guides.lib.uw.edu/research/faq/reliable </vt:lpstr>
      <vt:lpstr>2. The SMART Check</vt:lpstr>
      <vt:lpstr>3. The CRAAP Test</vt:lpstr>
    </vt:vector>
  </TitlesOfParts>
  <Company>CEGEP André Laurendeau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4 </dc:title>
  <dc:creator>Loretta  Gillis</dc:creator>
  <cp:lastModifiedBy>Hala Jawlakh, Ms</cp:lastModifiedBy>
  <cp:revision>233</cp:revision>
  <dcterms:created xsi:type="dcterms:W3CDTF">2013-03-11T22:29:50Z</dcterms:created>
  <dcterms:modified xsi:type="dcterms:W3CDTF">2023-03-31T13:30:01Z</dcterms:modified>
</cp:coreProperties>
</file>