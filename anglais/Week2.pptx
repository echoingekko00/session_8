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14"/>
  </p:notesMasterIdLst>
  <p:sldIdLst>
    <p:sldId id="263" r:id="rId2"/>
    <p:sldId id="266" r:id="rId3"/>
    <p:sldId id="277" r:id="rId4"/>
    <p:sldId id="267" r:id="rId5"/>
    <p:sldId id="259" r:id="rId6"/>
    <p:sldId id="268" r:id="rId7"/>
    <p:sldId id="269" r:id="rId8"/>
    <p:sldId id="270" r:id="rId9"/>
    <p:sldId id="271" r:id="rId10"/>
    <p:sldId id="272" r:id="rId11"/>
    <p:sldId id="265" r:id="rId12"/>
    <p:sldId id="273" r:id="rId1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94660"/>
  </p:normalViewPr>
  <p:slideViewPr>
    <p:cSldViewPr snapToGrid="0" snapToObjects="1">
      <p:cViewPr varScale="1">
        <p:scale>
          <a:sx n="85" d="100"/>
          <a:sy n="85" d="100"/>
        </p:scale>
        <p:origin x="1186"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054A2A3A-6F91-451F-9191-C37E53318156}" type="datetimeFigureOut">
              <a:rPr lang="en-CA" smtClean="0"/>
              <a:t>2023-01-26</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BD8A9BDB-2D87-484D-8ED4-ACDC315ED939}" type="slidenum">
              <a:rPr lang="en-CA" smtClean="0"/>
              <a:t>‹#›</a:t>
            </a:fld>
            <a:endParaRPr lang="en-CA"/>
          </a:p>
        </p:txBody>
      </p:sp>
    </p:spTree>
    <p:extLst>
      <p:ext uri="{BB962C8B-B14F-4D97-AF65-F5344CB8AC3E}">
        <p14:creationId xmlns:p14="http://schemas.microsoft.com/office/powerpoint/2010/main" val="1439686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BD8A9BDB-2D87-484D-8ED4-ACDC315ED939}" type="slidenum">
              <a:rPr lang="en-CA" smtClean="0"/>
              <a:t>4</a:t>
            </a:fld>
            <a:endParaRPr lang="en-CA"/>
          </a:p>
        </p:txBody>
      </p:sp>
    </p:spTree>
    <p:extLst>
      <p:ext uri="{BB962C8B-B14F-4D97-AF65-F5344CB8AC3E}">
        <p14:creationId xmlns:p14="http://schemas.microsoft.com/office/powerpoint/2010/main" val="218732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usan</a:t>
            </a:r>
            <a:r>
              <a:rPr lang="en-US" dirty="0"/>
              <a:t> </a:t>
            </a:r>
          </a:p>
        </p:txBody>
      </p:sp>
      <p:sp>
        <p:nvSpPr>
          <p:cNvPr id="4" name="Slide Number Placeholder 3"/>
          <p:cNvSpPr>
            <a:spLocks noGrp="1"/>
          </p:cNvSpPr>
          <p:nvPr>
            <p:ph type="sldNum" sz="quarter" idx="10"/>
          </p:nvPr>
        </p:nvSpPr>
        <p:spPr/>
        <p:txBody>
          <a:bodyPr/>
          <a:lstStyle/>
          <a:p>
            <a:fld id="{3D210F9B-7D77-41E7-9A68-7183E06A5F40}" type="slidenum">
              <a:rPr lang="en-US" smtClean="0"/>
              <a:t>12</a:t>
            </a:fld>
            <a:endParaRPr lang="en-US"/>
          </a:p>
        </p:txBody>
      </p:sp>
    </p:spTree>
    <p:extLst>
      <p:ext uri="{BB962C8B-B14F-4D97-AF65-F5344CB8AC3E}">
        <p14:creationId xmlns:p14="http://schemas.microsoft.com/office/powerpoint/2010/main" val="1879803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49C621-4435-49B6-899C-25C744F19EBD}"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C99FE5-9B91-4AFF-A804-C18C9BAD70CA}"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1199F7-8C83-44CD-B4E3-E9AF83C77657}" type="datetime1">
              <a:rPr lang="en-US" smtClean="0"/>
              <a:t>1/26/2023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ADA2A9-B61B-4986-97E2-29DC8BE3A1F7}" type="datetime1">
              <a:rPr lang="en-US" smtClean="0"/>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391101-AD3F-40A0-84F0-02D54393150A}" type="datetime1">
              <a:rPr lang="en-US" smtClean="0"/>
              <a:t>1/26/2023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343A3D-2386-478D-ACB1-763D3C2B89BF}" type="datetime1">
              <a:rPr lang="en-US" smtClean="0"/>
              <a:t>1/26/2023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435B15-D649-4961-82F5-7ACF6D36C58A}" type="datetime1">
              <a:rPr lang="en-US" smtClean="0"/>
              <a:t>1/26/2023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BB66C6-C46E-46E6-B9C7-81F528E242E6}" type="datetime1">
              <a:rPr lang="en-US" smtClean="0"/>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760A38D-F44B-41F8-BB26-4BC4420F53F9}" type="datetime1">
              <a:rPr lang="en-US" smtClean="0"/>
              <a:t>1/26/2023</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08E312-43F7-4492-9160-323BBB6ABC0F}"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D418D4-0C50-46A7-83DC-37ACCF5C776B}"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921ACDF5-AC0A-414E-BD2F-B81113939315}" type="datetime1">
              <a:rPr lang="en-US" smtClean="0"/>
              <a:t>1/26/2023</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E9bY3iE12yI&amp;t=115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eb2.uvcs.uvic.c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youtube.com/watch?v=E9bY3iE12yI&amp;t=115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604-220 </a:t>
            </a:r>
            <a:r>
              <a:rPr lang="en-US" dirty="0"/>
              <a:t>Week 2</a:t>
            </a:r>
          </a:p>
        </p:txBody>
      </p:sp>
      <p:sp>
        <p:nvSpPr>
          <p:cNvPr id="3" name="Content Placeholder 2"/>
          <p:cNvSpPr>
            <a:spLocks noGrp="1"/>
          </p:cNvSpPr>
          <p:nvPr>
            <p:ph idx="1"/>
          </p:nvPr>
        </p:nvSpPr>
        <p:spPr/>
        <p:txBody>
          <a:bodyPr>
            <a:normAutofit/>
          </a:bodyPr>
          <a:lstStyle/>
          <a:p>
            <a:pPr marL="571500" indent="-457200">
              <a:buAutoNum type="arabicPeriod"/>
            </a:pPr>
            <a:r>
              <a:rPr lang="en-US" sz="2800" dirty="0"/>
              <a:t>Attendance</a:t>
            </a:r>
          </a:p>
          <a:p>
            <a:pPr marL="571500" indent="-457200">
              <a:buAutoNum type="arabicPeriod"/>
            </a:pPr>
            <a:r>
              <a:rPr lang="en-US" sz="2800" dirty="0"/>
              <a:t>Pronunciation: –s and –es endings </a:t>
            </a:r>
          </a:p>
          <a:p>
            <a:pPr marL="571500" indent="-457200">
              <a:buAutoNum type="arabicPeriod"/>
            </a:pPr>
            <a:r>
              <a:rPr lang="en-US" sz="2800" dirty="0"/>
              <a:t>Simple Present vs. Present Continuous </a:t>
            </a:r>
          </a:p>
          <a:p>
            <a:pPr marL="571500" indent="-457200">
              <a:buFont typeface="Arial" pitchFamily="34" charset="0"/>
              <a:buAutoNum type="arabicPeriod"/>
            </a:pPr>
            <a:r>
              <a:rPr lang="en-US" sz="2800" dirty="0"/>
              <a:t>Reading—Main ideas exercise </a:t>
            </a:r>
          </a:p>
          <a:p>
            <a:pPr marL="114300" indent="0">
              <a:buNone/>
            </a:pPr>
            <a:endParaRPr lang="en-US" sz="2800" dirty="0"/>
          </a:p>
          <a:p>
            <a:pPr marL="114300" indent="0">
              <a:buNone/>
            </a:pPr>
            <a:endParaRPr lang="en-US" dirty="0"/>
          </a:p>
          <a:p>
            <a:pPr marL="114300" indent="0">
              <a:buNone/>
            </a:pPr>
            <a:endParaRPr lang="en-US" dirty="0"/>
          </a:p>
          <a:p>
            <a:pPr marL="114300" indent="0">
              <a:buNone/>
            </a:pPr>
            <a:endParaRPr lang="en-US" dirty="0"/>
          </a:p>
          <a:p>
            <a:pPr marL="571500" indent="-457200">
              <a:buAutoNum type="arabicPeriod"/>
            </a:pPr>
            <a:endParaRPr lang="en-US" dirty="0"/>
          </a:p>
          <a:p>
            <a:pPr marL="571500" indent="-457200">
              <a:buAutoNum type="arabicPeriod"/>
            </a:pPr>
            <a:endParaRPr lang="en-US" dirty="0"/>
          </a:p>
          <a:p>
            <a:pPr marL="571500" indent="-457200">
              <a:buAutoNum type="arabicPeriod"/>
            </a:pPr>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a:t>
            </a:fld>
            <a:endParaRPr lang="en-US"/>
          </a:p>
        </p:txBody>
      </p:sp>
    </p:spTree>
    <p:extLst>
      <p:ext uri="{BB962C8B-B14F-4D97-AF65-F5344CB8AC3E}">
        <p14:creationId xmlns:p14="http://schemas.microsoft.com/office/powerpoint/2010/main" val="1565683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137"/>
            <a:ext cx="7620000" cy="774990"/>
          </a:xfrm>
        </p:spPr>
        <p:txBody>
          <a:bodyPr/>
          <a:lstStyle/>
          <a:p>
            <a:r>
              <a:rPr lang="en-CA" dirty="0"/>
              <a:t>Pronouncing</a:t>
            </a:r>
            <a:r>
              <a:rPr lang="en-CA" dirty="0">
                <a:solidFill>
                  <a:schemeClr val="accent6"/>
                </a:solidFill>
              </a:rPr>
              <a:t> –s </a:t>
            </a:r>
            <a:r>
              <a:rPr lang="en-CA" dirty="0"/>
              <a:t>or </a:t>
            </a:r>
            <a:r>
              <a:rPr lang="en-CA" dirty="0">
                <a:solidFill>
                  <a:schemeClr val="accent6"/>
                </a:solidFill>
              </a:rPr>
              <a:t>–es </a:t>
            </a:r>
          </a:p>
        </p:txBody>
      </p:sp>
      <p:sp>
        <p:nvSpPr>
          <p:cNvPr id="3" name="Content Placeholder 2"/>
          <p:cNvSpPr>
            <a:spLocks noGrp="1"/>
          </p:cNvSpPr>
          <p:nvPr>
            <p:ph idx="1"/>
          </p:nvPr>
        </p:nvSpPr>
        <p:spPr>
          <a:xfrm>
            <a:off x="341290" y="1036749"/>
            <a:ext cx="8075054" cy="5759114"/>
          </a:xfrm>
        </p:spPr>
        <p:txBody>
          <a:bodyPr>
            <a:normAutofit/>
          </a:bodyPr>
          <a:lstStyle/>
          <a:p>
            <a:pPr marL="114300" indent="0">
              <a:buNone/>
            </a:pPr>
            <a:r>
              <a:rPr lang="en-CA" dirty="0"/>
              <a:t>Choose the correct pronunciation for the verb endings: </a:t>
            </a:r>
            <a:r>
              <a:rPr lang="en-CA" sz="2400" dirty="0">
                <a:solidFill>
                  <a:schemeClr val="tx2">
                    <a:lumMod val="50000"/>
                    <a:lumOff val="50000"/>
                  </a:schemeClr>
                </a:solidFill>
              </a:rPr>
              <a:t>/s/,  /z/, /</a:t>
            </a:r>
            <a:r>
              <a:rPr lang="en-CA" sz="2400" dirty="0" err="1">
                <a:solidFill>
                  <a:schemeClr val="tx2">
                    <a:lumMod val="50000"/>
                    <a:lumOff val="50000"/>
                  </a:schemeClr>
                </a:solidFill>
              </a:rPr>
              <a:t>iz</a:t>
            </a:r>
            <a:r>
              <a:rPr lang="en-CA" sz="2400" dirty="0">
                <a:solidFill>
                  <a:schemeClr val="tx2">
                    <a:lumMod val="50000"/>
                    <a:lumOff val="50000"/>
                  </a:schemeClr>
                </a:solidFill>
              </a:rPr>
              <a:t>/</a:t>
            </a:r>
          </a:p>
          <a:p>
            <a:pPr marL="571500" indent="-457200">
              <a:buAutoNum type="arabicPeriod"/>
            </a:pPr>
            <a:r>
              <a:rPr lang="en-CA" sz="2800" dirty="0"/>
              <a:t>believe</a:t>
            </a:r>
            <a:r>
              <a:rPr lang="en-CA" sz="2800" dirty="0">
                <a:solidFill>
                  <a:srgbClr val="FF0000"/>
                </a:solidFill>
              </a:rPr>
              <a:t>s</a:t>
            </a:r>
          </a:p>
          <a:p>
            <a:pPr marL="571500" indent="-457200">
              <a:buAutoNum type="arabicPeriod"/>
            </a:pPr>
            <a:r>
              <a:rPr lang="en-CA" sz="2800" dirty="0"/>
              <a:t>wash</a:t>
            </a:r>
            <a:r>
              <a:rPr lang="en-CA" sz="2800" dirty="0">
                <a:solidFill>
                  <a:srgbClr val="FF0000"/>
                </a:solidFill>
              </a:rPr>
              <a:t>es</a:t>
            </a:r>
          </a:p>
          <a:p>
            <a:pPr marL="571500" indent="-457200">
              <a:buAutoNum type="arabicPeriod"/>
            </a:pPr>
            <a:r>
              <a:rPr lang="en-CA" sz="2800" dirty="0"/>
              <a:t>hope</a:t>
            </a:r>
            <a:r>
              <a:rPr lang="en-CA" sz="2800" dirty="0">
                <a:solidFill>
                  <a:srgbClr val="FF0000"/>
                </a:solidFill>
              </a:rPr>
              <a:t>s</a:t>
            </a:r>
          </a:p>
          <a:p>
            <a:pPr marL="571500" indent="-457200">
              <a:buAutoNum type="arabicPeriod"/>
            </a:pPr>
            <a:r>
              <a:rPr lang="en-CA" sz="2800" dirty="0"/>
              <a:t>go</a:t>
            </a:r>
            <a:r>
              <a:rPr lang="en-CA" sz="2800" dirty="0">
                <a:solidFill>
                  <a:srgbClr val="FF0000"/>
                </a:solidFill>
              </a:rPr>
              <a:t>es</a:t>
            </a:r>
          </a:p>
          <a:p>
            <a:pPr marL="571500" indent="-457200">
              <a:buAutoNum type="arabicPeriod"/>
            </a:pPr>
            <a:r>
              <a:rPr lang="en-CA" sz="2800" dirty="0"/>
              <a:t>match</a:t>
            </a:r>
            <a:r>
              <a:rPr lang="en-CA" sz="2800" dirty="0">
                <a:solidFill>
                  <a:srgbClr val="FF0000"/>
                </a:solidFill>
              </a:rPr>
              <a:t>es</a:t>
            </a:r>
          </a:p>
          <a:p>
            <a:pPr marL="571500" indent="-457200">
              <a:buAutoNum type="arabicPeriod"/>
            </a:pPr>
            <a:r>
              <a:rPr lang="en-CA" sz="2800" dirty="0"/>
              <a:t>cough</a:t>
            </a:r>
            <a:r>
              <a:rPr lang="en-CA" sz="2800" dirty="0">
                <a:solidFill>
                  <a:srgbClr val="FF0000"/>
                </a:solidFill>
              </a:rPr>
              <a:t>s</a:t>
            </a:r>
          </a:p>
          <a:p>
            <a:pPr marL="571500" indent="-457200">
              <a:buAutoNum type="arabicPeriod"/>
            </a:pPr>
            <a:r>
              <a:rPr lang="en-CA" sz="2800" dirty="0"/>
              <a:t>rob</a:t>
            </a:r>
            <a:r>
              <a:rPr lang="en-CA" sz="2800" dirty="0">
                <a:solidFill>
                  <a:srgbClr val="FF0000"/>
                </a:solidFill>
              </a:rPr>
              <a:t>s</a:t>
            </a:r>
          </a:p>
          <a:p>
            <a:pPr marL="571500" indent="-457200">
              <a:buAutoNum type="arabicPeriod"/>
            </a:pPr>
            <a:r>
              <a:rPr lang="en-CA" sz="2800" dirty="0"/>
              <a:t>kiss</a:t>
            </a:r>
            <a:r>
              <a:rPr lang="en-CA" sz="2800" dirty="0">
                <a:solidFill>
                  <a:srgbClr val="FF0000"/>
                </a:solidFill>
              </a:rPr>
              <a:t>es</a:t>
            </a:r>
          </a:p>
          <a:p>
            <a:pPr marL="571500" indent="-457200">
              <a:buAutoNum type="arabicPeriod"/>
            </a:pPr>
            <a:r>
              <a:rPr lang="en-CA" sz="2800" dirty="0"/>
              <a:t>ask</a:t>
            </a:r>
            <a:r>
              <a:rPr lang="en-CA" sz="2800" dirty="0">
                <a:solidFill>
                  <a:srgbClr val="FF0000"/>
                </a:solidFill>
              </a:rPr>
              <a:t>s</a:t>
            </a:r>
          </a:p>
          <a:p>
            <a:pPr marL="571500" indent="-457200">
              <a:buAutoNum type="arabicPeriod"/>
            </a:pPr>
            <a:r>
              <a:rPr lang="en-CA" sz="2800" dirty="0"/>
              <a:t>room</a:t>
            </a:r>
            <a:r>
              <a:rPr lang="en-CA" sz="2800" dirty="0">
                <a:solidFill>
                  <a:srgbClr val="FF0000"/>
                </a:solidFill>
              </a:rPr>
              <a:t>s</a:t>
            </a:r>
          </a:p>
          <a:p>
            <a:pPr marL="571500" indent="-457200">
              <a:buAutoNum type="arabicPeriod"/>
            </a:pPr>
            <a:endParaRPr lang="en-CA" sz="2400" dirty="0">
              <a:solidFill>
                <a:srgbClr val="FF0000"/>
              </a:solidFill>
            </a:endParaRPr>
          </a:p>
          <a:p>
            <a:pPr marL="571500" indent="-457200">
              <a:buAutoNum type="arabicPeriod"/>
            </a:pPr>
            <a:endParaRPr lang="en-CA"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2</a:t>
            </a:fld>
            <a:endParaRPr lang="en-US"/>
          </a:p>
        </p:txBody>
      </p:sp>
    </p:spTree>
    <p:extLst>
      <p:ext uri="{BB962C8B-B14F-4D97-AF65-F5344CB8AC3E}">
        <p14:creationId xmlns:p14="http://schemas.microsoft.com/office/powerpoint/2010/main" val="636559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54E7D-6FF1-E007-4098-F42319986C96}"/>
              </a:ext>
            </a:extLst>
          </p:cNvPr>
          <p:cNvSpPr>
            <a:spLocks noGrp="1"/>
          </p:cNvSpPr>
          <p:nvPr>
            <p:ph type="title"/>
          </p:nvPr>
        </p:nvSpPr>
        <p:spPr>
          <a:xfrm>
            <a:off x="148107" y="274638"/>
            <a:ext cx="8126569" cy="1143000"/>
          </a:xfrm>
        </p:spPr>
        <p:txBody>
          <a:bodyPr/>
          <a:lstStyle/>
          <a:p>
            <a:r>
              <a:rPr lang="en-CA" sz="2400" dirty="0">
                <a:hlinkClick r:id="rId2"/>
              </a:rPr>
              <a:t>https://www.youtube.com/watch?v=E9bY3iE12yI&amp;t=115s</a:t>
            </a:r>
            <a:br>
              <a:rPr lang="en-CA" sz="2000" dirty="0"/>
            </a:br>
            <a:endParaRPr lang="en-CA" sz="2000" dirty="0"/>
          </a:p>
        </p:txBody>
      </p:sp>
      <p:pic>
        <p:nvPicPr>
          <p:cNvPr id="6" name="Content Placeholder 5">
            <a:extLst>
              <a:ext uri="{FF2B5EF4-FFF2-40B4-BE49-F238E27FC236}">
                <a16:creationId xmlns:a16="http://schemas.microsoft.com/office/drawing/2014/main" id="{B6279497-6F61-0854-9FDF-BE1FE10FEE9A}"/>
              </a:ext>
            </a:extLst>
          </p:cNvPr>
          <p:cNvPicPr>
            <a:picLocks noGrp="1" noChangeAspect="1"/>
          </p:cNvPicPr>
          <p:nvPr>
            <p:ph idx="1"/>
          </p:nvPr>
        </p:nvPicPr>
        <p:blipFill>
          <a:blip r:embed="rId3"/>
          <a:stretch>
            <a:fillRect/>
          </a:stretch>
        </p:blipFill>
        <p:spPr>
          <a:xfrm>
            <a:off x="148107" y="1551904"/>
            <a:ext cx="8201143" cy="4097056"/>
          </a:xfrm>
        </p:spPr>
      </p:pic>
      <p:sp>
        <p:nvSpPr>
          <p:cNvPr id="4" name="Slide Number Placeholder 3">
            <a:extLst>
              <a:ext uri="{FF2B5EF4-FFF2-40B4-BE49-F238E27FC236}">
                <a16:creationId xmlns:a16="http://schemas.microsoft.com/office/drawing/2014/main" id="{941D9188-8EB4-A0A6-6F14-79A1FA0FF1D7}"/>
              </a:ext>
            </a:extLst>
          </p:cNvPr>
          <p:cNvSpPr>
            <a:spLocks noGrp="1"/>
          </p:cNvSpPr>
          <p:nvPr>
            <p:ph type="sldNum" sz="quarter" idx="12"/>
          </p:nvPr>
        </p:nvSpPr>
        <p:spPr/>
        <p:txBody>
          <a:bodyPr/>
          <a:lstStyle/>
          <a:p>
            <a:fld id="{6E2D2B3B-882E-40F3-A32F-6DD516915044}" type="slidenum">
              <a:rPr lang="en-US" smtClean="0"/>
              <a:pPr/>
              <a:t>3</a:t>
            </a:fld>
            <a:endParaRPr lang="en-US"/>
          </a:p>
        </p:txBody>
      </p:sp>
    </p:spTree>
    <p:extLst>
      <p:ext uri="{BB962C8B-B14F-4D97-AF65-F5344CB8AC3E}">
        <p14:creationId xmlns:p14="http://schemas.microsoft.com/office/powerpoint/2010/main" val="3955400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124" y="29939"/>
            <a:ext cx="7620000" cy="749233"/>
          </a:xfrm>
        </p:spPr>
        <p:txBody>
          <a:bodyPr/>
          <a:lstStyle/>
          <a:p>
            <a:r>
              <a:rPr lang="en-CA" dirty="0"/>
              <a:t>Rules of pronouncing </a:t>
            </a:r>
            <a:r>
              <a:rPr lang="en-CA" i="1" dirty="0">
                <a:solidFill>
                  <a:schemeClr val="accent6"/>
                </a:solidFill>
              </a:rPr>
              <a:t>–s </a:t>
            </a:r>
            <a:r>
              <a:rPr lang="en-CA" dirty="0"/>
              <a:t>or </a:t>
            </a:r>
            <a:r>
              <a:rPr lang="en-CA" i="1" dirty="0">
                <a:solidFill>
                  <a:schemeClr val="accent6"/>
                </a:solidFill>
              </a:rPr>
              <a:t>–</a:t>
            </a:r>
            <a:r>
              <a:rPr lang="en-CA" i="1" dirty="0" err="1">
                <a:solidFill>
                  <a:schemeClr val="accent6"/>
                </a:solidFill>
              </a:rPr>
              <a:t>es</a:t>
            </a:r>
            <a:r>
              <a:rPr lang="en-CA" i="1" dirty="0">
                <a:solidFill>
                  <a:schemeClr val="accent6"/>
                </a:solidFill>
              </a:rPr>
              <a:t> </a:t>
            </a:r>
          </a:p>
        </p:txBody>
      </p:sp>
      <p:sp>
        <p:nvSpPr>
          <p:cNvPr id="3" name="Content Placeholder 2"/>
          <p:cNvSpPr>
            <a:spLocks noGrp="1"/>
          </p:cNvSpPr>
          <p:nvPr>
            <p:ph idx="1"/>
          </p:nvPr>
        </p:nvSpPr>
        <p:spPr>
          <a:xfrm>
            <a:off x="63572" y="1159099"/>
            <a:ext cx="8372090" cy="5698901"/>
          </a:xfrm>
        </p:spPr>
        <p:txBody>
          <a:bodyPr/>
          <a:lstStyle/>
          <a:p>
            <a:pPr marL="114300" indent="0">
              <a:buNone/>
            </a:pPr>
            <a:r>
              <a:rPr lang="en-CA" dirty="0"/>
              <a:t>1.	</a:t>
            </a:r>
            <a:r>
              <a:rPr lang="en-CA" sz="2400" dirty="0"/>
              <a:t>/s/</a:t>
            </a:r>
          </a:p>
          <a:p>
            <a:pPr marL="114300" indent="0">
              <a:buNone/>
            </a:pPr>
            <a:r>
              <a:rPr lang="en-CA" sz="2400" dirty="0"/>
              <a:t>	Nouns and verbs with the sounds /p/, /f/, /k/, /t/, /</a:t>
            </a:r>
            <a:r>
              <a:rPr lang="el-GR" sz="2400" dirty="0"/>
              <a:t>θ/</a:t>
            </a:r>
            <a:endParaRPr lang="en-CA" sz="2400" dirty="0"/>
          </a:p>
          <a:p>
            <a:pPr marL="114300" indent="0">
              <a:buNone/>
            </a:pPr>
            <a:r>
              <a:rPr lang="en-CA" sz="2400" dirty="0"/>
              <a:t>	For example: hi</a:t>
            </a:r>
            <a:r>
              <a:rPr lang="en-CA" sz="2400" dirty="0">
                <a:highlight>
                  <a:srgbClr val="FFFF00"/>
                </a:highlight>
              </a:rPr>
              <a:t>ke</a:t>
            </a:r>
            <a:r>
              <a:rPr lang="en-CA" sz="2400" dirty="0">
                <a:solidFill>
                  <a:schemeClr val="accent6"/>
                </a:solidFill>
              </a:rPr>
              <a:t>s</a:t>
            </a:r>
          </a:p>
          <a:p>
            <a:pPr marL="114300" indent="0">
              <a:buNone/>
            </a:pPr>
            <a:r>
              <a:rPr lang="en-CA" sz="2400" dirty="0"/>
              <a:t>	Your examples:______________________________.</a:t>
            </a:r>
          </a:p>
          <a:p>
            <a:pPr marL="114300" indent="0">
              <a:buNone/>
            </a:pPr>
            <a:r>
              <a:rPr lang="en-CA" sz="2400" dirty="0"/>
              <a:t>2.	/</a:t>
            </a:r>
            <a:r>
              <a:rPr lang="en-CA" sz="2400" dirty="0" err="1"/>
              <a:t>iz</a:t>
            </a:r>
            <a:r>
              <a:rPr lang="en-CA" sz="2400" dirty="0"/>
              <a:t>/</a:t>
            </a:r>
          </a:p>
          <a:p>
            <a:pPr marL="114300" indent="0">
              <a:buNone/>
            </a:pPr>
            <a:r>
              <a:rPr lang="en-CA" sz="2400" dirty="0"/>
              <a:t>	Nouns and verbs with the sounds /s/,/z/,/</a:t>
            </a:r>
            <a:r>
              <a:rPr lang="en-CA" sz="2400" dirty="0" err="1"/>
              <a:t>ks</a:t>
            </a:r>
            <a:r>
              <a:rPr lang="en-CA" sz="2400" dirty="0"/>
              <a:t>/,-</a:t>
            </a:r>
            <a:r>
              <a:rPr lang="en-CA" sz="2400" dirty="0" err="1"/>
              <a:t>ch</a:t>
            </a:r>
            <a:r>
              <a:rPr lang="en-CA" sz="2400" dirty="0"/>
              <a:t>, -</a:t>
            </a:r>
            <a:r>
              <a:rPr lang="en-CA" sz="2400" dirty="0" err="1"/>
              <a:t>sh</a:t>
            </a:r>
            <a:r>
              <a:rPr lang="en-CA" sz="2400" dirty="0"/>
              <a:t>,-</a:t>
            </a:r>
            <a:r>
              <a:rPr lang="en-CA" sz="2400" dirty="0" err="1"/>
              <a:t>dge</a:t>
            </a:r>
            <a:r>
              <a:rPr lang="en-CA" sz="2400" dirty="0"/>
              <a:t> </a:t>
            </a:r>
          </a:p>
          <a:p>
            <a:pPr marL="114300" indent="0">
              <a:buNone/>
            </a:pPr>
            <a:r>
              <a:rPr lang="en-CA" sz="2400" dirty="0"/>
              <a:t>	For example: mi</a:t>
            </a:r>
            <a:r>
              <a:rPr lang="en-CA" sz="2400" dirty="0">
                <a:highlight>
                  <a:srgbClr val="FFFF00"/>
                </a:highlight>
              </a:rPr>
              <a:t>ss</a:t>
            </a:r>
            <a:r>
              <a:rPr lang="en-CA" sz="2400" dirty="0">
                <a:solidFill>
                  <a:schemeClr val="accent6"/>
                </a:solidFill>
              </a:rPr>
              <a:t>es</a:t>
            </a:r>
          </a:p>
          <a:p>
            <a:pPr marL="114300" indent="0">
              <a:buNone/>
            </a:pPr>
            <a:r>
              <a:rPr lang="en-CA" sz="2400" dirty="0"/>
              <a:t>	 Your examples:______________________________.</a:t>
            </a:r>
          </a:p>
          <a:p>
            <a:pPr marL="114300" indent="0">
              <a:buNone/>
            </a:pPr>
            <a:r>
              <a:rPr lang="en-CA" sz="2400" dirty="0"/>
              <a:t>3.	/z/</a:t>
            </a:r>
            <a:endParaRPr lang="en-CA" sz="2400" dirty="0">
              <a:highlight>
                <a:srgbClr val="FFFF00"/>
              </a:highlight>
            </a:endParaRPr>
          </a:p>
          <a:p>
            <a:pPr marL="411480" lvl="1" indent="0">
              <a:buNone/>
            </a:pPr>
            <a:r>
              <a:rPr lang="en-CA" sz="2400" dirty="0"/>
              <a:t>	Nouns and verbs ending in all other sounds</a:t>
            </a:r>
          </a:p>
          <a:p>
            <a:pPr marL="411480" lvl="1" indent="0">
              <a:buNone/>
            </a:pPr>
            <a:r>
              <a:rPr lang="en-CA" sz="2400" dirty="0"/>
              <a:t>	For example: ba</a:t>
            </a:r>
            <a:r>
              <a:rPr lang="en-CA" sz="2400" dirty="0">
                <a:highlight>
                  <a:srgbClr val="FFFF00"/>
                </a:highlight>
              </a:rPr>
              <a:t>g</a:t>
            </a:r>
            <a:r>
              <a:rPr lang="en-CA" sz="2400" dirty="0">
                <a:solidFill>
                  <a:schemeClr val="accent6"/>
                </a:solidFill>
              </a:rPr>
              <a:t>s</a:t>
            </a:r>
          </a:p>
          <a:p>
            <a:pPr marL="411480" lvl="1" indent="0">
              <a:buNone/>
            </a:pPr>
            <a:r>
              <a:rPr lang="en-CA" sz="2400" dirty="0"/>
              <a:t>	 Your examples:______________________________.</a:t>
            </a:r>
          </a:p>
        </p:txBody>
      </p:sp>
      <p:sp>
        <p:nvSpPr>
          <p:cNvPr id="6" name="Slide Number Placeholder 5"/>
          <p:cNvSpPr>
            <a:spLocks noGrp="1"/>
          </p:cNvSpPr>
          <p:nvPr>
            <p:ph type="sldNum" sz="quarter" idx="12"/>
          </p:nvPr>
        </p:nvSpPr>
        <p:spPr/>
        <p:txBody>
          <a:bodyPr/>
          <a:lstStyle/>
          <a:p>
            <a:fld id="{6E2D2B3B-882E-40F3-A32F-6DD516915044}" type="slidenum">
              <a:rPr lang="en-US" smtClean="0"/>
              <a:pPr/>
              <a:t>4</a:t>
            </a:fld>
            <a:endParaRPr lang="en-US"/>
          </a:p>
        </p:txBody>
      </p:sp>
    </p:spTree>
    <p:extLst>
      <p:ext uri="{BB962C8B-B14F-4D97-AF65-F5344CB8AC3E}">
        <p14:creationId xmlns:p14="http://schemas.microsoft.com/office/powerpoint/2010/main" val="3320297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Pronunciation practice</a:t>
            </a:r>
            <a:br>
              <a:rPr lang="en-US" dirty="0"/>
            </a:br>
            <a:endParaRPr lang="en-US" dirty="0"/>
          </a:p>
        </p:txBody>
      </p:sp>
      <p:sp>
        <p:nvSpPr>
          <p:cNvPr id="3" name="Content Placeholder 2"/>
          <p:cNvSpPr>
            <a:spLocks noGrp="1"/>
          </p:cNvSpPr>
          <p:nvPr>
            <p:ph idx="1"/>
          </p:nvPr>
        </p:nvSpPr>
        <p:spPr>
          <a:xfrm>
            <a:off x="135229" y="1105469"/>
            <a:ext cx="8178084" cy="5681697"/>
          </a:xfrm>
        </p:spPr>
        <p:txBody>
          <a:bodyPr/>
          <a:lstStyle/>
          <a:p>
            <a:pPr marL="114300" indent="0">
              <a:buNone/>
            </a:pPr>
            <a:r>
              <a:rPr lang="en-US" dirty="0"/>
              <a:t>Read the following paragraph and pay special attention to the pronunciation of </a:t>
            </a:r>
            <a:r>
              <a:rPr lang="en-US" dirty="0">
                <a:solidFill>
                  <a:schemeClr val="accent6"/>
                </a:solidFill>
              </a:rPr>
              <a:t>–s </a:t>
            </a:r>
            <a:r>
              <a:rPr lang="en-US" dirty="0"/>
              <a:t>and </a:t>
            </a:r>
            <a:r>
              <a:rPr lang="en-US" dirty="0">
                <a:solidFill>
                  <a:schemeClr val="accent6"/>
                </a:solidFill>
              </a:rPr>
              <a:t>–</a:t>
            </a:r>
            <a:r>
              <a:rPr lang="en-US" dirty="0" err="1">
                <a:solidFill>
                  <a:schemeClr val="accent6"/>
                </a:solidFill>
              </a:rPr>
              <a:t>es</a:t>
            </a:r>
            <a:r>
              <a:rPr lang="en-US" dirty="0">
                <a:solidFill>
                  <a:schemeClr val="accent6"/>
                </a:solidFill>
              </a:rPr>
              <a:t> </a:t>
            </a:r>
            <a:r>
              <a:rPr lang="en-US" dirty="0"/>
              <a:t>endings. </a:t>
            </a:r>
          </a:p>
          <a:p>
            <a:pPr marL="114300" indent="0">
              <a:buNone/>
            </a:pPr>
            <a:endParaRPr lang="en-US" dirty="0"/>
          </a:p>
          <a:p>
            <a:pPr marL="114300" indent="0">
              <a:buNone/>
            </a:pPr>
            <a:r>
              <a:rPr lang="en-US" sz="2800" dirty="0"/>
              <a:t>“Inventors in Canada have two primary tools to protect their inventions: the trademark and the patent. They are both useful in certain respects, but which is better? While the patent protects the physical designs and functions of new intellectual property, the trademark is used to protect the brand names, such as Tim Horton’s, McDonald’s, and so on. ”</a:t>
            </a:r>
            <a:endParaRPr lang="en-US" dirty="0"/>
          </a:p>
          <a:p>
            <a:pPr marL="114300" indent="0" algn="r">
              <a:buNone/>
            </a:pPr>
            <a:r>
              <a:rPr lang="en-US" dirty="0"/>
              <a:t> </a:t>
            </a:r>
            <a:r>
              <a:rPr lang="en-US" sz="2000" dirty="0"/>
              <a:t>adapted from </a:t>
            </a:r>
            <a:r>
              <a:rPr lang="en-US" sz="2000" i="1" dirty="0"/>
              <a:t>Trademark or Patent </a:t>
            </a:r>
            <a:r>
              <a:rPr lang="en-US" sz="2000" dirty="0"/>
              <a:t>by Diego </a:t>
            </a:r>
            <a:r>
              <a:rPr lang="en-US" sz="2000" dirty="0" err="1"/>
              <a:t>Pelaez</a:t>
            </a:r>
            <a:endParaRPr lang="en-US" sz="2000" dirty="0"/>
          </a:p>
          <a:p>
            <a:pPr marL="114300" indent="0">
              <a:buNone/>
            </a:pPr>
            <a:endParaRPr lang="en-US" i="1" dirty="0">
              <a:solidFill>
                <a:schemeClr val="accent1"/>
              </a:solidFill>
            </a:endParaRPr>
          </a:p>
          <a:p>
            <a:pPr marL="114300" indent="0">
              <a:buNone/>
            </a:pPr>
            <a:r>
              <a:rPr lang="en-US" sz="2400" i="1" dirty="0">
                <a:solidFill>
                  <a:schemeClr val="accent1"/>
                </a:solidFill>
              </a:rPr>
              <a:t>Question: What’s your favorite brand for clothing and why? </a:t>
            </a:r>
          </a:p>
        </p:txBody>
      </p:sp>
      <p:sp>
        <p:nvSpPr>
          <p:cNvPr id="4" name="Slide Number Placeholder 3"/>
          <p:cNvSpPr>
            <a:spLocks noGrp="1"/>
          </p:cNvSpPr>
          <p:nvPr>
            <p:ph type="sldNum" sz="quarter" idx="12"/>
          </p:nvPr>
        </p:nvSpPr>
        <p:spPr/>
        <p:txBody>
          <a:bodyPr/>
          <a:lstStyle/>
          <a:p>
            <a:fld id="{6E2D2B3B-882E-40F3-A32F-6DD516915044}" type="slidenum">
              <a:rPr lang="en-US" smtClean="0"/>
              <a:pPr/>
              <a:t>5</a:t>
            </a:fld>
            <a:endParaRPr lang="en-US"/>
          </a:p>
        </p:txBody>
      </p:sp>
    </p:spTree>
    <p:extLst>
      <p:ext uri="{BB962C8B-B14F-4D97-AF65-F5344CB8AC3E}">
        <p14:creationId xmlns:p14="http://schemas.microsoft.com/office/powerpoint/2010/main" val="1150802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Grammar Review</a:t>
            </a:r>
          </a:p>
        </p:txBody>
      </p:sp>
      <p:sp>
        <p:nvSpPr>
          <p:cNvPr id="3" name="Content Placeholder 2"/>
          <p:cNvSpPr>
            <a:spLocks noGrp="1"/>
          </p:cNvSpPr>
          <p:nvPr>
            <p:ph idx="1"/>
          </p:nvPr>
        </p:nvSpPr>
        <p:spPr/>
        <p:txBody>
          <a:bodyPr>
            <a:normAutofit/>
          </a:bodyPr>
          <a:lstStyle/>
          <a:p>
            <a:pPr marL="114300" indent="0">
              <a:buNone/>
            </a:pPr>
            <a:r>
              <a:rPr lang="en-CA" sz="3600" dirty="0"/>
              <a:t>What are the names of the present tenses? </a:t>
            </a:r>
          </a:p>
          <a:p>
            <a:pPr marL="857250" indent="-742950">
              <a:buAutoNum type="arabicPeriod"/>
            </a:pPr>
            <a:r>
              <a:rPr lang="en-CA" sz="3600" dirty="0"/>
              <a:t>__________</a:t>
            </a:r>
          </a:p>
          <a:p>
            <a:pPr marL="857250" indent="-742950">
              <a:buAutoNum type="arabicPeriod"/>
            </a:pPr>
            <a:r>
              <a:rPr lang="en-CA" sz="3600" dirty="0"/>
              <a:t>__________</a:t>
            </a:r>
          </a:p>
          <a:p>
            <a:pPr marL="857250" indent="-742950">
              <a:buAutoNum type="arabicPeriod"/>
            </a:pPr>
            <a:r>
              <a:rPr lang="en-CA" sz="3600" dirty="0"/>
              <a:t>__________</a:t>
            </a:r>
          </a:p>
          <a:p>
            <a:pPr marL="857250" indent="-742950">
              <a:buAutoNum type="arabicPeriod"/>
            </a:pPr>
            <a:r>
              <a:rPr lang="en-CA" sz="3600" dirty="0"/>
              <a:t>__________</a:t>
            </a:r>
          </a:p>
        </p:txBody>
      </p:sp>
      <p:sp>
        <p:nvSpPr>
          <p:cNvPr id="4" name="Slide Number Placeholder 3"/>
          <p:cNvSpPr>
            <a:spLocks noGrp="1"/>
          </p:cNvSpPr>
          <p:nvPr>
            <p:ph type="sldNum" sz="quarter" idx="12"/>
          </p:nvPr>
        </p:nvSpPr>
        <p:spPr/>
        <p:txBody>
          <a:bodyPr/>
          <a:lstStyle/>
          <a:p>
            <a:fld id="{6E2D2B3B-882E-40F3-A32F-6DD516915044}" type="slidenum">
              <a:rPr lang="en-US" smtClean="0"/>
              <a:pPr/>
              <a:t>6</a:t>
            </a:fld>
            <a:endParaRPr lang="en-US"/>
          </a:p>
        </p:txBody>
      </p:sp>
    </p:spTree>
    <p:extLst>
      <p:ext uri="{BB962C8B-B14F-4D97-AF65-F5344CB8AC3E}">
        <p14:creationId xmlns:p14="http://schemas.microsoft.com/office/powerpoint/2010/main" val="1292571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simple present tense is used for two main types of actions:</a:t>
            </a:r>
          </a:p>
        </p:txBody>
      </p:sp>
      <p:sp>
        <p:nvSpPr>
          <p:cNvPr id="3" name="Content Placeholder 2"/>
          <p:cNvSpPr>
            <a:spLocks noGrp="1"/>
          </p:cNvSpPr>
          <p:nvPr>
            <p:ph idx="1"/>
          </p:nvPr>
        </p:nvSpPr>
        <p:spPr/>
        <p:txBody>
          <a:bodyPr>
            <a:normAutofit/>
          </a:bodyPr>
          <a:lstStyle/>
          <a:p>
            <a:pPr marL="114300" indent="0">
              <a:buNone/>
            </a:pPr>
            <a:r>
              <a:rPr lang="en-US" sz="2400" dirty="0"/>
              <a:t>1. Habits: Actions which happen regularly like every day or  	      every week</a:t>
            </a:r>
          </a:p>
          <a:p>
            <a:pPr marL="114300" indent="0">
              <a:buNone/>
            </a:pPr>
            <a:r>
              <a:rPr lang="en-US" sz="2400" dirty="0"/>
              <a:t>2. States: Things which do not often change like facts or    </a:t>
            </a:r>
          </a:p>
          <a:p>
            <a:pPr marL="114300" indent="0">
              <a:buNone/>
            </a:pPr>
            <a:r>
              <a:rPr lang="en-US" sz="2400" dirty="0"/>
              <a:t>                  beliefs</a:t>
            </a:r>
          </a:p>
          <a:p>
            <a:pPr marL="114300" indent="0">
              <a:buNone/>
            </a:pPr>
            <a:endParaRPr lang="en-US" sz="2400"/>
          </a:p>
          <a:p>
            <a:pPr marL="114300" indent="0">
              <a:buNone/>
            </a:pPr>
            <a:r>
              <a:rPr lang="en-US" sz="2400" dirty="0"/>
              <a:t>Examples:</a:t>
            </a:r>
          </a:p>
          <a:p>
            <a:pPr marL="571500" indent="-457200">
              <a:buAutoNum type="arabicParenR"/>
            </a:pPr>
            <a:r>
              <a:rPr lang="en-US" sz="2400" dirty="0"/>
              <a:t>Joshua_____ (like) chocolate.</a:t>
            </a:r>
          </a:p>
          <a:p>
            <a:pPr marL="571500" indent="-457200">
              <a:buAutoNum type="arabicParenR"/>
            </a:pPr>
            <a:r>
              <a:rPr lang="en-US" sz="2400" dirty="0"/>
              <a:t>Sam _____ (not brush) his teeth every day.</a:t>
            </a:r>
          </a:p>
          <a:p>
            <a:pPr marL="571500" indent="-457200">
              <a:buAutoNum type="arabicParenR"/>
            </a:pPr>
            <a:r>
              <a:rPr lang="en-US" sz="2400" dirty="0"/>
              <a:t>Carla’s uncle _____ (live) in Florida. </a:t>
            </a:r>
          </a:p>
          <a:p>
            <a:pPr marL="571500" indent="-457200">
              <a:buAutoNum type="arabicParenR"/>
            </a:pPr>
            <a:r>
              <a:rPr lang="en-US" sz="2400" dirty="0"/>
              <a:t>Jenny _____ (talk) too much. </a:t>
            </a:r>
          </a:p>
          <a:p>
            <a:pPr marL="571500" indent="-457200">
              <a:buAutoNum type="arabicParenR"/>
            </a:pPr>
            <a:r>
              <a:rPr lang="en-US" sz="2400" dirty="0"/>
              <a:t>I usually_____ (have) a salad for lunch. </a:t>
            </a:r>
          </a:p>
          <a:p>
            <a:pPr marL="114300" indent="0">
              <a:buNone/>
            </a:pPr>
            <a:endParaRPr lang="en-US" sz="24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7</a:t>
            </a:fld>
            <a:endParaRPr lang="en-US"/>
          </a:p>
        </p:txBody>
      </p:sp>
    </p:spTree>
    <p:extLst>
      <p:ext uri="{BB962C8B-B14F-4D97-AF65-F5344CB8AC3E}">
        <p14:creationId xmlns:p14="http://schemas.microsoft.com/office/powerpoint/2010/main" val="3445237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The present continuous tense is used for two main types of action:</a:t>
            </a:r>
          </a:p>
        </p:txBody>
      </p:sp>
      <p:sp>
        <p:nvSpPr>
          <p:cNvPr id="3" name="Content Placeholder 2"/>
          <p:cNvSpPr>
            <a:spLocks noGrp="1"/>
          </p:cNvSpPr>
          <p:nvPr>
            <p:ph idx="1"/>
          </p:nvPr>
        </p:nvSpPr>
        <p:spPr/>
        <p:txBody>
          <a:bodyPr>
            <a:normAutofit lnSpcReduction="10000"/>
          </a:bodyPr>
          <a:lstStyle/>
          <a:p>
            <a:pPr marL="114300" indent="0">
              <a:buNone/>
            </a:pPr>
            <a:endParaRPr lang="en-US" dirty="0"/>
          </a:p>
          <a:p>
            <a:pPr marL="114300" indent="0">
              <a:buNone/>
            </a:pPr>
            <a:r>
              <a:rPr lang="en-US" sz="2800" dirty="0"/>
              <a:t>1. A temporary action happening now:</a:t>
            </a:r>
          </a:p>
          <a:p>
            <a:pPr marL="114300" indent="0">
              <a:buNone/>
            </a:pPr>
            <a:r>
              <a:rPr lang="en-US" sz="2800" dirty="0"/>
              <a:t>	Something which is going on right now (but 	it will stop in the future)</a:t>
            </a:r>
          </a:p>
          <a:p>
            <a:pPr marL="114300" indent="0">
              <a:buNone/>
            </a:pPr>
            <a:endParaRPr lang="en-US" sz="2800" dirty="0"/>
          </a:p>
          <a:p>
            <a:pPr marL="114300" indent="0">
              <a:buNone/>
            </a:pPr>
            <a:r>
              <a:rPr lang="en-US" sz="2800" dirty="0"/>
              <a:t>2. A definite plan for the future:</a:t>
            </a:r>
          </a:p>
          <a:p>
            <a:pPr marL="114300" indent="0">
              <a:buNone/>
            </a:pPr>
            <a:r>
              <a:rPr lang="en-US" sz="2800" dirty="0"/>
              <a:t>	Something we intend to do, usually in the 	near future</a:t>
            </a:r>
          </a:p>
          <a:p>
            <a:pPr marL="114300" indent="0">
              <a:buNone/>
            </a:pPr>
            <a:endParaRPr lang="en-US" sz="2800" i="1" dirty="0"/>
          </a:p>
          <a:p>
            <a:pPr marL="114300" indent="0" algn="ctr">
              <a:buNone/>
            </a:pPr>
            <a:r>
              <a:rPr lang="en-US" sz="2800" i="1" dirty="0"/>
              <a:t>See next page for examples.</a:t>
            </a:r>
          </a:p>
          <a:p>
            <a:pPr marL="114300" indent="0">
              <a:buNone/>
            </a:pPr>
            <a:endParaRPr lang="en-US" sz="2800" dirty="0"/>
          </a:p>
          <a:p>
            <a:pPr marL="114300" indent="0">
              <a:buNone/>
            </a:pPr>
            <a:endParaRPr lang="en-US" sz="28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8</a:t>
            </a:fld>
            <a:endParaRPr lang="en-US"/>
          </a:p>
        </p:txBody>
      </p:sp>
    </p:spTree>
    <p:extLst>
      <p:ext uri="{BB962C8B-B14F-4D97-AF65-F5344CB8AC3E}">
        <p14:creationId xmlns:p14="http://schemas.microsoft.com/office/powerpoint/2010/main" val="4123235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Present continuous tense examples </a:t>
            </a:r>
            <a:br>
              <a:rPr lang="en-US" sz="3600" dirty="0"/>
            </a:br>
            <a:endParaRPr lang="en-US" sz="3600" dirty="0"/>
          </a:p>
        </p:txBody>
      </p:sp>
      <p:sp>
        <p:nvSpPr>
          <p:cNvPr id="3" name="Content Placeholder 2"/>
          <p:cNvSpPr>
            <a:spLocks noGrp="1"/>
          </p:cNvSpPr>
          <p:nvPr>
            <p:ph idx="1"/>
          </p:nvPr>
        </p:nvSpPr>
        <p:spPr>
          <a:xfrm>
            <a:off x="457200" y="1160060"/>
            <a:ext cx="7620000" cy="5240740"/>
          </a:xfrm>
        </p:spPr>
        <p:txBody>
          <a:bodyPr>
            <a:normAutofit/>
          </a:bodyPr>
          <a:lstStyle/>
          <a:p>
            <a:pPr marL="114300" indent="0">
              <a:buNone/>
            </a:pPr>
            <a:endParaRPr lang="en-US" sz="2800" dirty="0"/>
          </a:p>
          <a:p>
            <a:pPr marL="114300" indent="0">
              <a:buNone/>
            </a:pPr>
            <a:r>
              <a:rPr lang="en-US" sz="2800" dirty="0"/>
              <a:t>A continuous temporary action or a future plan?</a:t>
            </a:r>
          </a:p>
          <a:p>
            <a:pPr marL="114300" indent="0">
              <a:buNone/>
            </a:pPr>
            <a:endParaRPr lang="en-US" sz="2800" dirty="0"/>
          </a:p>
          <a:p>
            <a:pPr marL="628650" indent="-514350">
              <a:buFont typeface="+mj-lt"/>
              <a:buAutoNum type="arabicPeriod"/>
            </a:pPr>
            <a:r>
              <a:rPr lang="en-US" sz="2800" dirty="0"/>
              <a:t>I_____ (have) a party this Friday.</a:t>
            </a:r>
          </a:p>
          <a:p>
            <a:pPr marL="628650" indent="-514350">
              <a:buFont typeface="+mj-lt"/>
              <a:buAutoNum type="arabicPeriod"/>
            </a:pPr>
            <a:r>
              <a:rPr lang="en-US" sz="2800" dirty="0"/>
              <a:t>Terry _____ (think) about taking a vacation. </a:t>
            </a:r>
          </a:p>
          <a:p>
            <a:pPr marL="628650" indent="-514350">
              <a:buFont typeface="+mj-lt"/>
              <a:buAutoNum type="arabicPeriod"/>
            </a:pPr>
            <a:r>
              <a:rPr lang="en-US" sz="2800" dirty="0"/>
              <a:t>It _____ (rain) outside.</a:t>
            </a:r>
          </a:p>
          <a:p>
            <a:pPr marL="628650" indent="-514350">
              <a:buFont typeface="+mj-lt"/>
              <a:buAutoNum type="arabicPeriod"/>
            </a:pPr>
            <a:r>
              <a:rPr lang="en-US" sz="2800" dirty="0"/>
              <a:t>Maria _____ (leave) for Toronto soon.</a:t>
            </a:r>
          </a:p>
          <a:p>
            <a:pPr marL="628650" indent="-514350">
              <a:buFont typeface="+mj-lt"/>
              <a:buAutoNum type="arabicPeriod"/>
            </a:pPr>
            <a:r>
              <a:rPr lang="en-US" sz="2800" dirty="0"/>
              <a:t>Tom _____ (spend) lots of time on the project.</a:t>
            </a:r>
          </a:p>
          <a:p>
            <a:pPr marL="628650" indent="-514350">
              <a:buFont typeface="+mj-lt"/>
              <a:buAutoNum type="arabicPeriod"/>
            </a:pPr>
            <a:r>
              <a:rPr lang="en-US" sz="2800" dirty="0"/>
              <a:t>Helen _____ (go) to see her grandma. </a:t>
            </a:r>
          </a:p>
          <a:p>
            <a:pPr marL="628650" indent="-514350">
              <a:buFont typeface="+mj-lt"/>
              <a:buAutoNum type="arabicPeriod"/>
            </a:pPr>
            <a:endParaRPr lang="en-US" sz="2800" dirty="0"/>
          </a:p>
          <a:p>
            <a:pPr marL="114300" indent="0">
              <a:buNone/>
            </a:pPr>
            <a:endParaRPr lang="en-US" sz="28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9</a:t>
            </a:fld>
            <a:endParaRPr lang="en-US"/>
          </a:p>
        </p:txBody>
      </p:sp>
    </p:spTree>
    <p:extLst>
      <p:ext uri="{BB962C8B-B14F-4D97-AF65-F5344CB8AC3E}">
        <p14:creationId xmlns:p14="http://schemas.microsoft.com/office/powerpoint/2010/main" val="167466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12466"/>
          </a:xfrm>
        </p:spPr>
        <p:txBody>
          <a:bodyPr/>
          <a:lstStyle/>
          <a:p>
            <a:br>
              <a:rPr lang="en-US" sz="3600" dirty="0"/>
            </a:br>
            <a:r>
              <a:rPr lang="en-US" sz="3600" dirty="0"/>
              <a:t>Simple Present or Present Continuous</a:t>
            </a:r>
            <a:br>
              <a:rPr lang="en-US" sz="3600" dirty="0"/>
            </a:br>
            <a:endParaRPr lang="en-US" sz="3600" dirty="0"/>
          </a:p>
        </p:txBody>
      </p:sp>
      <p:sp>
        <p:nvSpPr>
          <p:cNvPr id="3" name="Content Placeholder 2"/>
          <p:cNvSpPr>
            <a:spLocks noGrp="1"/>
          </p:cNvSpPr>
          <p:nvPr>
            <p:ph idx="1"/>
          </p:nvPr>
        </p:nvSpPr>
        <p:spPr>
          <a:xfrm>
            <a:off x="457200" y="1323833"/>
            <a:ext cx="7620000" cy="5534167"/>
          </a:xfrm>
        </p:spPr>
        <p:txBody>
          <a:bodyPr>
            <a:normAutofit/>
          </a:bodyPr>
          <a:lstStyle/>
          <a:p>
            <a:pPr marL="114300" indent="0">
              <a:buNone/>
            </a:pPr>
            <a:r>
              <a:rPr lang="en-US" sz="2400" dirty="0"/>
              <a:t>Many people say that water 1___(be) the oil of the 21</a:t>
            </a:r>
            <a:r>
              <a:rPr lang="en-US" sz="2400" baseline="30000" dirty="0"/>
              <a:t>st</a:t>
            </a:r>
            <a:r>
              <a:rPr lang="en-US" sz="2400" dirty="0"/>
              <a:t> century. As we speak, in many parts of the world, water supplies 2___(drop) dramatically. How much water 3___ (we/have/really)? Some people 4___(say) that Canada 5___(hold) 20% of the world’s freshwater resources. The situation is different in the US. Many parts of the US 6___(run) out of the precious fluid and large corporations 7___(get) ready to import Canadian water. These companies 8___(try) to find cheap ways to </a:t>
            </a:r>
            <a:r>
              <a:rPr lang="en-US" sz="2400"/>
              <a:t>transport huge </a:t>
            </a:r>
            <a:r>
              <a:rPr lang="en-US" sz="2400" dirty="0"/>
              <a:t>quantities of water. Many Canadians 9___(be) worried and 10___(want) the government to protect their natural resource. </a:t>
            </a:r>
          </a:p>
          <a:p>
            <a:pPr marL="114300" indent="0">
              <a:buNone/>
            </a:pPr>
            <a:endParaRPr lang="en-US" sz="2000" dirty="0"/>
          </a:p>
          <a:p>
            <a:pPr marL="114300" indent="0" algn="r">
              <a:buNone/>
            </a:pPr>
            <a:r>
              <a:rPr lang="en-US" sz="1600" dirty="0"/>
              <a:t>Adapted from </a:t>
            </a:r>
            <a:r>
              <a:rPr lang="en-US" sz="1600" i="1" dirty="0"/>
              <a:t>Prospect</a:t>
            </a:r>
            <a:r>
              <a:rPr lang="en-US" sz="1600" dirty="0"/>
              <a:t> by Jane </a:t>
            </a:r>
            <a:r>
              <a:rPr lang="en-US" sz="1600" dirty="0" err="1"/>
              <a:t>Petring</a:t>
            </a:r>
            <a:r>
              <a:rPr lang="en-US" sz="1600" dirty="0"/>
              <a:t> and Richard Par</a:t>
            </a:r>
            <a:r>
              <a:rPr lang="fr-CA" sz="1600" dirty="0"/>
              <a:t>é</a:t>
            </a:r>
            <a:endParaRPr lang="en-US" sz="1600" dirty="0"/>
          </a:p>
          <a:p>
            <a:pPr marL="114300" indent="0">
              <a:buNone/>
            </a:pPr>
            <a:endParaRPr lang="en-US" sz="2800"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10</a:t>
            </a:fld>
            <a:endParaRPr lang="en-US"/>
          </a:p>
        </p:txBody>
      </p:sp>
    </p:spTree>
    <p:extLst>
      <p:ext uri="{BB962C8B-B14F-4D97-AF65-F5344CB8AC3E}">
        <p14:creationId xmlns:p14="http://schemas.microsoft.com/office/powerpoint/2010/main" val="4255254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Main Ideas Exercise </a:t>
            </a:r>
          </a:p>
        </p:txBody>
      </p:sp>
      <p:sp>
        <p:nvSpPr>
          <p:cNvPr id="3" name="Content Placeholder 2"/>
          <p:cNvSpPr>
            <a:spLocks noGrp="1"/>
          </p:cNvSpPr>
          <p:nvPr>
            <p:ph idx="1"/>
          </p:nvPr>
        </p:nvSpPr>
        <p:spPr/>
        <p:txBody>
          <a:bodyPr>
            <a:normAutofit/>
          </a:bodyPr>
          <a:lstStyle/>
          <a:p>
            <a:pPr marL="114300" indent="0">
              <a:buNone/>
            </a:pPr>
            <a:r>
              <a:rPr lang="en-CA" sz="2800" dirty="0"/>
              <a:t>Please see the handout. </a:t>
            </a:r>
          </a:p>
        </p:txBody>
      </p:sp>
      <p:sp>
        <p:nvSpPr>
          <p:cNvPr id="4" name="Slide Number Placeholder 3"/>
          <p:cNvSpPr>
            <a:spLocks noGrp="1"/>
          </p:cNvSpPr>
          <p:nvPr>
            <p:ph type="sldNum" sz="quarter" idx="12"/>
          </p:nvPr>
        </p:nvSpPr>
        <p:spPr/>
        <p:txBody>
          <a:bodyPr/>
          <a:lstStyle/>
          <a:p>
            <a:fld id="{6E2D2B3B-882E-40F3-A32F-6DD516915044}" type="slidenum">
              <a:rPr lang="en-US" smtClean="0"/>
              <a:pPr/>
              <a:t>11</a:t>
            </a:fld>
            <a:endParaRPr lang="en-US"/>
          </a:p>
        </p:txBody>
      </p:sp>
    </p:spTree>
    <p:extLst>
      <p:ext uri="{BB962C8B-B14F-4D97-AF65-F5344CB8AC3E}">
        <p14:creationId xmlns:p14="http://schemas.microsoft.com/office/powerpoint/2010/main" val="1599266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pPr marL="114300" indent="0">
              <a:buNone/>
            </a:pPr>
            <a:r>
              <a:rPr lang="en-US" dirty="0"/>
              <a:t>1. </a:t>
            </a:r>
            <a:r>
              <a:rPr lang="en-US" i="1" dirty="0"/>
              <a:t>Technically Speaking </a:t>
            </a:r>
            <a:r>
              <a:rPr lang="en-US" dirty="0"/>
              <a:t>by Susan </a:t>
            </a:r>
            <a:r>
              <a:rPr lang="en-US" dirty="0" err="1"/>
              <a:t>Drolet</a:t>
            </a:r>
            <a:r>
              <a:rPr lang="en-US" dirty="0"/>
              <a:t> &amp; Ann Seguin</a:t>
            </a:r>
          </a:p>
          <a:p>
            <a:pPr marL="114300" indent="0">
              <a:buNone/>
            </a:pPr>
            <a:r>
              <a:rPr lang="en-US" dirty="0"/>
              <a:t>2. </a:t>
            </a:r>
            <a:r>
              <a:rPr lang="en-US" i="1" dirty="0"/>
              <a:t>Goals</a:t>
            </a:r>
            <a:r>
              <a:rPr lang="en-US" dirty="0"/>
              <a:t> by Lynne </a:t>
            </a:r>
            <a:r>
              <a:rPr lang="en-US" dirty="0" err="1"/>
              <a:t>Gaetz</a:t>
            </a:r>
            <a:r>
              <a:rPr lang="en-US" dirty="0"/>
              <a:t> </a:t>
            </a:r>
          </a:p>
          <a:p>
            <a:pPr marL="114300" indent="0">
              <a:buNone/>
            </a:pPr>
            <a:r>
              <a:rPr lang="en-US" dirty="0"/>
              <a:t>3. </a:t>
            </a:r>
            <a:r>
              <a:rPr lang="en-US" dirty="0">
                <a:hlinkClick r:id="rId3"/>
              </a:rPr>
              <a:t>http://web2.uvcs.uvic.ca</a:t>
            </a:r>
            <a:endParaRPr lang="en-US" dirty="0"/>
          </a:p>
          <a:p>
            <a:pPr marL="114300" indent="0">
              <a:buNone/>
            </a:pPr>
            <a:r>
              <a:rPr lang="en-US" dirty="0"/>
              <a:t>4. </a:t>
            </a:r>
            <a:r>
              <a:rPr lang="en-US" i="1" dirty="0"/>
              <a:t>Prospect</a:t>
            </a:r>
            <a:r>
              <a:rPr lang="en-US" dirty="0"/>
              <a:t> by Jane </a:t>
            </a:r>
            <a:r>
              <a:rPr lang="en-US" dirty="0" err="1"/>
              <a:t>Petring</a:t>
            </a:r>
            <a:endParaRPr lang="en-US" dirty="0"/>
          </a:p>
          <a:p>
            <a:pPr marL="114300" indent="0">
              <a:buNone/>
            </a:pPr>
            <a:r>
              <a:rPr lang="en-US" dirty="0"/>
              <a:t>5. </a:t>
            </a:r>
            <a:r>
              <a:rPr lang="en-US" dirty="0">
                <a:hlinkClick r:id="rId4"/>
              </a:rPr>
              <a:t>https://www.youtube.com/watch?v=E9bY3iE12yI&amp;t=115s</a:t>
            </a:r>
            <a:endParaRPr lang="en-US" dirty="0"/>
          </a:p>
          <a:p>
            <a:pPr marL="114300" indent="0">
              <a:buNone/>
            </a:pPr>
            <a:endParaRPr lang="en-US" dirty="0"/>
          </a:p>
          <a:p>
            <a:pPr marL="114300" indent="0">
              <a:buNone/>
            </a:pPr>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12</a:t>
            </a:fld>
            <a:endParaRPr lang="en-US"/>
          </a:p>
        </p:txBody>
      </p:sp>
    </p:spTree>
    <p:extLst>
      <p:ext uri="{BB962C8B-B14F-4D97-AF65-F5344CB8AC3E}">
        <p14:creationId xmlns:p14="http://schemas.microsoft.com/office/powerpoint/2010/main" val="8947188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Adjacency.thmx</Template>
  <TotalTime>1518</TotalTime>
  <Words>769</Words>
  <Application>Microsoft Office PowerPoint</Application>
  <PresentationFormat>On-screen Show (4:3)</PresentationFormat>
  <Paragraphs>106</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Adjacency</vt:lpstr>
      <vt:lpstr>604-220 Week 2</vt:lpstr>
      <vt:lpstr>Pronouncing –s or –es </vt:lpstr>
      <vt:lpstr>https://www.youtube.com/watch?v=E9bY3iE12yI&amp;t=115s </vt:lpstr>
      <vt:lpstr>Rules of pronouncing –s or –es </vt:lpstr>
      <vt:lpstr>Pronunciation practice </vt:lpstr>
      <vt:lpstr>Grammar Review</vt:lpstr>
      <vt:lpstr>The simple present tense is used for two main types of actions:</vt:lpstr>
      <vt:lpstr>The present continuous tense is used for two main types of action:</vt:lpstr>
      <vt:lpstr>Present continuous tense examples  </vt:lpstr>
      <vt:lpstr> Simple Present or Present Continuous </vt:lpstr>
      <vt:lpstr>Main Ideas Exercise </vt:lpstr>
      <vt:lpstr>References</vt:lpstr>
    </vt:vector>
  </TitlesOfParts>
  <Company>CEGEP André Laurendeau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 </dc:title>
  <dc:creator>Loretta  Gillis</dc:creator>
  <cp:lastModifiedBy>Xuelian Wei</cp:lastModifiedBy>
  <cp:revision>133</cp:revision>
  <dcterms:created xsi:type="dcterms:W3CDTF">2013-02-27T14:53:30Z</dcterms:created>
  <dcterms:modified xsi:type="dcterms:W3CDTF">2023-01-26T14:31:07Z</dcterms:modified>
</cp:coreProperties>
</file>