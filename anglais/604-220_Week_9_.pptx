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notesMasterIdLst>
    <p:notesMasterId r:id="rId17"/>
  </p:notesMasterIdLst>
  <p:sldIdLst>
    <p:sldId id="272" r:id="rId2"/>
    <p:sldId id="282" r:id="rId3"/>
    <p:sldId id="283" r:id="rId4"/>
    <p:sldId id="284" r:id="rId5"/>
    <p:sldId id="285" r:id="rId6"/>
    <p:sldId id="286" r:id="rId7"/>
    <p:sldId id="287" r:id="rId8"/>
    <p:sldId id="277" r:id="rId9"/>
    <p:sldId id="302" r:id="rId10"/>
    <p:sldId id="307" r:id="rId11"/>
    <p:sldId id="301" r:id="rId12"/>
    <p:sldId id="303" r:id="rId13"/>
    <p:sldId id="305" r:id="rId14"/>
    <p:sldId id="306" r:id="rId15"/>
    <p:sldId id="276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69"/>
  </p:normalViewPr>
  <p:slideViewPr>
    <p:cSldViewPr snapToGrid="0" snapToObjects="1"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B599B-0FD1-4FF0-9745-F0BDA9EF8233}" type="datetimeFigureOut">
              <a:rPr lang="en-CA" smtClean="0"/>
              <a:t>2023-03-24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2303E-2E81-45CA-901A-043B08CA7B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90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96BFE3-1F61-47D7-9F97-9AD3C736D38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814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A06B7-63D0-45F3-943F-F5BB7F597E75}" type="datetime1">
              <a:rPr lang="en-US" smtClean="0"/>
              <a:t>3/24/23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F221-4509-47A4-9CA5-09C1E0895316}" type="datetime1">
              <a:rPr lang="en-US" smtClean="0"/>
              <a:t>3/24/23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4A7-FEC0-4A26-9254-9957E0A841D8}" type="datetime1">
              <a:rPr lang="en-US" smtClean="0"/>
              <a:t>3/24/23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12FE-9E33-4C07-9EF1-A55953264CA7}" type="datetime1">
              <a:rPr lang="en-US" smtClean="0"/>
              <a:t>3/24/23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420B-137F-4AD9-BEA5-C7EEE0946476}" type="datetime1">
              <a:rPr lang="en-US" smtClean="0"/>
              <a:t>3/24/23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1CC82-A905-4D18-A826-B8257F7DE6BB}" type="datetime1">
              <a:rPr lang="en-US" smtClean="0"/>
              <a:t>3/24/23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481-8003-41B8-8619-622F513CB2E8}" type="datetime1">
              <a:rPr lang="en-US" smtClean="0"/>
              <a:t>3/24/23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9D30-4DE0-432D-B429-163551F9745E}" type="datetime1">
              <a:rPr lang="en-US" smtClean="0"/>
              <a:t>3/24/23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E7214-7294-4B2B-ACFF-812A4AAC2203}" type="datetime1">
              <a:rPr lang="en-US" smtClean="0"/>
              <a:t>3/24/23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11FE-5193-47EF-8BE9-5869585EA94D}" type="datetime1">
              <a:rPr lang="en-US" smtClean="0"/>
              <a:t>3/24/23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FF6DA-B5EF-4027-9DDE-4DA729997CF1}" type="datetime1">
              <a:rPr lang="en-US" smtClean="0"/>
              <a:t>3/24/23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C7A4780-BF45-48FB-8163-CCD37D391062}" type="datetime1">
              <a:rPr lang="en-US" smtClean="0"/>
              <a:t>3/24/23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kamanager.org/" TargetMode="External"/><Relationship Id="rId2" Type="http://schemas.openxmlformats.org/officeDocument/2006/relationships/hyperlink" Target="http://uvcs.uvic.ca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Marianne_Moore" TargetMode="External"/><Relationship Id="rId4" Type="http://schemas.openxmlformats.org/officeDocument/2006/relationships/hyperlink" Target="https://www.reddit.com/r/AmItheAssho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896" y="309093"/>
            <a:ext cx="7620000" cy="1004552"/>
          </a:xfrm>
        </p:spPr>
        <p:txBody>
          <a:bodyPr/>
          <a:lstStyle/>
          <a:p>
            <a:r>
              <a:rPr lang="en-US" dirty="0"/>
              <a:t>604-220  Week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128" y="1584966"/>
            <a:ext cx="7667767" cy="539624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/>
              <a:t>Class: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Hello! 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Attendance 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Review of question formation 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Whose fault is it anyway?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Modals 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>Lab: 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dirty="0"/>
              <a:t>Attendance  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dirty="0"/>
              <a:t>Continue and finish the innovation research. Hand in your Word document </a:t>
            </a:r>
            <a:r>
              <a:rPr lang="en-US" sz="2400" dirty="0">
                <a:solidFill>
                  <a:srgbClr val="FF0000"/>
                </a:solidFill>
              </a:rPr>
              <a:t>and</a:t>
            </a:r>
            <a:r>
              <a:rPr lang="en-US" sz="2400" dirty="0"/>
              <a:t> article by the end of the lab period. </a:t>
            </a:r>
          </a:p>
          <a:p>
            <a:pPr marL="571500" indent="-457200">
              <a:buAutoNum type="arabicPeriod"/>
            </a:pPr>
            <a:endParaRPr lang="en-US" sz="2400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7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724B-D025-3CB9-453C-FCF09F03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Hello + Attendance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83766-3E37-2FBA-117D-5DF5CF977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little bit about me.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CA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Book Antiqua" panose="02040602050305030304" pitchFamily="18" charset="0"/>
              </a:rPr>
              <a:t>Hala Jawlakh Office: 2.470    Office Hours: LEA    Email: MIO </a:t>
            </a:r>
            <a:endParaRPr lang="en-CA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What are your expectations for the rest of the semester?</a:t>
            </a:r>
          </a:p>
          <a:p>
            <a:r>
              <a:rPr lang="en-US" dirty="0"/>
              <a:t>Do you need Accommodations?  </a:t>
            </a:r>
          </a:p>
          <a:p>
            <a:r>
              <a:rPr lang="en-US" dirty="0"/>
              <a:t>Nursing students? </a:t>
            </a:r>
          </a:p>
          <a:p>
            <a:r>
              <a:rPr lang="en-US" dirty="0"/>
              <a:t>Attendance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1DFF0-6807-CC4B-4D80-3662C284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0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E341-07C5-0DEA-DB6A-058A596BD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Yes/No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F866B-0834-1781-E82F-24C7884D2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How do you form yes/no questions with “be”? </a:t>
            </a:r>
          </a:p>
          <a:p>
            <a:pPr marL="114300" indent="0">
              <a:buNone/>
            </a:pPr>
            <a:r>
              <a:rPr lang="en-US" dirty="0"/>
              <a:t>		You are happy. 		Are you happy? </a:t>
            </a:r>
          </a:p>
          <a:p>
            <a:pPr marL="114300" indent="0">
              <a:buNone/>
            </a:pPr>
            <a:r>
              <a:rPr lang="en-US" dirty="0"/>
              <a:t>		They were walking</a:t>
            </a:r>
            <a:r>
              <a:rPr lang="ar-SA" dirty="0"/>
              <a:t>.</a:t>
            </a:r>
            <a:r>
              <a:rPr lang="en-US" dirty="0"/>
              <a:t> 	     Were they walking?</a:t>
            </a:r>
          </a:p>
          <a:p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Put “be” before the subject. (Inversion) </a:t>
            </a:r>
          </a:p>
          <a:p>
            <a:endParaRPr lang="en-US" dirty="0"/>
          </a:p>
          <a:p>
            <a:r>
              <a:rPr lang="en-US" sz="2800" dirty="0"/>
              <a:t>How do you form yes/no questions with “do”? </a:t>
            </a:r>
          </a:p>
          <a:p>
            <a:pPr marL="114300" indent="0">
              <a:buNone/>
            </a:pPr>
            <a:r>
              <a:rPr lang="en-US" sz="1800" dirty="0"/>
              <a:t>		</a:t>
            </a:r>
            <a:r>
              <a:rPr lang="en-US" dirty="0"/>
              <a:t>I work out. 		Do you work out? </a:t>
            </a:r>
          </a:p>
          <a:p>
            <a:pPr marL="114300" indent="0">
              <a:buNone/>
            </a:pPr>
            <a:r>
              <a:rPr lang="en-US" dirty="0"/>
              <a:t>		I worked out</a:t>
            </a:r>
            <a:r>
              <a:rPr lang="ar-SA" dirty="0"/>
              <a:t>.</a:t>
            </a:r>
            <a:r>
              <a:rPr lang="en-US" dirty="0"/>
              <a:t> 		Did you work out?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en-C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dd “do” before the subject.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3D9EF-5880-C7DA-609F-5AF3BE87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D8AA2AD-0A60-E374-1261-3B9C7A7CEA4B}"/>
              </a:ext>
            </a:extLst>
          </p:cNvPr>
          <p:cNvCxnSpPr/>
          <p:nvPr/>
        </p:nvCxnSpPr>
        <p:spPr>
          <a:xfrm>
            <a:off x="4125433" y="2328530"/>
            <a:ext cx="7230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E637F77-292E-83BF-CFAE-C851C98B4CF0}"/>
              </a:ext>
            </a:extLst>
          </p:cNvPr>
          <p:cNvCxnSpPr/>
          <p:nvPr/>
        </p:nvCxnSpPr>
        <p:spPr>
          <a:xfrm>
            <a:off x="4646428" y="2757377"/>
            <a:ext cx="7230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343906A-7552-5FDA-CFA8-A1F2EC94DBB6}"/>
              </a:ext>
            </a:extLst>
          </p:cNvPr>
          <p:cNvCxnSpPr/>
          <p:nvPr/>
        </p:nvCxnSpPr>
        <p:spPr>
          <a:xfrm>
            <a:off x="3848986" y="4479851"/>
            <a:ext cx="7230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36A5C84-1471-5E7D-AB14-0DDB7E5CD0BA}"/>
              </a:ext>
            </a:extLst>
          </p:cNvPr>
          <p:cNvCxnSpPr/>
          <p:nvPr/>
        </p:nvCxnSpPr>
        <p:spPr>
          <a:xfrm>
            <a:off x="4210493" y="4905153"/>
            <a:ext cx="7230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4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003C0-51B3-8362-3E74-59A9D99D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Ended Questions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08FB6-7EFC-948B-98C1-CEED1565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is the purpose of open-ended questions? </a:t>
            </a:r>
          </a:p>
          <a:p>
            <a:pPr marL="114300" indent="0">
              <a:buNone/>
            </a:pPr>
            <a:r>
              <a:rPr lang="en-CA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They ask for information. </a:t>
            </a:r>
          </a:p>
          <a:p>
            <a:pPr marL="114300" indent="0">
              <a:buNone/>
            </a:pPr>
            <a:endParaRPr lang="en-CA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CA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Open-ended questions always start with a question word. What are some question words?  </a:t>
            </a:r>
          </a:p>
          <a:p>
            <a:pPr marL="114300" indent="0" algn="ctr">
              <a:buNone/>
            </a:pPr>
            <a:r>
              <a:rPr lang="ar-S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C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Who, What, When, Where, Why, &amp; How</a:t>
            </a:r>
          </a:p>
          <a:p>
            <a:pPr marL="114300" indent="0" algn="ctr">
              <a:buNone/>
            </a:pPr>
            <a:r>
              <a:rPr lang="en-CA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C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(How old, how many) </a:t>
            </a:r>
          </a:p>
          <a:p>
            <a:endParaRPr lang="en-CA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CA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6AF14-C5D4-DEC9-B82A-406F3417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2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DDDA-F3EB-96C6-FA07-C885E653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Ended Questions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F69AB-4001-CDA9-6602-527245899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QW + Aux or be* +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D63F0-656F-E43F-5A8F-AF94D6109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B5B2F1-8367-28D0-6B76-7A69553E5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944817"/>
              </p:ext>
            </p:extLst>
          </p:nvPr>
        </p:nvGraphicFramePr>
        <p:xfrm>
          <a:off x="701749" y="2413591"/>
          <a:ext cx="6911161" cy="2682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1817">
                  <a:extLst>
                    <a:ext uri="{9D8B030D-6E8A-4147-A177-3AD203B41FA5}">
                      <a16:colId xmlns:a16="http://schemas.microsoft.com/office/drawing/2014/main" val="885940146"/>
                    </a:ext>
                  </a:extLst>
                </a:gridCol>
                <a:gridCol w="1414836">
                  <a:extLst>
                    <a:ext uri="{9D8B030D-6E8A-4147-A177-3AD203B41FA5}">
                      <a16:colId xmlns:a16="http://schemas.microsoft.com/office/drawing/2014/main" val="2302445293"/>
                    </a:ext>
                  </a:extLst>
                </a:gridCol>
                <a:gridCol w="1414836">
                  <a:extLst>
                    <a:ext uri="{9D8B030D-6E8A-4147-A177-3AD203B41FA5}">
                      <a16:colId xmlns:a16="http://schemas.microsoft.com/office/drawing/2014/main" val="1108084443"/>
                    </a:ext>
                  </a:extLst>
                </a:gridCol>
                <a:gridCol w="1414836">
                  <a:extLst>
                    <a:ext uri="{9D8B030D-6E8A-4147-A177-3AD203B41FA5}">
                      <a16:colId xmlns:a16="http://schemas.microsoft.com/office/drawing/2014/main" val="990907493"/>
                    </a:ext>
                  </a:extLst>
                </a:gridCol>
                <a:gridCol w="1414836">
                  <a:extLst>
                    <a:ext uri="{9D8B030D-6E8A-4147-A177-3AD203B41FA5}">
                      <a16:colId xmlns:a16="http://schemas.microsoft.com/office/drawing/2014/main" val="1883174577"/>
                    </a:ext>
                  </a:extLst>
                </a:gridCol>
              </a:tblGrid>
              <a:tr h="602467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effectLst/>
                        </a:rPr>
                        <a:t>Question Word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effectLst/>
                        </a:rPr>
                        <a:t>Auxiliary or be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effectLst/>
                        </a:rPr>
                        <a:t>Subject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>
                          <a:effectLst/>
                        </a:rPr>
                        <a:t>(Verb)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200">
                          <a:effectLst/>
                        </a:rPr>
                        <a:t>(…the rest)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9118845"/>
                  </a:ext>
                </a:extLst>
              </a:tr>
              <a:tr h="301234"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What 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were 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they 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thinking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of?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0880328"/>
                  </a:ext>
                </a:extLst>
              </a:tr>
              <a:tr h="301234"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 How 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is 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she?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 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 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8776046"/>
                  </a:ext>
                </a:extLst>
              </a:tr>
              <a:tr h="301234"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Where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does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Thomas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work?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 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261386"/>
                  </a:ext>
                </a:extLst>
              </a:tr>
              <a:tr h="301234"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 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Did 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you 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hire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him?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1418637"/>
                  </a:ext>
                </a:extLst>
              </a:tr>
              <a:tr h="301234"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 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Could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Clara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help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>
                          <a:effectLst/>
                        </a:rPr>
                        <a:t>me?</a:t>
                      </a:r>
                      <a:endParaRPr lang="en-CA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9786632"/>
                  </a:ext>
                </a:extLst>
              </a:tr>
              <a:tr h="301234"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       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Is 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your boss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      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2200" dirty="0">
                          <a:effectLst/>
                        </a:rPr>
                        <a:t> nice?</a:t>
                      </a:r>
                      <a:endParaRPr lang="en-CA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332752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37B706A9-3854-A9D5-7227-5EA834E0F128}"/>
              </a:ext>
            </a:extLst>
          </p:cNvPr>
          <p:cNvSpPr>
            <a:spLocks noChangeArrowheads="1"/>
          </p:cNvSpPr>
          <p:nvPr/>
        </p:nvSpPr>
        <p:spPr bwMode="auto">
          <a:xfrm rot="4106829">
            <a:off x="887438" y="3125016"/>
            <a:ext cx="791609" cy="337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77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E2E56-956A-1981-CF10-D3097465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Whose fault is it anyway?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A6CFD-CC37-EF83-E127-78292A018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1: </a:t>
            </a:r>
            <a:r>
              <a:rPr lang="en-US" dirty="0"/>
              <a:t>You will receive a very short admission.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2: </a:t>
            </a:r>
            <a:r>
              <a:rPr lang="en-US" dirty="0"/>
              <a:t>Read your admission silently and make up a detailed story of how it happened. Keep the story to yourself.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3: </a:t>
            </a:r>
            <a:r>
              <a:rPr lang="en-US" dirty="0"/>
              <a:t>Read the admission to your classmates. 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4: </a:t>
            </a:r>
            <a:r>
              <a:rPr lang="en-US" dirty="0"/>
              <a:t>Your classmates will ask questions to try and find out what happened. Invent answers to their questions.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00739-C370-E726-8FC3-5AF80685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28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7AE0-4628-84A8-9E69-BB2641BC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0F5F9-CA3F-1409-A700-E0C038B4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 are modals? </a:t>
            </a:r>
          </a:p>
          <a:p>
            <a:pPr marL="114300" indent="0">
              <a:buNone/>
            </a:pPr>
            <a:r>
              <a:rPr lang="en-US" sz="2800" dirty="0"/>
              <a:t>Modals are a type of verb that express modality (a relationship to reality). </a:t>
            </a:r>
          </a:p>
          <a:p>
            <a:pPr marL="114300" indent="0" algn="ctr">
              <a:buNone/>
            </a:pPr>
            <a:endParaRPr lang="en-US" sz="2800" dirty="0"/>
          </a:p>
          <a:p>
            <a:r>
              <a:rPr lang="en-US" sz="2800" dirty="0"/>
              <a:t>What do we use them for? </a:t>
            </a:r>
          </a:p>
          <a:p>
            <a:pPr marL="114300" indent="0">
              <a:buNone/>
            </a:pPr>
            <a:r>
              <a:rPr lang="en-US" sz="2800" dirty="0"/>
              <a:t>Ability, requests, advice, obligation, probability, possibility, desire, preference, etc.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69D2C-18DB-254F-CFEC-021825E8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3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FA11B-A113-2D0D-EF67-C804326A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1BAC5F7-5491-A4EF-3617-30724235A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62640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E2E56-956A-1981-CF10-D3097465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Who’s fault is it anyway?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A6CFD-CC37-EF83-E127-78292A018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5: </a:t>
            </a:r>
            <a:r>
              <a:rPr lang="en-US" dirty="0"/>
              <a:t>Give your friend  some useful advice on how to fix their problem.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6: </a:t>
            </a:r>
            <a:r>
              <a:rPr lang="en-US" dirty="0"/>
              <a:t>Present your advice to the rest of the class. 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00739-C370-E726-8FC3-5AF80685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69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727CD-B78D-8078-CF95-921F82B6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spcBef>
                <a:spcPct val="0"/>
              </a:spcBef>
              <a:buNone/>
            </a:pPr>
            <a:r>
              <a:rPr lang="en-US" dirty="0"/>
              <a:t>Our Schedule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EFA7045-19D2-8A2A-FF77-7D06F2C98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663108"/>
              </p:ext>
            </p:extLst>
          </p:nvPr>
        </p:nvGraphicFramePr>
        <p:xfrm>
          <a:off x="662608" y="1600200"/>
          <a:ext cx="6626087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72590">
                  <a:extLst>
                    <a:ext uri="{9D8B030D-6E8A-4147-A177-3AD203B41FA5}">
                      <a16:colId xmlns:a16="http://schemas.microsoft.com/office/drawing/2014/main" val="2921721138"/>
                    </a:ext>
                  </a:extLst>
                </a:gridCol>
                <a:gridCol w="4753497">
                  <a:extLst>
                    <a:ext uri="{9D8B030D-6E8A-4147-A177-3AD203B41FA5}">
                      <a16:colId xmlns:a16="http://schemas.microsoft.com/office/drawing/2014/main" val="1117430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dirty="0"/>
                        <a:t>Week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CA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 II Innovation reading research due 10%</a:t>
                      </a:r>
                      <a:r>
                        <a:rPr lang="en-CA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47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dirty="0"/>
                        <a:t>Week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CA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Summative evaluation 2: Task II Writing 15%</a:t>
                      </a:r>
                      <a:r>
                        <a:rPr lang="en-CA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37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dirty="0"/>
                        <a:t>Week 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Certificative</a:t>
                      </a:r>
                      <a:r>
                        <a:rPr lang="en-CA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evaluation: Task III Writing 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200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dirty="0"/>
                        <a:t>Week 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Certificative</a:t>
                      </a:r>
                      <a:r>
                        <a:rPr lang="en-CA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evaluation: Task III Speaking 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4176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EC857-86EE-0254-C960-CD7791D4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D25C-545D-116E-4F16-ED67B6E3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90" y="29939"/>
            <a:ext cx="7735910" cy="871582"/>
          </a:xfrm>
        </p:spPr>
        <p:txBody>
          <a:bodyPr/>
          <a:lstStyle/>
          <a:p>
            <a:r>
              <a:rPr lang="fr-CA" dirty="0"/>
              <a:t> Instructions for </a:t>
            </a:r>
            <a:r>
              <a:rPr lang="fr-CA" dirty="0" err="1"/>
              <a:t>Lab</a:t>
            </a:r>
            <a:r>
              <a:rPr lang="fr-CA" dirty="0"/>
              <a:t> 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99BEE-7D19-6C2C-C40B-D314E83A6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73" y="1023871"/>
            <a:ext cx="8365650" cy="58041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Begin Task II: Innovation Reading Research </a:t>
            </a:r>
          </a:p>
          <a:p>
            <a:pPr marL="114300" indent="0">
              <a:buNone/>
            </a:pPr>
            <a:r>
              <a:rPr lang="en-US" dirty="0"/>
              <a:t>    This task counts towards Summative Evaluation 2 Reading 10%. </a:t>
            </a:r>
          </a:p>
          <a:p>
            <a:pPr marL="114300" indent="0">
              <a:buNone/>
            </a:pPr>
            <a:endParaRPr lang="en-US" sz="800" dirty="0"/>
          </a:p>
          <a:p>
            <a:r>
              <a:rPr lang="en-CA" dirty="0">
                <a:solidFill>
                  <a:srgbClr val="FF0000"/>
                </a:solidFill>
              </a:rPr>
              <a:t>Due time</a:t>
            </a:r>
            <a:r>
              <a:rPr lang="en-CA" dirty="0"/>
              <a:t>: at the end of the lab period in Week 9. </a:t>
            </a:r>
          </a:p>
          <a:p>
            <a:pPr marL="114300" indent="0">
              <a:buNone/>
            </a:pPr>
            <a:endParaRPr lang="en-US" sz="800" dirty="0"/>
          </a:p>
          <a:p>
            <a:r>
              <a:rPr lang="en-US" dirty="0"/>
              <a:t>Instructions: Individually, research an article of approximately </a:t>
            </a:r>
            <a:r>
              <a:rPr lang="en-US" dirty="0">
                <a:solidFill>
                  <a:srgbClr val="FF0000"/>
                </a:solidFill>
              </a:rPr>
              <a:t>750 words </a:t>
            </a:r>
            <a:r>
              <a:rPr lang="en-US" dirty="0"/>
              <a:t>from a </a:t>
            </a:r>
            <a:r>
              <a:rPr lang="en-US" dirty="0">
                <a:solidFill>
                  <a:srgbClr val="FF0000"/>
                </a:solidFill>
              </a:rPr>
              <a:t>reliable source</a:t>
            </a:r>
            <a:r>
              <a:rPr lang="en-US" dirty="0"/>
              <a:t>, which shows recent (less than ten years old) </a:t>
            </a:r>
            <a:r>
              <a:rPr lang="en-US" dirty="0">
                <a:solidFill>
                  <a:srgbClr val="FF0000"/>
                </a:solidFill>
              </a:rPr>
              <a:t>innovation(s)</a:t>
            </a:r>
            <a:r>
              <a:rPr lang="en-US" dirty="0"/>
              <a:t> in your field.</a:t>
            </a:r>
          </a:p>
          <a:p>
            <a:endParaRPr lang="en-US" sz="800" dirty="0"/>
          </a:p>
          <a:p>
            <a:r>
              <a:rPr lang="en-US" dirty="0"/>
              <a:t>Evaluation Criteria (10 points): </a:t>
            </a:r>
          </a:p>
          <a:p>
            <a:pPr marL="868680" lvl="1" indent="-457200">
              <a:buAutoNum type="arabicParenBoth"/>
            </a:pPr>
            <a:r>
              <a:rPr lang="fr-CA" dirty="0"/>
              <a:t>Field of </a:t>
            </a:r>
            <a:r>
              <a:rPr lang="fr-CA" dirty="0" err="1"/>
              <a:t>study</a:t>
            </a:r>
            <a:r>
              <a:rPr lang="fr-CA" dirty="0"/>
              <a:t> (1 point)</a:t>
            </a:r>
          </a:p>
          <a:p>
            <a:pPr marL="868680" lvl="1" indent="-457200">
              <a:buFont typeface="Arial" pitchFamily="34" charset="0"/>
              <a:buAutoNum type="arabicParenBoth"/>
            </a:pPr>
            <a:r>
              <a:rPr lang="fr-CA" dirty="0"/>
              <a:t>The </a:t>
            </a:r>
            <a:r>
              <a:rPr lang="fr-CA" dirty="0" err="1"/>
              <a:t>required</a:t>
            </a:r>
            <a:r>
              <a:rPr lang="fr-CA" dirty="0"/>
              <a:t> </a:t>
            </a:r>
            <a:r>
              <a:rPr lang="fr-CA" dirty="0" err="1"/>
              <a:t>number</a:t>
            </a:r>
            <a:r>
              <a:rPr lang="fr-CA" dirty="0"/>
              <a:t> of </a:t>
            </a:r>
            <a:r>
              <a:rPr lang="fr-CA" dirty="0" err="1"/>
              <a:t>words</a:t>
            </a:r>
            <a:r>
              <a:rPr lang="fr-CA" dirty="0"/>
              <a:t> (not </a:t>
            </a:r>
            <a:r>
              <a:rPr lang="fr-CA" dirty="0" err="1"/>
              <a:t>too</a:t>
            </a:r>
            <a:r>
              <a:rPr lang="fr-CA" dirty="0"/>
              <a:t> long or </a:t>
            </a:r>
            <a:r>
              <a:rPr lang="fr-CA" dirty="0" err="1"/>
              <a:t>too</a:t>
            </a:r>
            <a:r>
              <a:rPr lang="fr-CA" dirty="0"/>
              <a:t> short) (0.5 point) </a:t>
            </a:r>
          </a:p>
          <a:p>
            <a:pPr marL="868680" lvl="1" indent="-457200">
              <a:buAutoNum type="arabicParenBoth"/>
            </a:pPr>
            <a:r>
              <a:rPr lang="fr-CA" dirty="0"/>
              <a:t>Reference to the source (0.5 point)</a:t>
            </a:r>
          </a:p>
          <a:p>
            <a:pPr marL="868680" lvl="1" indent="-457200">
              <a:buAutoNum type="arabicParenBoth"/>
            </a:pPr>
            <a:r>
              <a:rPr lang="fr-CA" dirty="0"/>
              <a:t>Justification of the </a:t>
            </a:r>
            <a:r>
              <a:rPr lang="fr-CA" dirty="0" err="1"/>
              <a:t>reliability</a:t>
            </a:r>
            <a:r>
              <a:rPr lang="fr-CA" dirty="0"/>
              <a:t> of the source  (2 points)</a:t>
            </a:r>
          </a:p>
          <a:p>
            <a:pPr marL="868680" lvl="1" indent="-457200">
              <a:buAutoNum type="arabicParenBoth"/>
            </a:pPr>
            <a:r>
              <a:rPr lang="en-CA" dirty="0"/>
              <a:t>Three level-appropriate, field-related terms/expressions and their definitions (3 points) </a:t>
            </a:r>
            <a:r>
              <a:rPr lang="en-CA" dirty="0">
                <a:solidFill>
                  <a:srgbClr val="FF0000"/>
                </a:solidFill>
              </a:rPr>
              <a:t>Word frequency levels 1-3 or B2 are acceptable. </a:t>
            </a:r>
          </a:p>
          <a:p>
            <a:pPr marL="868680" lvl="1" indent="-457200">
              <a:buAutoNum type="arabicParenBoth"/>
            </a:pPr>
            <a:r>
              <a:rPr lang="en-CA" dirty="0"/>
              <a:t>The main ideas in a couple of sentences (2 points)</a:t>
            </a:r>
          </a:p>
          <a:p>
            <a:pPr marL="868680" lvl="1" indent="-457200">
              <a:buFont typeface="Arial" pitchFamily="34" charset="0"/>
              <a:buAutoNum type="arabicParenBoth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printed </a:t>
            </a:r>
            <a:r>
              <a:rPr lang="en-US" dirty="0" err="1"/>
              <a:t>ariticle</a:t>
            </a:r>
            <a:r>
              <a:rPr lang="en-US" dirty="0"/>
              <a:t> about a recent innovation(s) </a:t>
            </a:r>
            <a:r>
              <a:rPr lang="fr-CA" dirty="0"/>
              <a:t>(1 point)</a:t>
            </a:r>
            <a:endParaRPr lang="en-CA" dirty="0"/>
          </a:p>
          <a:p>
            <a:pPr marL="411480" lvl="1" indent="0">
              <a:buNone/>
            </a:pPr>
            <a:endParaRPr lang="en-CA" dirty="0"/>
          </a:p>
          <a:p>
            <a:pPr marL="411480" lvl="1" indent="0" algn="ctr">
              <a:buNone/>
            </a:pPr>
            <a:r>
              <a:rPr lang="en-CA" i="1" dirty="0"/>
              <a:t>See the model on the next page. </a:t>
            </a:r>
            <a:endParaRPr lang="fr-CA" i="1" dirty="0"/>
          </a:p>
          <a:p>
            <a:pPr marL="114300" indent="0">
              <a:buNone/>
            </a:pPr>
            <a:endParaRPr lang="en-CA" dirty="0"/>
          </a:p>
          <a:p>
            <a:pPr marL="411480" lvl="1" indent="0">
              <a:buNone/>
            </a:pPr>
            <a:endParaRPr lang="en-US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B123-8A8B-2C95-95CB-1A0D900F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05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BECD-3358-FCFC-62AA-85C227AFB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F5353-F054-FF26-7464-DCCBAE6904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 minutes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4F46B-F731-E142-CEE2-DE247A26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301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E2DA-F0B5-DA16-7F38-0762242F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– Task II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34BC8-C80A-F8D8-5A2E-BFBCEA93D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n-US" sz="3000" b="1" dirty="0"/>
              <a:t>Innovation Reading Research</a:t>
            </a:r>
          </a:p>
          <a:p>
            <a:pPr marL="114300" indent="0" algn="ctr">
              <a:buNone/>
            </a:pPr>
            <a:r>
              <a:rPr lang="en-US" sz="3000" b="1" dirty="0"/>
              <a:t>Summative Evaluation 2 – Reading (10%) </a:t>
            </a:r>
          </a:p>
          <a:p>
            <a:pPr marL="114300" indent="0" algn="ctr">
              <a:buNone/>
            </a:pPr>
            <a:endParaRPr lang="en-CA" dirty="0"/>
          </a:p>
          <a:p>
            <a:pPr marL="114300" indent="0">
              <a:buNone/>
            </a:pPr>
            <a:r>
              <a:rPr lang="en-CA" dirty="0"/>
              <a:t>At the end of the lab period </a:t>
            </a:r>
            <a:r>
              <a:rPr lang="en-US" dirty="0"/>
              <a:t>today you should submit the following: 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A printout of your 750-word </a:t>
            </a:r>
            <a:r>
              <a:rPr lang="en-US" b="1" dirty="0"/>
              <a:t>article</a:t>
            </a:r>
            <a:r>
              <a:rPr lang="en-US" dirty="0"/>
              <a:t>. 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A printout of your </a:t>
            </a:r>
            <a:r>
              <a:rPr lang="en-US" b="1" dirty="0"/>
              <a:t>report</a:t>
            </a:r>
            <a:r>
              <a:rPr lang="en-US" dirty="0"/>
              <a:t> on that article. </a:t>
            </a:r>
          </a:p>
          <a:p>
            <a:pPr marL="114300" indent="0">
              <a:buNone/>
            </a:pPr>
            <a:br>
              <a:rPr lang="en-US" dirty="0"/>
            </a:b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D2CE3-D0ED-3618-2F27-82279F2F6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7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FF52-091C-80DA-892C-B311C1F5C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8422783" cy="901521"/>
          </a:xfrm>
        </p:spPr>
        <p:txBody>
          <a:bodyPr/>
          <a:lstStyle/>
          <a:p>
            <a:r>
              <a:rPr lang="en-CA" dirty="0"/>
              <a:t>Word Document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08C63-DEAC-ABA9-8F1A-C326076CB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7431"/>
            <a:ext cx="8531788" cy="589208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CA" dirty="0"/>
              <a:t>Group:___________	Name:____________</a:t>
            </a:r>
          </a:p>
          <a:p>
            <a:pPr marL="571500" indent="-457200">
              <a:buFont typeface="+mj-lt"/>
              <a:buAutoNum type="arabicPeriod"/>
            </a:pPr>
            <a:endParaRPr lang="en-CA" dirty="0"/>
          </a:p>
          <a:p>
            <a:pPr marL="571500" indent="-457200">
              <a:buFont typeface="+mj-lt"/>
              <a:buAutoNum type="arabicPeriod"/>
            </a:pPr>
            <a:r>
              <a:rPr lang="en-CA" dirty="0"/>
              <a:t>Field of study (1 point):  </a:t>
            </a:r>
          </a:p>
          <a:p>
            <a:pPr marL="571500" indent="-457200">
              <a:buFont typeface="+mj-lt"/>
              <a:buAutoNum type="arabicPeriod"/>
            </a:pPr>
            <a:r>
              <a:rPr lang="en-CA" dirty="0"/>
              <a:t>Number of words (0.5 point): </a:t>
            </a:r>
          </a:p>
          <a:p>
            <a:pPr marL="571500" indent="-457200">
              <a:buFont typeface="+mj-lt"/>
              <a:buAutoNum type="arabicPeriod"/>
            </a:pPr>
            <a:r>
              <a:rPr lang="en-CA" dirty="0"/>
              <a:t>Reference to the source (0.5 point): </a:t>
            </a:r>
          </a:p>
          <a:p>
            <a:pPr marL="571500" indent="-457200">
              <a:buFont typeface="+mj-lt"/>
              <a:buAutoNum type="arabicPeriod"/>
            </a:pPr>
            <a:r>
              <a:rPr lang="en-CA" dirty="0"/>
              <a:t>Justification of the source(2 points): </a:t>
            </a:r>
          </a:p>
          <a:p>
            <a:pPr marL="571500" indent="-457200">
              <a:buFont typeface="+mj-lt"/>
              <a:buAutoNum type="arabicPeriod"/>
            </a:pPr>
            <a:r>
              <a:rPr lang="en-CA" dirty="0"/>
              <a:t>Level-appropriate, field-related vocabulary and definitions (3 points)  </a:t>
            </a:r>
          </a:p>
          <a:p>
            <a:pPr marL="411480" lvl="1" indent="0">
              <a:buNone/>
            </a:pPr>
            <a:r>
              <a:rPr lang="en-CA" dirty="0"/>
              <a:t>    (1)</a:t>
            </a:r>
            <a:r>
              <a:rPr lang="en-US" dirty="0"/>
              <a:t>   </a:t>
            </a:r>
          </a:p>
          <a:p>
            <a:pPr marL="411480" lvl="1" indent="0">
              <a:buNone/>
            </a:pPr>
            <a:r>
              <a:rPr lang="en-US" dirty="0"/>
              <a:t>    </a:t>
            </a:r>
            <a:r>
              <a:rPr lang="en-CA" dirty="0"/>
              <a:t>(2)   </a:t>
            </a:r>
          </a:p>
          <a:p>
            <a:pPr marL="411480" lvl="1" indent="0">
              <a:buNone/>
            </a:pPr>
            <a:r>
              <a:rPr lang="en-CA" dirty="0"/>
              <a:t>    (3)</a:t>
            </a:r>
          </a:p>
          <a:p>
            <a:pPr marL="571500" indent="-457200">
              <a:buFont typeface="+mj-lt"/>
              <a:buAutoNum type="arabicPeriod"/>
            </a:pPr>
            <a:r>
              <a:rPr lang="en-CA" dirty="0"/>
              <a:t>Main ideas (2 points): </a:t>
            </a:r>
          </a:p>
          <a:p>
            <a:pPr marL="571500" indent="-457200">
              <a:buFont typeface="+mj-lt"/>
              <a:buAutoNum type="arabicPeriod"/>
            </a:pPr>
            <a:r>
              <a:rPr lang="en-CA" dirty="0"/>
              <a:t>The printed innovation article (1 point)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55A25-551B-9F61-CFD4-FBD9E5C4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47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Bibliography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AutoNum type="arabicPeriod"/>
            </a:pPr>
            <a:r>
              <a:rPr lang="en-CA" dirty="0"/>
              <a:t>Insight by Jane </a:t>
            </a:r>
            <a:r>
              <a:rPr lang="en-CA" dirty="0" err="1"/>
              <a:t>Petring</a:t>
            </a:r>
            <a:endParaRPr lang="en-CA" dirty="0"/>
          </a:p>
          <a:p>
            <a:pPr marL="571500" indent="-457200">
              <a:buAutoNum type="arabicPeriod"/>
            </a:pPr>
            <a:r>
              <a:rPr lang="en-CA" dirty="0"/>
              <a:t>Fields of Opportunity by Caroline Orton</a:t>
            </a:r>
          </a:p>
          <a:p>
            <a:pPr marL="571500" indent="-457200">
              <a:buAutoNum type="arabicPeriod"/>
            </a:pPr>
            <a:r>
              <a:rPr lang="en-CA" dirty="0"/>
              <a:t>Goals by Lynne </a:t>
            </a:r>
            <a:r>
              <a:rPr lang="en-CA" dirty="0" err="1"/>
              <a:t>Gaetz</a:t>
            </a:r>
            <a:endParaRPr lang="en-CA" dirty="0"/>
          </a:p>
          <a:p>
            <a:pPr marL="571500" indent="-457200">
              <a:buAutoNum type="arabicPeriod"/>
            </a:pPr>
            <a:r>
              <a:rPr lang="en-CA" dirty="0"/>
              <a:t>Avenues 2 Unit 6 by Lynne </a:t>
            </a:r>
            <a:r>
              <a:rPr lang="en-CA" dirty="0" err="1"/>
              <a:t>Gaetz</a:t>
            </a:r>
            <a:r>
              <a:rPr lang="en-CA" dirty="0"/>
              <a:t> </a:t>
            </a:r>
          </a:p>
          <a:p>
            <a:pPr marL="571500" indent="-457200">
              <a:buAutoNum type="arabicPeriod"/>
            </a:pPr>
            <a:r>
              <a:rPr lang="en-CA" dirty="0"/>
              <a:t>Collins Online English Dictionary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CA" dirty="0"/>
              <a:t>Forward 2 English Communication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CA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http://uvcs.uvic.ca/</a:t>
            </a:r>
            <a:endParaRPr lang="en-CA" dirty="0"/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https://www.askamanager.org</a:t>
            </a:r>
            <a:endParaRPr lang="en-CA" dirty="0"/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https://www.reddit.com/r/AmItheAsshole/</a:t>
            </a:r>
            <a:r>
              <a:rPr lang="en-US" dirty="0"/>
              <a:t> </a:t>
            </a:r>
            <a:endParaRPr lang="en-CA" dirty="0"/>
          </a:p>
          <a:p>
            <a:pPr marL="571500" indent="-457200">
              <a:buAutoNum type="arabicPeriod"/>
            </a:pPr>
            <a:r>
              <a:rPr lang="en-CA" dirty="0"/>
              <a:t> </a:t>
            </a:r>
            <a:r>
              <a:rPr lang="en-CA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https://en.wikipedia.org/wiki/Marianne_Moore</a:t>
            </a:r>
            <a:endParaRPr lang="en-CA" dirty="0"/>
          </a:p>
          <a:p>
            <a:pPr marL="571500" indent="-457200">
              <a:buAutoNum type="arabicPeriod"/>
            </a:pPr>
            <a:r>
              <a:rPr lang="en-CA" sz="1800" kern="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Lotus (</a:t>
            </a:r>
            <a:r>
              <a:rPr lang="en-CA" sz="1800" kern="0" dirty="0" err="1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Xuelian</a:t>
            </a:r>
            <a:r>
              <a:rPr lang="en-CA" sz="1800" kern="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) Wei  </a:t>
            </a:r>
            <a:endParaRPr lang="en-CA" dirty="0"/>
          </a:p>
          <a:p>
            <a:pPr marL="571500" indent="-457200">
              <a:buAutoNum type="arabicPeriod"/>
            </a:pPr>
            <a:endParaRPr lang="en-CA" dirty="0"/>
          </a:p>
          <a:p>
            <a:pPr marL="11430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4778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Genesis">
      <a:dk1>
        <a:sysClr val="windowText" lastClr="000000"/>
      </a:dk1>
      <a:lt1>
        <a:sysClr val="window" lastClr="FFFFFF"/>
      </a:lt1>
      <a:dk2>
        <a:srgbClr val="465466"/>
      </a:dk2>
      <a:lt2>
        <a:srgbClr val="BBD7F8"/>
      </a:lt2>
      <a:accent1>
        <a:srgbClr val="80B606"/>
      </a:accent1>
      <a:accent2>
        <a:srgbClr val="E29F1D"/>
      </a:accent2>
      <a:accent3>
        <a:srgbClr val="2397E2"/>
      </a:accent3>
      <a:accent4>
        <a:srgbClr val="35ACA2"/>
      </a:accent4>
      <a:accent5>
        <a:srgbClr val="5430BB"/>
      </a:accent5>
      <a:accent6>
        <a:srgbClr val="8D34E0"/>
      </a:accent6>
      <a:hlink>
        <a:srgbClr val="00B0F0"/>
      </a:hlink>
      <a:folHlink>
        <a:srgbClr val="0070C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Adjacency.thmx</Template>
  <TotalTime>4119</TotalTime>
  <Words>890</Words>
  <Application>Microsoft Macintosh PowerPoint</Application>
  <PresentationFormat>On-screen Show (4:3)</PresentationFormat>
  <Paragraphs>180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 Antiqua</vt:lpstr>
      <vt:lpstr>Calibri</vt:lpstr>
      <vt:lpstr>Cambria</vt:lpstr>
      <vt:lpstr>Adjacency</vt:lpstr>
      <vt:lpstr>604-220  Week 9</vt:lpstr>
      <vt:lpstr>Hello + Attendance </vt:lpstr>
      <vt:lpstr>Yes/No Questions</vt:lpstr>
      <vt:lpstr>Open Ended Questions (1) </vt:lpstr>
      <vt:lpstr>Open Ended Questions (2)</vt:lpstr>
      <vt:lpstr>Whose fault is it anyway? </vt:lpstr>
      <vt:lpstr>Modals </vt:lpstr>
      <vt:lpstr>PowerPoint Presentation</vt:lpstr>
      <vt:lpstr>Who’s fault is it anyway? </vt:lpstr>
      <vt:lpstr>Our Schedule </vt:lpstr>
      <vt:lpstr> Instructions for Lab  </vt:lpstr>
      <vt:lpstr>Break</vt:lpstr>
      <vt:lpstr>Lab – Task II </vt:lpstr>
      <vt:lpstr>Word Document </vt:lpstr>
      <vt:lpstr>Bibliography </vt:lpstr>
    </vt:vector>
  </TitlesOfParts>
  <Company>CEGEP André Laurendeau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</dc:title>
  <dc:creator>Loretta  Gillis</dc:creator>
  <cp:lastModifiedBy>Hala Jawlakh, Ms</cp:lastModifiedBy>
  <cp:revision>196</cp:revision>
  <dcterms:created xsi:type="dcterms:W3CDTF">2013-03-11T22:29:50Z</dcterms:created>
  <dcterms:modified xsi:type="dcterms:W3CDTF">2023-03-24T21:30:42Z</dcterms:modified>
</cp:coreProperties>
</file>