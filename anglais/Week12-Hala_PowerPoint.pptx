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0" r:id="rId1"/>
  </p:sldMasterIdLst>
  <p:notesMasterIdLst>
    <p:notesMasterId r:id="rId16"/>
  </p:notesMasterIdLst>
  <p:sldIdLst>
    <p:sldId id="272" r:id="rId2"/>
    <p:sldId id="320" r:id="rId3"/>
    <p:sldId id="329" r:id="rId4"/>
    <p:sldId id="330" r:id="rId5"/>
    <p:sldId id="326" r:id="rId6"/>
    <p:sldId id="322" r:id="rId7"/>
    <p:sldId id="323" r:id="rId8"/>
    <p:sldId id="328" r:id="rId9"/>
    <p:sldId id="286" r:id="rId10"/>
    <p:sldId id="301" r:id="rId11"/>
    <p:sldId id="302" r:id="rId12"/>
    <p:sldId id="318" r:id="rId13"/>
    <p:sldId id="319" r:id="rId14"/>
    <p:sldId id="327" r:id="rId1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317"/>
    <p:restoredTop sz="94719"/>
  </p:normalViewPr>
  <p:slideViewPr>
    <p:cSldViewPr snapToGrid="0" snapToObjects="1">
      <p:cViewPr varScale="1">
        <p:scale>
          <a:sx n="120" d="100"/>
          <a:sy n="120" d="100"/>
        </p:scale>
        <p:origin x="728"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B74B599B-0FD1-4FF0-9745-F0BDA9EF8233}" type="datetimeFigureOut">
              <a:rPr lang="en-CA" smtClean="0"/>
              <a:t>2023-04-21</a:t>
            </a:fld>
            <a:endParaRPr lang="en-CA"/>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66B2303E-2E81-45CA-901A-043B08CA7BB5}" type="slidenum">
              <a:rPr lang="en-CA" smtClean="0"/>
              <a:t>‹#›</a:t>
            </a:fld>
            <a:endParaRPr lang="en-CA"/>
          </a:p>
        </p:txBody>
      </p:sp>
    </p:spTree>
    <p:extLst>
      <p:ext uri="{BB962C8B-B14F-4D97-AF65-F5344CB8AC3E}">
        <p14:creationId xmlns:p14="http://schemas.microsoft.com/office/powerpoint/2010/main" val="17190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D196BFE3-1F61-47D7-9F97-9AD3C736D383}" type="slidenum">
              <a:rPr lang="en-CA" smtClean="0"/>
              <a:t>1</a:t>
            </a:fld>
            <a:endParaRPr lang="en-CA"/>
          </a:p>
        </p:txBody>
      </p:sp>
    </p:spTree>
    <p:extLst>
      <p:ext uri="{BB962C8B-B14F-4D97-AF65-F5344CB8AC3E}">
        <p14:creationId xmlns:p14="http://schemas.microsoft.com/office/powerpoint/2010/main" val="705814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5A06B7-63D0-45F3-943F-F5BB7F597E75}" type="datetime1">
              <a:rPr lang="en-US" smtClean="0"/>
              <a:t>4/21/23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BEF221-4509-47A4-9CA5-09C1E0895316}" type="datetime1">
              <a:rPr lang="en-US" smtClean="0"/>
              <a:t>4/21/23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9174A7-FEC0-4A26-9254-9957E0A841D8}" type="datetime1">
              <a:rPr lang="en-US" smtClean="0"/>
              <a:t>4/21/23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4012FE-9E33-4C07-9EF1-A55953264CA7}" type="datetime1">
              <a:rPr lang="en-US" smtClean="0"/>
              <a:t>4/21/23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521420B-137F-4AD9-BEA5-C7EEE0946476}" type="datetime1">
              <a:rPr lang="en-US" smtClean="0"/>
              <a:t>4/21/23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A1CC82-A905-4D18-A826-B8257F7DE6BB}" type="datetime1">
              <a:rPr lang="en-US" smtClean="0"/>
              <a:t>4/21/23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CE6481-8003-41B8-8619-622F513CB2E8}" type="datetime1">
              <a:rPr lang="en-US" smtClean="0"/>
              <a:t>4/21/23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FE9D30-4DE0-432D-B429-163551F9745E}" type="datetime1">
              <a:rPr lang="en-US" smtClean="0"/>
              <a:t>4/21/23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3CE7214-7294-4B2B-ACFF-812A4AAC2203}" type="datetime1">
              <a:rPr lang="en-US" smtClean="0"/>
              <a:t>4/21/23</a:t>
            </a:fld>
            <a:endParaRPr lang="en-US" dirty="0"/>
          </a:p>
        </p:txBody>
      </p:sp>
      <p:sp>
        <p:nvSpPr>
          <p:cNvPr id="9" name="Slide Number Placeholder 8"/>
          <p:cNvSpPr>
            <a:spLocks noGrp="1"/>
          </p:cNvSpPr>
          <p:nvPr>
            <p:ph type="sldNum" sz="quarter" idx="11"/>
          </p:nvPr>
        </p:nvSpPr>
        <p:spPr/>
        <p:txBody>
          <a:bodyPr/>
          <a:lstStyle/>
          <a:p>
            <a:fld id="{6E2D2B3B-882E-40F3-A32F-6DD516915044}" type="slidenum">
              <a:rPr lang="en-US" smtClean="0"/>
              <a:pPr/>
              <a:t>‹#›</a:t>
            </a:fld>
            <a:endParaRPr lang="en-US" dirty="0"/>
          </a:p>
        </p:txBody>
      </p:sp>
      <p:sp>
        <p:nvSpPr>
          <p:cNvPr id="10" name="Footer Placeholder 9"/>
          <p:cNvSpPr>
            <a:spLocks noGrp="1"/>
          </p:cNvSpPr>
          <p:nvPr>
            <p:ph type="ftr" sz="quarter" idx="12"/>
          </p:nvPr>
        </p:nvSpPr>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6111FE-5193-47EF-8BE9-5869585EA94D}" type="datetime1">
              <a:rPr lang="en-US" smtClean="0"/>
              <a:t>4/21/23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FFF6DA-B5EF-4027-9DDE-4DA729997CF1}" type="datetime1">
              <a:rPr lang="en-US" smtClean="0"/>
              <a:t>4/21/23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6E2D2B3B-882E-40F3-A32F-6DD516915044}" type="slidenum">
              <a:rPr lang="en-US" smtClean="0"/>
              <a:pPr/>
              <a:t>‹#›</a:t>
            </a:fld>
            <a:endParaRPr lang="en-US" dirty="0"/>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AC7A4780-BF45-48FB-8163-CCD37D391062}" type="datetime1">
              <a:rPr lang="en-US" smtClean="0"/>
              <a:t>4/21/23</a:t>
            </a:fld>
            <a:endParaRPr lang="en-US" dirty="0"/>
          </a:p>
        </p:txBody>
      </p:sp>
    </p:spTree>
  </p:cSld>
  <p:clrMap bg1="lt1" tx1="dk1" bg2="lt2" tx2="dk2" accent1="accent1" accent2="accent2" accent3="accent3" accent4="accent4" accent5="accent5" accent6="accent6" hlink="hlink" folHlink="folHlink"/>
  <p:sldLayoutIdLst>
    <p:sldLayoutId id="2147483951" r:id="rId1"/>
    <p:sldLayoutId id="214748395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1" r:id="rId11"/>
  </p:sldLayoutIdLst>
  <p:hf hdr="0" ft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www.youtube.com/watch?v=4Jo7-wK-ke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uides.lib.uoguelph.ca/UseEvidenceEffectively" TargetMode="External"/><Relationship Id="rId2" Type="http://schemas.openxmlformats.org/officeDocument/2006/relationships/hyperlink" Target="https://www2.unbc.ca/sites/default/files/sections/academic-success-centre/integratingevidenceintoyouressaynh.pdf" TargetMode="External"/><Relationship Id="rId1" Type="http://schemas.openxmlformats.org/officeDocument/2006/relationships/slideLayout" Target="../slideLayouts/slideLayout2.xml"/><Relationship Id="rId4" Type="http://schemas.openxmlformats.org/officeDocument/2006/relationships/hyperlink" Target="https://pressbooks.ulib.csuohio.edu/eng-102/chapter/most-common-evidence-used-by-authors/"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www.youtube.com/watch?v=vZIu2pfbN6Q"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youtube.com/watch?v=4Jo7-wK-keY" TargetMode="External"/><Relationship Id="rId2" Type="http://schemas.openxmlformats.org/officeDocument/2006/relationships/hyperlink" Target="http://www.youtube.com/watch?v=vZIu2pfbN6Q"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896" y="309093"/>
            <a:ext cx="7620000" cy="1004552"/>
          </a:xfrm>
        </p:spPr>
        <p:txBody>
          <a:bodyPr/>
          <a:lstStyle/>
          <a:p>
            <a:r>
              <a:rPr lang="en-US" dirty="0"/>
              <a:t>604-420  Week 12</a:t>
            </a:r>
          </a:p>
        </p:txBody>
      </p:sp>
      <p:sp>
        <p:nvSpPr>
          <p:cNvPr id="3" name="Content Placeholder 2"/>
          <p:cNvSpPr>
            <a:spLocks noGrp="1"/>
          </p:cNvSpPr>
          <p:nvPr>
            <p:ph idx="1"/>
          </p:nvPr>
        </p:nvSpPr>
        <p:spPr>
          <a:xfrm>
            <a:off x="657896" y="1452880"/>
            <a:ext cx="7218608" cy="5855880"/>
          </a:xfrm>
        </p:spPr>
        <p:txBody>
          <a:bodyPr>
            <a:normAutofit/>
          </a:bodyPr>
          <a:lstStyle/>
          <a:p>
            <a:pPr marL="114300" indent="0">
              <a:buNone/>
            </a:pPr>
            <a:r>
              <a:rPr lang="en-US" sz="2400" dirty="0"/>
              <a:t>Class:</a:t>
            </a:r>
          </a:p>
          <a:p>
            <a:pPr marL="571500" indent="-457200">
              <a:buFont typeface="Arial" pitchFamily="34" charset="0"/>
              <a:buAutoNum type="arabicPeriod"/>
            </a:pPr>
            <a:r>
              <a:rPr lang="en-US" sz="2400" dirty="0"/>
              <a:t>Attendance</a:t>
            </a:r>
          </a:p>
          <a:p>
            <a:pPr marL="571500" indent="-457200">
              <a:buFont typeface="Arial" pitchFamily="34" charset="0"/>
              <a:buAutoNum type="arabicPeriod"/>
            </a:pPr>
            <a:r>
              <a:rPr lang="en-US" sz="2400" dirty="0"/>
              <a:t>Peer review and correction of Task II Writing</a:t>
            </a:r>
          </a:p>
          <a:p>
            <a:pPr marL="571500" indent="-457200">
              <a:buFont typeface="Arial" pitchFamily="34" charset="0"/>
              <a:buAutoNum type="arabicPeriod"/>
            </a:pPr>
            <a:r>
              <a:rPr lang="en-US" sz="2400" dirty="0"/>
              <a:t>Details of Task III </a:t>
            </a:r>
          </a:p>
          <a:p>
            <a:pPr marL="571500" indent="-457200">
              <a:buFont typeface="Arial" pitchFamily="34" charset="0"/>
              <a:buAutoNum type="arabicPeriod"/>
            </a:pPr>
            <a:r>
              <a:rPr lang="en-US" sz="2400" dirty="0"/>
              <a:t>Information on the </a:t>
            </a:r>
            <a:r>
              <a:rPr lang="en-US" sz="2400" dirty="0" err="1"/>
              <a:t>Certificative</a:t>
            </a:r>
            <a:r>
              <a:rPr lang="en-US" sz="2400" dirty="0"/>
              <a:t> Exams </a:t>
            </a:r>
          </a:p>
          <a:p>
            <a:pPr marL="571500" indent="-457200">
              <a:buFont typeface="Arial" pitchFamily="34" charset="0"/>
              <a:buAutoNum type="arabicPeriod"/>
            </a:pPr>
            <a:r>
              <a:rPr lang="en-US" sz="2400" dirty="0"/>
              <a:t>Lab: Task II Word Document and Outline</a:t>
            </a:r>
          </a:p>
          <a:p>
            <a:pPr marL="114300" indent="0">
              <a:buNone/>
            </a:pPr>
            <a:endParaRPr lang="en-US" sz="2400" dirty="0"/>
          </a:p>
          <a:p>
            <a:pPr marL="114300" indent="0">
              <a:buNone/>
            </a:pPr>
            <a:r>
              <a:rPr lang="en-US" sz="2400" dirty="0"/>
              <a:t>Note: Week 13 is a research and preparation week. You will do it by yourselves. The teacher will be available on Teams during normal class hours if you have any questions. You can also MIO the teacher between 8am and 5pm during weekdays. </a:t>
            </a:r>
          </a:p>
          <a:p>
            <a:pPr marL="571500" indent="-457200">
              <a:buAutoNum type="arabicPeriod"/>
            </a:pPr>
            <a:endParaRPr lang="en-US" sz="2400" dirty="0">
              <a:solidFill>
                <a:srgbClr val="FF0000"/>
              </a:solidFill>
            </a:endParaRPr>
          </a:p>
          <a:p>
            <a:pPr marL="114300" indent="0">
              <a:buNone/>
            </a:pPr>
            <a:endParaRPr lang="en-US" sz="2400" dirty="0">
              <a:solidFill>
                <a:srgbClr val="FF0000"/>
              </a:solidFill>
            </a:endParaRPr>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1</a:t>
            </a:fld>
            <a:endParaRPr lang="en-US"/>
          </a:p>
        </p:txBody>
      </p:sp>
    </p:spTree>
    <p:extLst>
      <p:ext uri="{BB962C8B-B14F-4D97-AF65-F5344CB8AC3E}">
        <p14:creationId xmlns:p14="http://schemas.microsoft.com/office/powerpoint/2010/main" val="481778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8EAB7-7460-719C-5826-25DB80576287}"/>
              </a:ext>
            </a:extLst>
          </p:cNvPr>
          <p:cNvSpPr>
            <a:spLocks noGrp="1"/>
          </p:cNvSpPr>
          <p:nvPr>
            <p:ph type="title"/>
          </p:nvPr>
        </p:nvSpPr>
        <p:spPr/>
        <p:txBody>
          <a:bodyPr/>
          <a:lstStyle/>
          <a:p>
            <a:r>
              <a:rPr lang="en-US" dirty="0"/>
              <a:t>How to write a good thesis statement </a:t>
            </a:r>
          </a:p>
        </p:txBody>
      </p:sp>
      <p:sp>
        <p:nvSpPr>
          <p:cNvPr id="3" name="Content Placeholder 2">
            <a:extLst>
              <a:ext uri="{FF2B5EF4-FFF2-40B4-BE49-F238E27FC236}">
                <a16:creationId xmlns:a16="http://schemas.microsoft.com/office/drawing/2014/main" id="{BF33A32C-A59D-ED1A-11BC-FAA455A13E5F}"/>
              </a:ext>
            </a:extLst>
          </p:cNvPr>
          <p:cNvSpPr>
            <a:spLocks noGrp="1"/>
          </p:cNvSpPr>
          <p:nvPr>
            <p:ph idx="1"/>
          </p:nvPr>
        </p:nvSpPr>
        <p:spPr/>
        <p:txBody>
          <a:bodyPr/>
          <a:lstStyle/>
          <a:p>
            <a:r>
              <a:rPr lang="en-US" dirty="0">
                <a:hlinkClick r:id="rId2"/>
              </a:rPr>
              <a:t>https://www.youtube.com/watch?v=4Jo7-wK-keY</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9640D3FB-D7E5-5B3B-C498-C91F11426781}"/>
              </a:ext>
            </a:extLst>
          </p:cNvPr>
          <p:cNvSpPr>
            <a:spLocks noGrp="1"/>
          </p:cNvSpPr>
          <p:nvPr>
            <p:ph type="sldNum" sz="quarter" idx="12"/>
          </p:nvPr>
        </p:nvSpPr>
        <p:spPr/>
        <p:txBody>
          <a:bodyPr/>
          <a:lstStyle/>
          <a:p>
            <a:fld id="{6E2D2B3B-882E-40F3-A32F-6DD516915044}" type="slidenum">
              <a:rPr lang="en-US" smtClean="0"/>
              <a:pPr/>
              <a:t>2</a:t>
            </a:fld>
            <a:endParaRPr lang="en-US"/>
          </a:p>
        </p:txBody>
      </p:sp>
    </p:spTree>
    <p:extLst>
      <p:ext uri="{BB962C8B-B14F-4D97-AF65-F5344CB8AC3E}">
        <p14:creationId xmlns:p14="http://schemas.microsoft.com/office/powerpoint/2010/main" val="3561997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242E9-72D1-804B-9839-343CD97C1783}"/>
              </a:ext>
            </a:extLst>
          </p:cNvPr>
          <p:cNvSpPr>
            <a:spLocks noGrp="1"/>
          </p:cNvSpPr>
          <p:nvPr>
            <p:ph type="title"/>
          </p:nvPr>
        </p:nvSpPr>
        <p:spPr/>
        <p:txBody>
          <a:bodyPr/>
          <a:lstStyle/>
          <a:p>
            <a:r>
              <a:rPr lang="en-US" dirty="0"/>
              <a:t>Evidence in Academic Essays</a:t>
            </a:r>
          </a:p>
        </p:txBody>
      </p:sp>
      <p:sp>
        <p:nvSpPr>
          <p:cNvPr id="3" name="Content Placeholder 2">
            <a:extLst>
              <a:ext uri="{FF2B5EF4-FFF2-40B4-BE49-F238E27FC236}">
                <a16:creationId xmlns:a16="http://schemas.microsoft.com/office/drawing/2014/main" id="{1DA1C687-57A4-B531-6FEB-FE2EF0630974}"/>
              </a:ext>
            </a:extLst>
          </p:cNvPr>
          <p:cNvSpPr>
            <a:spLocks noGrp="1"/>
          </p:cNvSpPr>
          <p:nvPr>
            <p:ph idx="1"/>
          </p:nvPr>
        </p:nvSpPr>
        <p:spPr/>
        <p:txBody>
          <a:bodyPr/>
          <a:lstStyle/>
          <a:p>
            <a:r>
              <a:rPr lang="en-US" dirty="0"/>
              <a:t>What is evidence?</a:t>
            </a:r>
          </a:p>
          <a:p>
            <a:pPr marL="114300" indent="0">
              <a:buNone/>
            </a:pPr>
            <a:r>
              <a:rPr lang="en-US" dirty="0">
                <a:hlinkClick r:id="rId2"/>
              </a:rPr>
              <a:t>https://www2.unbc.ca/sites/default/files/sections/academic-success-centre/integratingevidenceintoyouressaynh.pdf</a:t>
            </a:r>
            <a:r>
              <a:rPr lang="en-US" dirty="0"/>
              <a:t> </a:t>
            </a:r>
          </a:p>
          <a:p>
            <a:pPr marL="114300" indent="0">
              <a:buNone/>
            </a:pPr>
            <a:endParaRPr lang="en-US" dirty="0"/>
          </a:p>
          <a:p>
            <a:pPr marL="114300" indent="0">
              <a:buNone/>
            </a:pPr>
            <a:r>
              <a:rPr lang="en-US" dirty="0">
                <a:hlinkClick r:id="rId3"/>
              </a:rPr>
              <a:t>https://guides.lib.uoguelph.ca/UseEvidenceEffectively</a:t>
            </a:r>
            <a:r>
              <a:rPr lang="en-US" dirty="0"/>
              <a:t> </a:t>
            </a:r>
          </a:p>
          <a:p>
            <a:pPr marL="114300" indent="0">
              <a:buNone/>
            </a:pPr>
            <a:endParaRPr lang="en-US" dirty="0"/>
          </a:p>
          <a:p>
            <a:r>
              <a:rPr lang="en-US" dirty="0"/>
              <a:t>More on evidence in different fields: </a:t>
            </a:r>
          </a:p>
          <a:p>
            <a:pPr marL="114300" indent="0">
              <a:buNone/>
            </a:pPr>
            <a:r>
              <a:rPr lang="en-US" dirty="0">
                <a:hlinkClick r:id="rId4"/>
              </a:rPr>
              <a:t>https://pressbooks.ulib.csuohio.edu/eng-102/chapter/most-common-evidence-used-by-authors/</a:t>
            </a:r>
            <a:r>
              <a:rPr lang="en-US" dirty="0"/>
              <a:t> </a:t>
            </a:r>
          </a:p>
        </p:txBody>
      </p:sp>
      <p:sp>
        <p:nvSpPr>
          <p:cNvPr id="4" name="Slide Number Placeholder 3">
            <a:extLst>
              <a:ext uri="{FF2B5EF4-FFF2-40B4-BE49-F238E27FC236}">
                <a16:creationId xmlns:a16="http://schemas.microsoft.com/office/drawing/2014/main" id="{833FD29F-FE4F-34CB-F22B-F9379012CB13}"/>
              </a:ext>
            </a:extLst>
          </p:cNvPr>
          <p:cNvSpPr>
            <a:spLocks noGrp="1"/>
          </p:cNvSpPr>
          <p:nvPr>
            <p:ph type="sldNum" sz="quarter" idx="12"/>
          </p:nvPr>
        </p:nvSpPr>
        <p:spPr/>
        <p:txBody>
          <a:bodyPr/>
          <a:lstStyle/>
          <a:p>
            <a:fld id="{6E2D2B3B-882E-40F3-A32F-6DD516915044}" type="slidenum">
              <a:rPr lang="en-US" smtClean="0"/>
              <a:pPr/>
              <a:t>3</a:t>
            </a:fld>
            <a:endParaRPr lang="en-US"/>
          </a:p>
        </p:txBody>
      </p:sp>
    </p:spTree>
    <p:extLst>
      <p:ext uri="{BB962C8B-B14F-4D97-AF65-F5344CB8AC3E}">
        <p14:creationId xmlns:p14="http://schemas.microsoft.com/office/powerpoint/2010/main" val="1926656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1BB65-E9E9-5D26-BE49-2DC6B651EED1}"/>
              </a:ext>
            </a:extLst>
          </p:cNvPr>
          <p:cNvSpPr>
            <a:spLocks noGrp="1"/>
          </p:cNvSpPr>
          <p:nvPr>
            <p:ph type="title"/>
          </p:nvPr>
        </p:nvSpPr>
        <p:spPr>
          <a:xfrm>
            <a:off x="457200" y="274638"/>
            <a:ext cx="7620000" cy="1325562"/>
          </a:xfrm>
        </p:spPr>
        <p:txBody>
          <a:bodyPr/>
          <a:lstStyle/>
          <a:p>
            <a:r>
              <a:rPr lang="en-US" dirty="0"/>
              <a:t>How to write Citations (references) </a:t>
            </a:r>
          </a:p>
        </p:txBody>
      </p:sp>
      <p:sp>
        <p:nvSpPr>
          <p:cNvPr id="3" name="Content Placeholder 2">
            <a:extLst>
              <a:ext uri="{FF2B5EF4-FFF2-40B4-BE49-F238E27FC236}">
                <a16:creationId xmlns:a16="http://schemas.microsoft.com/office/drawing/2014/main" id="{C80A7248-7473-31E9-9FA5-6A459F6C40D4}"/>
              </a:ext>
            </a:extLst>
          </p:cNvPr>
          <p:cNvSpPr>
            <a:spLocks noGrp="1"/>
          </p:cNvSpPr>
          <p:nvPr>
            <p:ph idx="1"/>
          </p:nvPr>
        </p:nvSpPr>
        <p:spPr>
          <a:xfrm>
            <a:off x="457200" y="2045368"/>
            <a:ext cx="7620000" cy="4355432"/>
          </a:xfrm>
        </p:spPr>
        <p:txBody>
          <a:bodyPr>
            <a:normAutofit/>
          </a:bodyPr>
          <a:lstStyle/>
          <a:p>
            <a:r>
              <a:rPr lang="en-US" dirty="0">
                <a:hlinkClick r:id="rId2"/>
              </a:rPr>
              <a:t>https://www.youtube.com/watch?v=vZIu2pfbN6Q</a:t>
            </a:r>
            <a:endParaRPr lang="en-US" dirty="0"/>
          </a:p>
          <a:p>
            <a:endParaRPr lang="en-US" dirty="0"/>
          </a:p>
          <a:p>
            <a:r>
              <a:rPr lang="en-US" dirty="0"/>
              <a:t>Include the title of your video, the name of the author,  and the website it was published on. </a:t>
            </a:r>
          </a:p>
          <a:p>
            <a:r>
              <a:rPr lang="en-US" dirty="0"/>
              <a:t>No need to mention the year of publication </a:t>
            </a:r>
          </a:p>
          <a:p>
            <a:r>
              <a:rPr lang="en-US" dirty="0"/>
              <a:t>If the name of the author is not on the website, say “Author unknown”</a:t>
            </a:r>
          </a:p>
          <a:p>
            <a:pPr marL="114300" indent="0">
              <a:buNone/>
            </a:pPr>
            <a:endParaRPr lang="en-US" b="1" dirty="0"/>
          </a:p>
          <a:p>
            <a:pPr marL="114300" indent="0">
              <a:buNone/>
            </a:pPr>
            <a:endParaRPr lang="en-US" b="1" dirty="0"/>
          </a:p>
        </p:txBody>
      </p:sp>
      <p:sp>
        <p:nvSpPr>
          <p:cNvPr id="4" name="Slide Number Placeholder 3">
            <a:extLst>
              <a:ext uri="{FF2B5EF4-FFF2-40B4-BE49-F238E27FC236}">
                <a16:creationId xmlns:a16="http://schemas.microsoft.com/office/drawing/2014/main" id="{A257F4A1-08F4-1040-B9BB-3AC5F795E336}"/>
              </a:ext>
            </a:extLst>
          </p:cNvPr>
          <p:cNvSpPr>
            <a:spLocks noGrp="1"/>
          </p:cNvSpPr>
          <p:nvPr>
            <p:ph type="sldNum" sz="quarter" idx="12"/>
          </p:nvPr>
        </p:nvSpPr>
        <p:spPr/>
        <p:txBody>
          <a:bodyPr/>
          <a:lstStyle/>
          <a:p>
            <a:fld id="{6E2D2B3B-882E-40F3-A32F-6DD516915044}" type="slidenum">
              <a:rPr lang="en-US" smtClean="0"/>
              <a:pPr/>
              <a:t>4</a:t>
            </a:fld>
            <a:endParaRPr lang="en-US"/>
          </a:p>
        </p:txBody>
      </p:sp>
    </p:spTree>
    <p:extLst>
      <p:ext uri="{BB962C8B-B14F-4D97-AF65-F5344CB8AC3E}">
        <p14:creationId xmlns:p14="http://schemas.microsoft.com/office/powerpoint/2010/main" val="4049071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1BB65-E9E9-5D26-BE49-2DC6B651EED1}"/>
              </a:ext>
            </a:extLst>
          </p:cNvPr>
          <p:cNvSpPr>
            <a:spLocks noGrp="1"/>
          </p:cNvSpPr>
          <p:nvPr>
            <p:ph type="title"/>
          </p:nvPr>
        </p:nvSpPr>
        <p:spPr/>
        <p:txBody>
          <a:bodyPr/>
          <a:lstStyle/>
          <a:p>
            <a:r>
              <a:rPr lang="en-US" dirty="0"/>
              <a:t>Citations (references) </a:t>
            </a:r>
          </a:p>
        </p:txBody>
      </p:sp>
      <p:sp>
        <p:nvSpPr>
          <p:cNvPr id="3" name="Content Placeholder 2">
            <a:extLst>
              <a:ext uri="{FF2B5EF4-FFF2-40B4-BE49-F238E27FC236}">
                <a16:creationId xmlns:a16="http://schemas.microsoft.com/office/drawing/2014/main" id="{C80A7248-7473-31E9-9FA5-6A459F6C40D4}"/>
              </a:ext>
            </a:extLst>
          </p:cNvPr>
          <p:cNvSpPr>
            <a:spLocks noGrp="1"/>
          </p:cNvSpPr>
          <p:nvPr>
            <p:ph idx="1"/>
          </p:nvPr>
        </p:nvSpPr>
        <p:spPr/>
        <p:txBody>
          <a:bodyPr>
            <a:normAutofit lnSpcReduction="10000"/>
          </a:bodyPr>
          <a:lstStyle/>
          <a:p>
            <a:pPr marL="114300" indent="0">
              <a:buNone/>
            </a:pPr>
            <a:endParaRPr lang="en-US" dirty="0"/>
          </a:p>
          <a:p>
            <a:r>
              <a:rPr lang="en-US" dirty="0"/>
              <a:t>Use a website  (</a:t>
            </a:r>
            <a:r>
              <a:rPr lang="en-US" dirty="0" err="1"/>
              <a:t>eg</a:t>
            </a:r>
            <a:r>
              <a:rPr lang="en-US" dirty="0"/>
              <a:t>: Grammarly) to figure out the citation: </a:t>
            </a:r>
          </a:p>
          <a:p>
            <a:r>
              <a:rPr lang="en-US" dirty="0"/>
              <a:t>https://</a:t>
            </a:r>
            <a:r>
              <a:rPr lang="en-US" dirty="0" err="1"/>
              <a:t>www.grammarly.com</a:t>
            </a:r>
            <a:r>
              <a:rPr lang="en-US" dirty="0"/>
              <a:t>/citations/</a:t>
            </a:r>
            <a:r>
              <a:rPr lang="en-US" dirty="0" err="1"/>
              <a:t>apa</a:t>
            </a:r>
            <a:r>
              <a:rPr lang="en-US" dirty="0"/>
              <a:t>/</a:t>
            </a:r>
            <a:r>
              <a:rPr lang="en-US" dirty="0" err="1"/>
              <a:t>youtube-video?utm_source</a:t>
            </a:r>
            <a:r>
              <a:rPr lang="en-US" dirty="0"/>
              <a:t>=</a:t>
            </a:r>
            <a:r>
              <a:rPr lang="en-US" dirty="0" err="1"/>
              <a:t>google&amp;utm_medium</a:t>
            </a:r>
            <a:r>
              <a:rPr lang="en-US" dirty="0"/>
              <a:t>=</a:t>
            </a:r>
            <a:r>
              <a:rPr lang="en-US" dirty="0" err="1"/>
              <a:t>cpc&amp;utm_campaign</a:t>
            </a:r>
            <a:r>
              <a:rPr lang="en-US" dirty="0"/>
              <a:t>=11284512657&amp;utm_content=495804447348&amp;utm_term=&amp;target=&amp;</a:t>
            </a:r>
            <a:r>
              <a:rPr lang="en-US" dirty="0" err="1"/>
              <a:t>targetid</a:t>
            </a:r>
            <a:r>
              <a:rPr lang="en-US" dirty="0"/>
              <a:t>=dsa-393848973092&amp;adgroup=118038919875&amp;device=</a:t>
            </a:r>
            <a:r>
              <a:rPr lang="en-US" dirty="0" err="1"/>
              <a:t>c&amp;matchtype</a:t>
            </a:r>
            <a:r>
              <a:rPr lang="en-US" dirty="0"/>
              <a:t>=&amp;placement=&amp;network=</a:t>
            </a:r>
            <a:r>
              <a:rPr lang="en-US" dirty="0" err="1"/>
              <a:t>g&amp;extension</a:t>
            </a:r>
            <a:r>
              <a:rPr lang="en-US" dirty="0"/>
              <a:t>=&amp;</a:t>
            </a:r>
            <a:r>
              <a:rPr lang="en-US" dirty="0" err="1"/>
              <a:t>clickid</a:t>
            </a:r>
            <a:r>
              <a:rPr lang="en-US" dirty="0"/>
              <a:t>=Cj0KCQjwxYOiBhC9ARIsANiEIfbhViZrC-649wuJP1Bo0q01XqhOK7QrAzml2CYdo3cffaAuq8qC8noaAm2yEALw_wcB&amp;gad=1&amp;gclid=Cj0KCQjwxYOiBhC9ARIsANiEIfbhViZrC-649wuJP1Bo0q01XqhOK7QrAzml2CYdo3cffaAuq8qC8noaAm2yEALw_wcB&amp;gclsrc=</a:t>
            </a:r>
            <a:r>
              <a:rPr lang="en-US" dirty="0" err="1"/>
              <a:t>aw.ds</a:t>
            </a:r>
            <a:r>
              <a:rPr lang="en-US" dirty="0"/>
              <a:t> </a:t>
            </a:r>
          </a:p>
          <a:p>
            <a:pPr marL="114300" indent="0">
              <a:buNone/>
            </a:pPr>
            <a:endParaRPr lang="en-US" b="1" dirty="0"/>
          </a:p>
          <a:p>
            <a:pPr marL="114300" indent="0">
              <a:buNone/>
            </a:pPr>
            <a:endParaRPr lang="en-US" b="1" dirty="0"/>
          </a:p>
        </p:txBody>
      </p:sp>
      <p:sp>
        <p:nvSpPr>
          <p:cNvPr id="4" name="Slide Number Placeholder 3">
            <a:extLst>
              <a:ext uri="{FF2B5EF4-FFF2-40B4-BE49-F238E27FC236}">
                <a16:creationId xmlns:a16="http://schemas.microsoft.com/office/drawing/2014/main" id="{A257F4A1-08F4-1040-B9BB-3AC5F795E336}"/>
              </a:ext>
            </a:extLst>
          </p:cNvPr>
          <p:cNvSpPr>
            <a:spLocks noGrp="1"/>
          </p:cNvSpPr>
          <p:nvPr>
            <p:ph type="sldNum" sz="quarter" idx="12"/>
          </p:nvPr>
        </p:nvSpPr>
        <p:spPr/>
        <p:txBody>
          <a:bodyPr/>
          <a:lstStyle/>
          <a:p>
            <a:fld id="{6E2D2B3B-882E-40F3-A32F-6DD516915044}" type="slidenum">
              <a:rPr lang="en-US" smtClean="0"/>
              <a:pPr/>
              <a:t>5</a:t>
            </a:fld>
            <a:endParaRPr lang="en-US"/>
          </a:p>
        </p:txBody>
      </p:sp>
    </p:spTree>
    <p:extLst>
      <p:ext uri="{BB962C8B-B14F-4D97-AF65-F5344CB8AC3E}">
        <p14:creationId xmlns:p14="http://schemas.microsoft.com/office/powerpoint/2010/main" val="1003493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85ADB-E091-E48B-507B-BCD51E2B7265}"/>
              </a:ext>
            </a:extLst>
          </p:cNvPr>
          <p:cNvSpPr>
            <a:spLocks noGrp="1"/>
          </p:cNvSpPr>
          <p:nvPr>
            <p:ph type="title"/>
          </p:nvPr>
        </p:nvSpPr>
        <p:spPr/>
        <p:txBody>
          <a:bodyPr/>
          <a:lstStyle/>
          <a:p>
            <a:r>
              <a:rPr lang="en-US" dirty="0"/>
              <a:t>Find the mistakes</a:t>
            </a:r>
          </a:p>
        </p:txBody>
      </p:sp>
      <p:sp>
        <p:nvSpPr>
          <p:cNvPr id="3" name="Content Placeholder 2">
            <a:extLst>
              <a:ext uri="{FF2B5EF4-FFF2-40B4-BE49-F238E27FC236}">
                <a16:creationId xmlns:a16="http://schemas.microsoft.com/office/drawing/2014/main" id="{4D5653E3-F9D4-59A9-DFBD-7878203DC8E7}"/>
              </a:ext>
            </a:extLst>
          </p:cNvPr>
          <p:cNvSpPr>
            <a:spLocks noGrp="1"/>
          </p:cNvSpPr>
          <p:nvPr>
            <p:ph idx="1"/>
          </p:nvPr>
        </p:nvSpPr>
        <p:spPr/>
        <p:txBody>
          <a:bodyPr/>
          <a:lstStyle/>
          <a:p>
            <a:r>
              <a:rPr lang="en-US" dirty="0"/>
              <a:t>Title: Third wave feminist’s movement. </a:t>
            </a:r>
          </a:p>
          <a:p>
            <a:r>
              <a:rPr lang="en-US" dirty="0"/>
              <a:t>In this essay I will inform you about the advantages that The Neural Filter offers. </a:t>
            </a:r>
          </a:p>
          <a:p>
            <a:r>
              <a:rPr lang="en-US" dirty="0" err="1"/>
              <a:t>Paikeday</a:t>
            </a:r>
            <a:r>
              <a:rPr lang="en-US" dirty="0"/>
              <a:t> says ”the native speaker is dead.”</a:t>
            </a:r>
          </a:p>
          <a:p>
            <a:r>
              <a:rPr lang="en-US" dirty="0"/>
              <a:t>The main reason is ”reducing emission” and ”avoid oil consumption”. </a:t>
            </a:r>
          </a:p>
          <a:p>
            <a:r>
              <a:rPr lang="en-US" dirty="0"/>
              <a:t>In conclusion, you can see how classroom management systems affect the classroom. Videoconferencing software is the same. </a:t>
            </a:r>
          </a:p>
          <a:p>
            <a:endParaRPr lang="en-US" dirty="0"/>
          </a:p>
        </p:txBody>
      </p:sp>
      <p:sp>
        <p:nvSpPr>
          <p:cNvPr id="4" name="Slide Number Placeholder 3">
            <a:extLst>
              <a:ext uri="{FF2B5EF4-FFF2-40B4-BE49-F238E27FC236}">
                <a16:creationId xmlns:a16="http://schemas.microsoft.com/office/drawing/2014/main" id="{161DCE76-B734-442F-9C36-6DE7220D62B1}"/>
              </a:ext>
            </a:extLst>
          </p:cNvPr>
          <p:cNvSpPr>
            <a:spLocks noGrp="1"/>
          </p:cNvSpPr>
          <p:nvPr>
            <p:ph type="sldNum" sz="quarter" idx="12"/>
          </p:nvPr>
        </p:nvSpPr>
        <p:spPr/>
        <p:txBody>
          <a:bodyPr/>
          <a:lstStyle/>
          <a:p>
            <a:fld id="{6E2D2B3B-882E-40F3-A32F-6DD516915044}" type="slidenum">
              <a:rPr lang="en-US" smtClean="0"/>
              <a:pPr/>
              <a:t>6</a:t>
            </a:fld>
            <a:endParaRPr lang="en-US"/>
          </a:p>
        </p:txBody>
      </p:sp>
    </p:spTree>
    <p:extLst>
      <p:ext uri="{BB962C8B-B14F-4D97-AF65-F5344CB8AC3E}">
        <p14:creationId xmlns:p14="http://schemas.microsoft.com/office/powerpoint/2010/main" val="3648695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C1957-F909-C4FB-72A4-00045EAC3A24}"/>
              </a:ext>
            </a:extLst>
          </p:cNvPr>
          <p:cNvSpPr>
            <a:spLocks noGrp="1"/>
          </p:cNvSpPr>
          <p:nvPr>
            <p:ph type="title"/>
          </p:nvPr>
        </p:nvSpPr>
        <p:spPr/>
        <p:txBody>
          <a:bodyPr/>
          <a:lstStyle/>
          <a:p>
            <a:r>
              <a:rPr lang="en-US" dirty="0"/>
              <a:t>Academic Essay</a:t>
            </a:r>
          </a:p>
        </p:txBody>
      </p:sp>
      <p:sp>
        <p:nvSpPr>
          <p:cNvPr id="3" name="Content Placeholder 2">
            <a:extLst>
              <a:ext uri="{FF2B5EF4-FFF2-40B4-BE49-F238E27FC236}">
                <a16:creationId xmlns:a16="http://schemas.microsoft.com/office/drawing/2014/main" id="{B4C88B65-84B0-E126-825C-F600D600EF28}"/>
              </a:ext>
            </a:extLst>
          </p:cNvPr>
          <p:cNvSpPr>
            <a:spLocks noGrp="1"/>
          </p:cNvSpPr>
          <p:nvPr>
            <p:ph idx="1"/>
          </p:nvPr>
        </p:nvSpPr>
        <p:spPr/>
        <p:txBody>
          <a:bodyPr>
            <a:normAutofit lnSpcReduction="10000"/>
          </a:bodyPr>
          <a:lstStyle/>
          <a:p>
            <a:pPr marL="0" lvl="0" indent="0">
              <a:buNone/>
            </a:pPr>
            <a:r>
              <a:rPr lang="en-CA" sz="2200" b="1" dirty="0"/>
              <a:t>Audience:</a:t>
            </a:r>
            <a:endParaRPr lang="en-CA" sz="2200" b="1" dirty="0">
              <a:cs typeface="Calibri"/>
            </a:endParaRPr>
          </a:p>
          <a:p>
            <a:r>
              <a:rPr lang="en-CA" sz="2200" dirty="0">
                <a:cs typeface="Calibri"/>
              </a:rPr>
              <a:t>Has some knowledge of the topic. </a:t>
            </a:r>
          </a:p>
          <a:p>
            <a:pPr marL="0" lvl="0" indent="0">
              <a:buNone/>
            </a:pPr>
            <a:r>
              <a:rPr lang="en-CA" sz="2200" b="1" dirty="0"/>
              <a:t>Language:</a:t>
            </a:r>
            <a:endParaRPr lang="en-CA" sz="2200" b="1" dirty="0">
              <a:cs typeface="Calibri"/>
            </a:endParaRPr>
          </a:p>
          <a:p>
            <a:r>
              <a:rPr lang="en-CA" sz="2200" dirty="0"/>
              <a:t>Formal register; avoid “I” , “ you” &amp; “ </a:t>
            </a:r>
            <a:r>
              <a:rPr lang="en-CA" dirty="0"/>
              <a:t>we”</a:t>
            </a:r>
            <a:endParaRPr lang="en-CA" sz="2200" dirty="0"/>
          </a:p>
          <a:p>
            <a:r>
              <a:rPr lang="en-CA" sz="2200" dirty="0">
                <a:cs typeface="Calibri"/>
              </a:rPr>
              <a:t>Concise language </a:t>
            </a:r>
          </a:p>
          <a:p>
            <a:r>
              <a:rPr lang="en-CA" dirty="0">
                <a:cs typeface="Calibri"/>
              </a:rPr>
              <a:t>F</a:t>
            </a:r>
            <a:r>
              <a:rPr lang="en-CA" sz="2200" dirty="0">
                <a:cs typeface="Calibri"/>
              </a:rPr>
              <a:t>ield-related vocab.</a:t>
            </a:r>
          </a:p>
          <a:p>
            <a:r>
              <a:rPr lang="en-CA" dirty="0">
                <a:cs typeface="Calibri"/>
              </a:rPr>
              <a:t>Confident: a</a:t>
            </a:r>
            <a:r>
              <a:rPr lang="en-CA" sz="2200" dirty="0">
                <a:cs typeface="Calibri"/>
              </a:rPr>
              <a:t>void hedging. </a:t>
            </a:r>
          </a:p>
          <a:p>
            <a:pPr marL="0" indent="0">
              <a:buNone/>
            </a:pPr>
            <a:r>
              <a:rPr lang="en-US" sz="2200" b="1" dirty="0"/>
              <a:t>Structure: </a:t>
            </a:r>
            <a:endParaRPr lang="fr-CA" sz="2200" b="1" dirty="0">
              <a:cs typeface="Calibri"/>
            </a:endParaRPr>
          </a:p>
          <a:p>
            <a:pPr lvl="0"/>
            <a:r>
              <a:rPr lang="en-CA" sz="2200" dirty="0"/>
              <a:t>Title (capital letters)</a:t>
            </a:r>
          </a:p>
          <a:p>
            <a:pPr lvl="0"/>
            <a:r>
              <a:rPr lang="en-CA" sz="2200" dirty="0"/>
              <a:t>Intro: introduces the topic and ends with a thesis statement. </a:t>
            </a:r>
          </a:p>
          <a:p>
            <a:pPr lvl="0"/>
            <a:r>
              <a:rPr lang="en-CA" sz="2200" dirty="0"/>
              <a:t>Body: paragraphs start with topic sentences and provide evidence for arguments. </a:t>
            </a:r>
            <a:endParaRPr lang="en-CA" sz="2200" dirty="0">
              <a:cs typeface="Calibri"/>
            </a:endParaRPr>
          </a:p>
          <a:p>
            <a:pPr lvl="0"/>
            <a:r>
              <a:rPr lang="en-US" sz="2200" dirty="0"/>
              <a:t>Conclusion: summarizes. No new ideas! </a:t>
            </a:r>
            <a:endParaRPr lang="en-CA" sz="2200" dirty="0">
              <a:cs typeface="Calibri"/>
            </a:endParaRPr>
          </a:p>
        </p:txBody>
      </p:sp>
      <p:sp>
        <p:nvSpPr>
          <p:cNvPr id="4" name="Slide Number Placeholder 3">
            <a:extLst>
              <a:ext uri="{FF2B5EF4-FFF2-40B4-BE49-F238E27FC236}">
                <a16:creationId xmlns:a16="http://schemas.microsoft.com/office/drawing/2014/main" id="{BC511AA7-1FD1-2EB1-82C8-CFDEC4AFF4DD}"/>
              </a:ext>
            </a:extLst>
          </p:cNvPr>
          <p:cNvSpPr>
            <a:spLocks noGrp="1"/>
          </p:cNvSpPr>
          <p:nvPr>
            <p:ph type="sldNum" sz="quarter" idx="12"/>
          </p:nvPr>
        </p:nvSpPr>
        <p:spPr/>
        <p:txBody>
          <a:bodyPr/>
          <a:lstStyle/>
          <a:p>
            <a:fld id="{6E2D2B3B-882E-40F3-A32F-6DD516915044}" type="slidenum">
              <a:rPr lang="en-US" smtClean="0"/>
              <a:pPr/>
              <a:t>7</a:t>
            </a:fld>
            <a:endParaRPr lang="en-US"/>
          </a:p>
        </p:txBody>
      </p:sp>
    </p:spTree>
    <p:extLst>
      <p:ext uri="{BB962C8B-B14F-4D97-AF65-F5344CB8AC3E}">
        <p14:creationId xmlns:p14="http://schemas.microsoft.com/office/powerpoint/2010/main" val="515936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898C3-1DF3-A623-72EA-D3F20AA29388}"/>
              </a:ext>
            </a:extLst>
          </p:cNvPr>
          <p:cNvSpPr>
            <a:spLocks noGrp="1"/>
          </p:cNvSpPr>
          <p:nvPr>
            <p:ph type="title"/>
          </p:nvPr>
        </p:nvSpPr>
        <p:spPr/>
        <p:txBody>
          <a:bodyPr/>
          <a:lstStyle/>
          <a:p>
            <a:r>
              <a:rPr lang="en-US" dirty="0"/>
              <a:t>Extra Credit	</a:t>
            </a:r>
          </a:p>
        </p:txBody>
      </p:sp>
      <p:sp>
        <p:nvSpPr>
          <p:cNvPr id="3" name="Content Placeholder 2">
            <a:extLst>
              <a:ext uri="{FF2B5EF4-FFF2-40B4-BE49-F238E27FC236}">
                <a16:creationId xmlns:a16="http://schemas.microsoft.com/office/drawing/2014/main" id="{F88C3797-D929-AFAC-6445-546C3A93675E}"/>
              </a:ext>
            </a:extLst>
          </p:cNvPr>
          <p:cNvSpPr>
            <a:spLocks noGrp="1"/>
          </p:cNvSpPr>
          <p:nvPr>
            <p:ph idx="1"/>
          </p:nvPr>
        </p:nvSpPr>
        <p:spPr/>
        <p:txBody>
          <a:bodyPr/>
          <a:lstStyle/>
          <a:p>
            <a:r>
              <a:rPr lang="en-US" dirty="0"/>
              <a:t>Fix the mistakes in your academic essay for extra credit!</a:t>
            </a:r>
          </a:p>
          <a:p>
            <a:endParaRPr lang="en-US" dirty="0"/>
          </a:p>
          <a:p>
            <a:r>
              <a:rPr lang="en-US" dirty="0"/>
              <a:t>Make sure you have included the name of the author, the title of the article and the name of the website or magazine you got it from.  </a:t>
            </a:r>
          </a:p>
        </p:txBody>
      </p:sp>
      <p:sp>
        <p:nvSpPr>
          <p:cNvPr id="4" name="Slide Number Placeholder 3">
            <a:extLst>
              <a:ext uri="{FF2B5EF4-FFF2-40B4-BE49-F238E27FC236}">
                <a16:creationId xmlns:a16="http://schemas.microsoft.com/office/drawing/2014/main" id="{865ED241-3270-988D-9FF8-21E4C6132F98}"/>
              </a:ext>
            </a:extLst>
          </p:cNvPr>
          <p:cNvSpPr>
            <a:spLocks noGrp="1"/>
          </p:cNvSpPr>
          <p:nvPr>
            <p:ph type="sldNum" sz="quarter" idx="12"/>
          </p:nvPr>
        </p:nvSpPr>
        <p:spPr/>
        <p:txBody>
          <a:bodyPr/>
          <a:lstStyle/>
          <a:p>
            <a:fld id="{6E2D2B3B-882E-40F3-A32F-6DD516915044}" type="slidenum">
              <a:rPr lang="en-US" smtClean="0"/>
              <a:pPr/>
              <a:t>8</a:t>
            </a:fld>
            <a:endParaRPr lang="en-US"/>
          </a:p>
        </p:txBody>
      </p:sp>
    </p:spTree>
    <p:extLst>
      <p:ext uri="{BB962C8B-B14F-4D97-AF65-F5344CB8AC3E}">
        <p14:creationId xmlns:p14="http://schemas.microsoft.com/office/powerpoint/2010/main" val="377912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300251"/>
            <a:ext cx="8420669" cy="6557749"/>
          </a:xfrm>
        </p:spPr>
        <p:txBody>
          <a:bodyPr>
            <a:normAutofit fontScale="55000" lnSpcReduction="20000"/>
          </a:bodyPr>
          <a:lstStyle/>
          <a:p>
            <a:pPr marL="114300" indent="0">
              <a:buNone/>
            </a:pPr>
            <a:r>
              <a:rPr lang="en-US" sz="7600" dirty="0"/>
              <a:t>Info on </a:t>
            </a:r>
            <a:r>
              <a:rPr lang="en-US" sz="7600" dirty="0" err="1"/>
              <a:t>Certificative</a:t>
            </a:r>
            <a:r>
              <a:rPr lang="en-US" sz="7600" dirty="0"/>
              <a:t> Evaluation : </a:t>
            </a:r>
          </a:p>
          <a:p>
            <a:pPr marL="114300" indent="0">
              <a:buNone/>
            </a:pPr>
            <a:r>
              <a:rPr lang="en-US" sz="7600" dirty="0"/>
              <a:t>Task III Writing </a:t>
            </a:r>
          </a:p>
          <a:p>
            <a:pPr marL="114300" indent="0">
              <a:buNone/>
            </a:pPr>
            <a:endParaRPr lang="en-CA" sz="4400" dirty="0"/>
          </a:p>
          <a:p>
            <a:r>
              <a:rPr lang="en-CA" sz="5100" dirty="0"/>
              <a:t> </a:t>
            </a:r>
            <a:r>
              <a:rPr lang="en-CA" sz="5100" dirty="0">
                <a:solidFill>
                  <a:srgbClr val="C00000"/>
                </a:solidFill>
              </a:rPr>
              <a:t>Week 14 </a:t>
            </a:r>
            <a:r>
              <a:rPr lang="en-CA" sz="5100" dirty="0"/>
              <a:t>Writing evaluation 25% </a:t>
            </a:r>
            <a:r>
              <a:rPr lang="en-CA" sz="5100" dirty="0">
                <a:solidFill>
                  <a:srgbClr val="C00000"/>
                </a:solidFill>
              </a:rPr>
              <a:t>in the classroom </a:t>
            </a:r>
          </a:p>
          <a:p>
            <a:r>
              <a:rPr lang="en-CA" sz="5100" dirty="0">
                <a:solidFill>
                  <a:srgbClr val="C00000"/>
                </a:solidFill>
              </a:rPr>
              <a:t>90 </a:t>
            </a:r>
            <a:r>
              <a:rPr lang="en-CA" sz="5100" dirty="0"/>
              <a:t>minutes  (approximately </a:t>
            </a:r>
            <a:r>
              <a:rPr lang="en-CA" sz="5100" b="1" u="sng" dirty="0">
                <a:solidFill>
                  <a:srgbClr val="FF0000"/>
                </a:solidFill>
              </a:rPr>
              <a:t>350</a:t>
            </a:r>
            <a:r>
              <a:rPr lang="en-CA" sz="5100" b="1" u="sng" dirty="0"/>
              <a:t> </a:t>
            </a:r>
            <a:r>
              <a:rPr lang="en-CA" sz="5100" dirty="0"/>
              <a:t>words)</a:t>
            </a:r>
          </a:p>
          <a:p>
            <a:pPr marL="114300" indent="0">
              <a:buNone/>
            </a:pPr>
            <a:endParaRPr lang="en-CA" sz="3800" dirty="0"/>
          </a:p>
          <a:p>
            <a:pPr marL="114300" indent="0">
              <a:buNone/>
            </a:pPr>
            <a:r>
              <a:rPr lang="en-CA" sz="4200" dirty="0">
                <a:latin typeface="Times New Roman" panose="02020603050405020304" pitchFamily="18" charset="0"/>
                <a:cs typeface="Times New Roman" panose="02020603050405020304" pitchFamily="18" charset="0"/>
              </a:rPr>
              <a:t>Details: </a:t>
            </a:r>
          </a:p>
          <a:p>
            <a:pPr marL="114300" indent="0">
              <a:buNone/>
            </a:pPr>
            <a:r>
              <a:rPr lang="en-CA" sz="4200" dirty="0">
                <a:latin typeface="Times New Roman" panose="02020603050405020304" pitchFamily="18" charset="0"/>
                <a:cs typeface="Times New Roman" panose="02020603050405020304" pitchFamily="18" charset="0"/>
              </a:rPr>
              <a:t>Based on the process/procedure audio/video clip you found and the Outline you wrote in Week13, you will write </a:t>
            </a:r>
            <a:r>
              <a:rPr lang="en-CA" sz="4200" dirty="0">
                <a:solidFill>
                  <a:srgbClr val="C00000"/>
                </a:solidFill>
                <a:latin typeface="Times New Roman" panose="02020603050405020304" pitchFamily="18" charset="0"/>
                <a:cs typeface="Times New Roman" panose="02020603050405020304" pitchFamily="18" charset="0"/>
              </a:rPr>
              <a:t>an</a:t>
            </a:r>
            <a:r>
              <a:rPr lang="en-CA" sz="4200" dirty="0">
                <a:latin typeface="Times New Roman" panose="02020603050405020304" pitchFamily="18" charset="0"/>
                <a:cs typeface="Times New Roman" panose="02020603050405020304" pitchFamily="18" charset="0"/>
              </a:rPr>
              <a:t> </a:t>
            </a:r>
            <a:r>
              <a:rPr lang="en-CA" sz="4200" dirty="0">
                <a:solidFill>
                  <a:srgbClr val="C00000"/>
                </a:solidFill>
                <a:latin typeface="Times New Roman" panose="02020603050405020304" pitchFamily="18" charset="0"/>
                <a:cs typeface="Times New Roman" panose="02020603050405020304" pitchFamily="18" charset="0"/>
              </a:rPr>
              <a:t>essay </a:t>
            </a:r>
            <a:r>
              <a:rPr lang="en-CA" sz="4200" dirty="0">
                <a:latin typeface="Times New Roman" panose="02020603050405020304" pitchFamily="18" charset="0"/>
                <a:cs typeface="Times New Roman" panose="02020603050405020304" pitchFamily="18" charset="0"/>
              </a:rPr>
              <a:t>of approximately </a:t>
            </a:r>
            <a:r>
              <a:rPr lang="en-CA" sz="4200" b="1" dirty="0">
                <a:solidFill>
                  <a:srgbClr val="FF0000"/>
                </a:solidFill>
                <a:latin typeface="Times New Roman" panose="02020603050405020304" pitchFamily="18" charset="0"/>
                <a:cs typeface="Times New Roman" panose="02020603050405020304" pitchFamily="18" charset="0"/>
              </a:rPr>
              <a:t>350 </a:t>
            </a:r>
            <a:r>
              <a:rPr lang="en-CA" sz="4200" dirty="0">
                <a:latin typeface="Times New Roman" panose="02020603050405020304" pitchFamily="18" charset="0"/>
                <a:cs typeface="Times New Roman" panose="02020603050405020304" pitchFamily="18" charset="0"/>
              </a:rPr>
              <a:t>words in Week 14 to explain the process/procedure related to your field. The Task III Word Document, the Task III Outline, the Verb List, the Transitional Words List, paper dictionaries and grammar charts are permitted. </a:t>
            </a:r>
          </a:p>
          <a:p>
            <a:pPr marL="114300" indent="0">
              <a:buNone/>
            </a:pPr>
            <a:endParaRPr lang="en-CA" sz="4200" dirty="0">
              <a:latin typeface="Times New Roman" panose="02020603050405020304" pitchFamily="18" charset="0"/>
              <a:cs typeface="Times New Roman" panose="02020603050405020304" pitchFamily="18" charset="0"/>
            </a:endParaRPr>
          </a:p>
          <a:p>
            <a:pPr marL="114300" indent="0">
              <a:buNone/>
            </a:pPr>
            <a:r>
              <a:rPr lang="en-CA" sz="4200" dirty="0">
                <a:latin typeface="Times New Roman" panose="02020603050405020304" pitchFamily="18" charset="0"/>
                <a:cs typeface="Times New Roman" panose="02020603050405020304" pitchFamily="18" charset="0"/>
              </a:rPr>
              <a:t>Evaluation Criteria: same as the summative writing evaluation (See the Writing Descriptors on LEA). </a:t>
            </a:r>
          </a:p>
          <a:p>
            <a:pPr marL="114300" indent="0">
              <a:buNone/>
            </a:pPr>
            <a:endParaRPr lang="en-CA" sz="3800"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9</a:t>
            </a:fld>
            <a:endParaRPr lang="en-US"/>
          </a:p>
        </p:txBody>
      </p:sp>
    </p:spTree>
    <p:extLst>
      <p:ext uri="{BB962C8B-B14F-4D97-AF65-F5344CB8AC3E}">
        <p14:creationId xmlns:p14="http://schemas.microsoft.com/office/powerpoint/2010/main" val="4243265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4D25C-545D-116E-4F16-ED67B6E399EC}"/>
              </a:ext>
            </a:extLst>
          </p:cNvPr>
          <p:cNvSpPr>
            <a:spLocks noGrp="1"/>
          </p:cNvSpPr>
          <p:nvPr>
            <p:ph type="title"/>
          </p:nvPr>
        </p:nvSpPr>
        <p:spPr>
          <a:xfrm>
            <a:off x="341290" y="29939"/>
            <a:ext cx="7735910" cy="871582"/>
          </a:xfrm>
        </p:spPr>
        <p:txBody>
          <a:bodyPr/>
          <a:lstStyle/>
          <a:p>
            <a:r>
              <a:rPr lang="fr-CA" dirty="0" err="1"/>
              <a:t>Task</a:t>
            </a:r>
            <a:r>
              <a:rPr lang="fr-CA" dirty="0"/>
              <a:t> III Process </a:t>
            </a:r>
            <a:r>
              <a:rPr lang="fr-CA" dirty="0" err="1"/>
              <a:t>Research</a:t>
            </a:r>
            <a:r>
              <a:rPr lang="fr-CA" dirty="0"/>
              <a:t>  </a:t>
            </a:r>
            <a:endParaRPr lang="en-CA" dirty="0"/>
          </a:p>
        </p:txBody>
      </p:sp>
      <p:sp>
        <p:nvSpPr>
          <p:cNvPr id="3" name="Content Placeholder 2">
            <a:extLst>
              <a:ext uri="{FF2B5EF4-FFF2-40B4-BE49-F238E27FC236}">
                <a16:creationId xmlns:a16="http://schemas.microsoft.com/office/drawing/2014/main" id="{E0F99BEE-7D19-6C2C-C40B-D314E83A6763}"/>
              </a:ext>
            </a:extLst>
          </p:cNvPr>
          <p:cNvSpPr>
            <a:spLocks noGrp="1"/>
          </p:cNvSpPr>
          <p:nvPr>
            <p:ph idx="1"/>
          </p:nvPr>
        </p:nvSpPr>
        <p:spPr>
          <a:xfrm>
            <a:off x="63573" y="1023871"/>
            <a:ext cx="8365650" cy="5804190"/>
          </a:xfrm>
        </p:spPr>
        <p:txBody>
          <a:bodyPr>
            <a:normAutofit lnSpcReduction="10000"/>
          </a:bodyPr>
          <a:lstStyle/>
          <a:p>
            <a:r>
              <a:rPr lang="en-US" dirty="0"/>
              <a:t>This task is not graded; however, it is a mandatory step for the </a:t>
            </a:r>
            <a:r>
              <a:rPr lang="en-US" dirty="0" err="1"/>
              <a:t>Certificative</a:t>
            </a:r>
            <a:r>
              <a:rPr lang="en-US" dirty="0"/>
              <a:t> Exams. You may start it this week and continue to finish it in Week 13. </a:t>
            </a:r>
            <a:endParaRPr lang="en-CA" dirty="0"/>
          </a:p>
          <a:p>
            <a:pPr marL="114300" indent="0">
              <a:buNone/>
            </a:pPr>
            <a:endParaRPr lang="en-US" sz="800" dirty="0"/>
          </a:p>
          <a:p>
            <a:r>
              <a:rPr lang="en-US" dirty="0"/>
              <a:t>Instructions: Individually, research an audio/video clip approximately </a:t>
            </a:r>
            <a:r>
              <a:rPr lang="en-US" dirty="0">
                <a:solidFill>
                  <a:srgbClr val="FF0000"/>
                </a:solidFill>
              </a:rPr>
              <a:t>five minutes </a:t>
            </a:r>
            <a:r>
              <a:rPr lang="en-US" dirty="0"/>
              <a:t>long that explains </a:t>
            </a:r>
            <a:r>
              <a:rPr lang="en-US" dirty="0">
                <a:solidFill>
                  <a:srgbClr val="FF0000"/>
                </a:solidFill>
              </a:rPr>
              <a:t>a process or procedure </a:t>
            </a:r>
            <a:r>
              <a:rPr lang="en-US" dirty="0"/>
              <a:t>(step by step explanation of how to do something) in your field from a </a:t>
            </a:r>
            <a:r>
              <a:rPr lang="en-US" dirty="0">
                <a:solidFill>
                  <a:srgbClr val="FF0000"/>
                </a:solidFill>
              </a:rPr>
              <a:t>reliable source</a:t>
            </a:r>
            <a:r>
              <a:rPr lang="en-US" dirty="0"/>
              <a:t>. </a:t>
            </a:r>
            <a:r>
              <a:rPr lang="fr-CA" dirty="0" err="1"/>
              <a:t>Identify</a:t>
            </a:r>
            <a:r>
              <a:rPr lang="fr-CA" dirty="0"/>
              <a:t> </a:t>
            </a:r>
            <a:r>
              <a:rPr lang="fr-CA" dirty="0" err="1"/>
              <a:t>three</a:t>
            </a:r>
            <a:r>
              <a:rPr lang="fr-CA" dirty="0"/>
              <a:t> </a:t>
            </a:r>
            <a:r>
              <a:rPr lang="fr-CA" dirty="0" err="1"/>
              <a:t>field-related</a:t>
            </a:r>
            <a:r>
              <a:rPr lang="fr-CA" dirty="0"/>
              <a:t> </a:t>
            </a:r>
            <a:r>
              <a:rPr lang="fr-CA" dirty="0" err="1"/>
              <a:t>terms</a:t>
            </a:r>
            <a:r>
              <a:rPr lang="en-CA" dirty="0"/>
              <a:t>/expressions and write their definitions and use a couple of sentences to write about the main ideas. </a:t>
            </a:r>
          </a:p>
          <a:p>
            <a:pPr lvl="1"/>
            <a:endParaRPr lang="en-CA" sz="800" dirty="0"/>
          </a:p>
          <a:p>
            <a:r>
              <a:rPr lang="en-CA" dirty="0"/>
              <a:t>You will create the </a:t>
            </a:r>
            <a:r>
              <a:rPr lang="en-CA" b="1" u="sng" dirty="0"/>
              <a:t>Task III Word Document </a:t>
            </a:r>
            <a:r>
              <a:rPr lang="en-CA" dirty="0"/>
              <a:t>including all the necessary information about this task. You will then create the </a:t>
            </a:r>
            <a:r>
              <a:rPr lang="en-CA" b="1" u="sng" dirty="0"/>
              <a:t>Task III Outline </a:t>
            </a:r>
            <a:r>
              <a:rPr lang="en-CA" dirty="0"/>
              <a:t>based on your audio/video. See the models on the next pages. </a:t>
            </a:r>
            <a:endParaRPr lang="en-CA" sz="800" dirty="0"/>
          </a:p>
          <a:p>
            <a:endParaRPr lang="en-CA" dirty="0"/>
          </a:p>
          <a:p>
            <a:r>
              <a:rPr lang="en-CA" dirty="0"/>
              <a:t>You must submit your Task III Word Document and Task III Outline to your teacher in </a:t>
            </a:r>
            <a:r>
              <a:rPr lang="en-CA" dirty="0">
                <a:solidFill>
                  <a:srgbClr val="FF0000"/>
                </a:solidFill>
              </a:rPr>
              <a:t>Week 13. </a:t>
            </a:r>
            <a:endParaRPr lang="fr-CA" dirty="0">
              <a:solidFill>
                <a:srgbClr val="FF0000"/>
              </a:solidFill>
            </a:endParaRPr>
          </a:p>
          <a:p>
            <a:pPr lvl="1"/>
            <a:endParaRPr lang="en-US" dirty="0"/>
          </a:p>
          <a:p>
            <a:endParaRPr lang="en-CA" dirty="0"/>
          </a:p>
        </p:txBody>
      </p:sp>
      <p:sp>
        <p:nvSpPr>
          <p:cNvPr id="4" name="Slide Number Placeholder 3">
            <a:extLst>
              <a:ext uri="{FF2B5EF4-FFF2-40B4-BE49-F238E27FC236}">
                <a16:creationId xmlns:a16="http://schemas.microsoft.com/office/drawing/2014/main" id="{0EE8B123-8A8B-2C95-95CB-1A0D900F2C04}"/>
              </a:ext>
            </a:extLst>
          </p:cNvPr>
          <p:cNvSpPr>
            <a:spLocks noGrp="1"/>
          </p:cNvSpPr>
          <p:nvPr>
            <p:ph type="sldNum" sz="quarter" idx="12"/>
          </p:nvPr>
        </p:nvSpPr>
        <p:spPr/>
        <p:txBody>
          <a:bodyPr/>
          <a:lstStyle/>
          <a:p>
            <a:fld id="{6E2D2B3B-882E-40F3-A32F-6DD516915044}" type="slidenum">
              <a:rPr lang="en-US" smtClean="0"/>
              <a:pPr/>
              <a:t>10</a:t>
            </a:fld>
            <a:endParaRPr lang="en-US"/>
          </a:p>
        </p:txBody>
      </p:sp>
    </p:spTree>
    <p:extLst>
      <p:ext uri="{BB962C8B-B14F-4D97-AF65-F5344CB8AC3E}">
        <p14:creationId xmlns:p14="http://schemas.microsoft.com/office/powerpoint/2010/main" val="1506305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FF52-091C-80DA-892C-B311C1F5C126}"/>
              </a:ext>
            </a:extLst>
          </p:cNvPr>
          <p:cNvSpPr>
            <a:spLocks noGrp="1"/>
          </p:cNvSpPr>
          <p:nvPr>
            <p:ph type="title"/>
          </p:nvPr>
        </p:nvSpPr>
        <p:spPr>
          <a:xfrm>
            <a:off x="-1" y="0"/>
            <a:ext cx="8422783" cy="901521"/>
          </a:xfrm>
        </p:spPr>
        <p:txBody>
          <a:bodyPr/>
          <a:lstStyle/>
          <a:p>
            <a:r>
              <a:rPr lang="en-CA" dirty="0"/>
              <a:t>Task III Word Document </a:t>
            </a:r>
          </a:p>
        </p:txBody>
      </p:sp>
      <p:sp>
        <p:nvSpPr>
          <p:cNvPr id="3" name="Content Placeholder 2">
            <a:extLst>
              <a:ext uri="{FF2B5EF4-FFF2-40B4-BE49-F238E27FC236}">
                <a16:creationId xmlns:a16="http://schemas.microsoft.com/office/drawing/2014/main" id="{B8D08C63-DEAC-ABA9-8F1A-C326076CB29D}"/>
              </a:ext>
            </a:extLst>
          </p:cNvPr>
          <p:cNvSpPr>
            <a:spLocks noGrp="1"/>
          </p:cNvSpPr>
          <p:nvPr>
            <p:ph idx="1"/>
          </p:nvPr>
        </p:nvSpPr>
        <p:spPr>
          <a:xfrm>
            <a:off x="392806" y="1062507"/>
            <a:ext cx="7482625" cy="5847008"/>
          </a:xfrm>
        </p:spPr>
        <p:txBody>
          <a:bodyPr/>
          <a:lstStyle/>
          <a:p>
            <a:pPr marL="571500" indent="-457200">
              <a:buFont typeface="+mj-lt"/>
              <a:buAutoNum type="arabicPeriod"/>
            </a:pPr>
            <a:r>
              <a:rPr lang="en-CA" dirty="0"/>
              <a:t>Field of study: </a:t>
            </a:r>
          </a:p>
          <a:p>
            <a:pPr marL="571500" indent="-457200">
              <a:buFont typeface="+mj-lt"/>
              <a:buAutoNum type="arabicPeriod"/>
            </a:pPr>
            <a:r>
              <a:rPr lang="fr-CA" dirty="0"/>
              <a:t>Link to the audio</a:t>
            </a:r>
            <a:r>
              <a:rPr lang="en-CA" dirty="0"/>
              <a:t>/video clip: </a:t>
            </a:r>
          </a:p>
          <a:p>
            <a:pPr marL="571500" indent="-457200">
              <a:buFont typeface="+mj-lt"/>
              <a:buAutoNum type="arabicPeriod"/>
            </a:pPr>
            <a:r>
              <a:rPr lang="en-CA" dirty="0"/>
              <a:t>Length of the clip: </a:t>
            </a:r>
          </a:p>
          <a:p>
            <a:pPr marL="571500" indent="-457200">
              <a:buFont typeface="+mj-lt"/>
              <a:buAutoNum type="arabicPeriod"/>
            </a:pPr>
            <a:r>
              <a:rPr lang="en-CA" dirty="0"/>
              <a:t>Justification of the reliability of the clip: </a:t>
            </a:r>
          </a:p>
          <a:p>
            <a:pPr marL="571500" indent="-457200">
              <a:buFont typeface="+mj-lt"/>
              <a:buAutoNum type="arabicPeriod"/>
            </a:pPr>
            <a:r>
              <a:rPr lang="en-CA" dirty="0"/>
              <a:t>Level-appropriate, field-related vocabulary and definitions: </a:t>
            </a:r>
          </a:p>
          <a:p>
            <a:pPr marL="411480" lvl="1" indent="0">
              <a:buNone/>
            </a:pPr>
            <a:r>
              <a:rPr lang="en-CA" dirty="0"/>
              <a:t>(1)</a:t>
            </a:r>
            <a:r>
              <a:rPr lang="en-US" dirty="0"/>
              <a:t> </a:t>
            </a:r>
          </a:p>
          <a:p>
            <a:pPr marL="411480" lvl="1" indent="0">
              <a:buNone/>
            </a:pPr>
            <a:r>
              <a:rPr lang="en-CA" dirty="0"/>
              <a:t>(2)</a:t>
            </a:r>
            <a:endParaRPr lang="en-CA" dirty="0">
              <a:solidFill>
                <a:schemeClr val="accent6"/>
              </a:solidFill>
            </a:endParaRPr>
          </a:p>
          <a:p>
            <a:pPr marL="411480" lvl="1" indent="0">
              <a:buNone/>
            </a:pPr>
            <a:r>
              <a:rPr lang="en-CA" dirty="0"/>
              <a:t>(3)</a:t>
            </a:r>
          </a:p>
          <a:p>
            <a:pPr marL="571500" indent="-457200">
              <a:buFont typeface="+mj-lt"/>
              <a:buAutoNum type="arabicPeriod"/>
            </a:pPr>
            <a:r>
              <a:rPr lang="en-CA" dirty="0"/>
              <a:t>Main ideas:</a:t>
            </a:r>
          </a:p>
        </p:txBody>
      </p:sp>
      <p:sp>
        <p:nvSpPr>
          <p:cNvPr id="4" name="Slide Number Placeholder 3">
            <a:extLst>
              <a:ext uri="{FF2B5EF4-FFF2-40B4-BE49-F238E27FC236}">
                <a16:creationId xmlns:a16="http://schemas.microsoft.com/office/drawing/2014/main" id="{E1355A25-551B-9F61-CFD4-FBD9E5C4924C}"/>
              </a:ext>
            </a:extLst>
          </p:cNvPr>
          <p:cNvSpPr>
            <a:spLocks noGrp="1"/>
          </p:cNvSpPr>
          <p:nvPr>
            <p:ph type="sldNum" sz="quarter" idx="12"/>
          </p:nvPr>
        </p:nvSpPr>
        <p:spPr/>
        <p:txBody>
          <a:bodyPr/>
          <a:lstStyle/>
          <a:p>
            <a:fld id="{6E2D2B3B-882E-40F3-A32F-6DD516915044}" type="slidenum">
              <a:rPr lang="en-US" smtClean="0"/>
              <a:pPr/>
              <a:t>11</a:t>
            </a:fld>
            <a:endParaRPr lang="en-US"/>
          </a:p>
        </p:txBody>
      </p:sp>
    </p:spTree>
    <p:extLst>
      <p:ext uri="{BB962C8B-B14F-4D97-AF65-F5344CB8AC3E}">
        <p14:creationId xmlns:p14="http://schemas.microsoft.com/office/powerpoint/2010/main" val="1616147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821E2-B2CF-6221-6CE9-8A56F99B5FC9}"/>
              </a:ext>
            </a:extLst>
          </p:cNvPr>
          <p:cNvSpPr>
            <a:spLocks noGrp="1"/>
          </p:cNvSpPr>
          <p:nvPr>
            <p:ph type="title"/>
          </p:nvPr>
        </p:nvSpPr>
        <p:spPr>
          <a:xfrm>
            <a:off x="0" y="0"/>
            <a:ext cx="8531788" cy="1081825"/>
          </a:xfrm>
        </p:spPr>
        <p:txBody>
          <a:bodyPr/>
          <a:lstStyle/>
          <a:p>
            <a:r>
              <a:rPr lang="en-CA" sz="4000" dirty="0"/>
              <a:t>Task III Outline</a:t>
            </a:r>
            <a:br>
              <a:rPr lang="en-CA" dirty="0"/>
            </a:br>
            <a:r>
              <a:rPr lang="en-CA" dirty="0"/>
              <a:t>                         </a:t>
            </a:r>
            <a:r>
              <a:rPr lang="en-CA" sz="2800" u="sng" dirty="0"/>
              <a:t>Title of the Essay </a:t>
            </a:r>
          </a:p>
        </p:txBody>
      </p:sp>
      <p:sp>
        <p:nvSpPr>
          <p:cNvPr id="3" name="Content Placeholder 2">
            <a:extLst>
              <a:ext uri="{FF2B5EF4-FFF2-40B4-BE49-F238E27FC236}">
                <a16:creationId xmlns:a16="http://schemas.microsoft.com/office/drawing/2014/main" id="{5AC7FB0B-B3B1-6224-7632-7D57C7B72B43}"/>
              </a:ext>
            </a:extLst>
          </p:cNvPr>
          <p:cNvSpPr>
            <a:spLocks noGrp="1"/>
          </p:cNvSpPr>
          <p:nvPr>
            <p:ph idx="1"/>
          </p:nvPr>
        </p:nvSpPr>
        <p:spPr>
          <a:xfrm>
            <a:off x="457200" y="1339403"/>
            <a:ext cx="7843234" cy="5428445"/>
          </a:xfrm>
        </p:spPr>
        <p:txBody>
          <a:bodyPr>
            <a:normAutofit fontScale="92500" lnSpcReduction="20000"/>
          </a:bodyPr>
          <a:lstStyle/>
          <a:p>
            <a:pPr marL="114300" indent="0">
              <a:buNone/>
            </a:pPr>
            <a:r>
              <a:rPr lang="en-CA" sz="2000" b="1" u="sng" dirty="0"/>
              <a:t>Introduction</a:t>
            </a:r>
          </a:p>
          <a:p>
            <a:pPr marL="114300" indent="0">
              <a:buNone/>
            </a:pPr>
            <a:r>
              <a:rPr lang="en-CA" sz="2000" dirty="0"/>
              <a:t>General statements and thesis statement:(</a:t>
            </a:r>
            <a:r>
              <a:rPr lang="en-CA" sz="2000" dirty="0">
                <a:solidFill>
                  <a:srgbClr val="FF0000"/>
                </a:solidFill>
              </a:rPr>
              <a:t>one</a:t>
            </a:r>
            <a:r>
              <a:rPr lang="en-CA" sz="2000" dirty="0"/>
              <a:t> </a:t>
            </a:r>
            <a:r>
              <a:rPr lang="en-CA" sz="2000" dirty="0">
                <a:solidFill>
                  <a:srgbClr val="FF0000"/>
                </a:solidFill>
              </a:rPr>
              <a:t>sentence allowed in outline</a:t>
            </a:r>
            <a:r>
              <a:rPr lang="en-CA" sz="2000" dirty="0"/>
              <a:t>)</a:t>
            </a:r>
          </a:p>
          <a:p>
            <a:pPr marL="114300" indent="0">
              <a:buNone/>
            </a:pPr>
            <a:endParaRPr lang="en-CA" sz="2000" dirty="0"/>
          </a:p>
          <a:p>
            <a:pPr marL="114300" indent="0">
              <a:buNone/>
            </a:pPr>
            <a:r>
              <a:rPr lang="en-CA" sz="2000" b="1" u="sng" dirty="0"/>
              <a:t>Body Paragraph 1</a:t>
            </a:r>
          </a:p>
          <a:p>
            <a:pPr marL="114300" indent="0">
              <a:buNone/>
            </a:pPr>
            <a:r>
              <a:rPr lang="en-CA" sz="2000" dirty="0"/>
              <a:t>Topic sentence I: Step 1…(</a:t>
            </a:r>
            <a:r>
              <a:rPr lang="en-CA" sz="2000" dirty="0">
                <a:solidFill>
                  <a:srgbClr val="FF0000"/>
                </a:solidFill>
              </a:rPr>
              <a:t>one</a:t>
            </a:r>
            <a:r>
              <a:rPr lang="en-CA" sz="2000" dirty="0"/>
              <a:t> </a:t>
            </a:r>
            <a:r>
              <a:rPr lang="en-CA" sz="2000" dirty="0">
                <a:solidFill>
                  <a:srgbClr val="FF0000"/>
                </a:solidFill>
              </a:rPr>
              <a:t>full</a:t>
            </a:r>
            <a:r>
              <a:rPr lang="en-CA" sz="2000" dirty="0"/>
              <a:t> </a:t>
            </a:r>
            <a:r>
              <a:rPr lang="en-CA" sz="2000" dirty="0">
                <a:solidFill>
                  <a:srgbClr val="FF0000"/>
                </a:solidFill>
              </a:rPr>
              <a:t>sentence allowed</a:t>
            </a:r>
            <a:r>
              <a:rPr lang="en-CA" sz="2000" dirty="0"/>
              <a:t>)</a:t>
            </a:r>
          </a:p>
          <a:p>
            <a:pPr marL="114300" indent="0">
              <a:buNone/>
            </a:pPr>
            <a:r>
              <a:rPr lang="en-CA" sz="2000" dirty="0"/>
              <a:t>Some supporting details (</a:t>
            </a:r>
            <a:r>
              <a:rPr lang="en-CA" sz="2000" dirty="0">
                <a:solidFill>
                  <a:srgbClr val="FF0000"/>
                </a:solidFill>
              </a:rPr>
              <a:t>5 words – no sentences allowed</a:t>
            </a:r>
            <a:r>
              <a:rPr lang="en-CA" sz="2000" dirty="0"/>
              <a:t>)</a:t>
            </a:r>
          </a:p>
          <a:p>
            <a:pPr marL="114300" indent="0">
              <a:buNone/>
            </a:pPr>
            <a:r>
              <a:rPr lang="en-CA" sz="2000" b="1" u="sng" dirty="0"/>
              <a:t>Body Paragraph 2</a:t>
            </a:r>
            <a:endParaRPr lang="en-CA" sz="2000" dirty="0"/>
          </a:p>
          <a:p>
            <a:pPr marL="114300" indent="0">
              <a:buNone/>
            </a:pPr>
            <a:r>
              <a:rPr lang="en-CA" sz="2000" dirty="0"/>
              <a:t>Topic sentence II: Step 2…:(</a:t>
            </a:r>
            <a:r>
              <a:rPr lang="en-CA" sz="2000" dirty="0">
                <a:solidFill>
                  <a:srgbClr val="FF0000"/>
                </a:solidFill>
              </a:rPr>
              <a:t>one</a:t>
            </a:r>
            <a:r>
              <a:rPr lang="en-CA" sz="2000" dirty="0"/>
              <a:t> </a:t>
            </a:r>
            <a:r>
              <a:rPr lang="en-CA" sz="2000" dirty="0">
                <a:solidFill>
                  <a:srgbClr val="FF0000"/>
                </a:solidFill>
              </a:rPr>
              <a:t>full</a:t>
            </a:r>
            <a:r>
              <a:rPr lang="en-CA" sz="2000" dirty="0"/>
              <a:t> </a:t>
            </a:r>
            <a:r>
              <a:rPr lang="en-CA" sz="2000" dirty="0">
                <a:solidFill>
                  <a:srgbClr val="FF0000"/>
                </a:solidFill>
              </a:rPr>
              <a:t>sentence allowed</a:t>
            </a:r>
            <a:r>
              <a:rPr lang="en-CA" sz="2000" dirty="0"/>
              <a:t>)</a:t>
            </a:r>
          </a:p>
          <a:p>
            <a:pPr marL="114300" indent="0">
              <a:buNone/>
            </a:pPr>
            <a:r>
              <a:rPr lang="en-CA" sz="2000" dirty="0"/>
              <a:t>Some supporting details (</a:t>
            </a:r>
            <a:r>
              <a:rPr lang="en-CA" sz="2000" dirty="0">
                <a:solidFill>
                  <a:srgbClr val="FF0000"/>
                </a:solidFill>
              </a:rPr>
              <a:t>5 words – no sentences allowed</a:t>
            </a:r>
            <a:r>
              <a:rPr lang="en-CA" sz="2000" dirty="0"/>
              <a:t>)</a:t>
            </a:r>
          </a:p>
          <a:p>
            <a:pPr marL="114300" indent="0">
              <a:buNone/>
            </a:pPr>
            <a:r>
              <a:rPr lang="en-CA" sz="2000" b="1" u="sng" dirty="0"/>
              <a:t>Body Paragraph 3</a:t>
            </a:r>
          </a:p>
          <a:p>
            <a:pPr marL="114300" indent="0">
              <a:buNone/>
            </a:pPr>
            <a:r>
              <a:rPr lang="en-CA" sz="2000" dirty="0"/>
              <a:t>Topic sentence II: Step 3…(</a:t>
            </a:r>
            <a:r>
              <a:rPr lang="en-CA" sz="2000" dirty="0">
                <a:solidFill>
                  <a:srgbClr val="FF0000"/>
                </a:solidFill>
              </a:rPr>
              <a:t>one</a:t>
            </a:r>
            <a:r>
              <a:rPr lang="en-CA" sz="2000" dirty="0"/>
              <a:t> </a:t>
            </a:r>
            <a:r>
              <a:rPr lang="en-CA" sz="2000" dirty="0">
                <a:solidFill>
                  <a:srgbClr val="FF0000"/>
                </a:solidFill>
              </a:rPr>
              <a:t>full</a:t>
            </a:r>
            <a:r>
              <a:rPr lang="en-CA" sz="2000" dirty="0"/>
              <a:t> </a:t>
            </a:r>
            <a:r>
              <a:rPr lang="en-CA" sz="2000" dirty="0">
                <a:solidFill>
                  <a:srgbClr val="FF0000"/>
                </a:solidFill>
              </a:rPr>
              <a:t>sentence allowed</a:t>
            </a:r>
            <a:r>
              <a:rPr lang="en-CA" sz="2000" dirty="0"/>
              <a:t>)</a:t>
            </a:r>
          </a:p>
          <a:p>
            <a:pPr marL="114300" indent="0">
              <a:buNone/>
            </a:pPr>
            <a:r>
              <a:rPr lang="en-CA" sz="2000" dirty="0"/>
              <a:t>Some supporting details (</a:t>
            </a:r>
            <a:r>
              <a:rPr lang="en-CA" sz="2000" dirty="0">
                <a:solidFill>
                  <a:srgbClr val="FF0000"/>
                </a:solidFill>
              </a:rPr>
              <a:t>5 words – no sentences allowed</a:t>
            </a:r>
            <a:r>
              <a:rPr lang="en-CA" sz="2000" dirty="0"/>
              <a:t>)</a:t>
            </a:r>
          </a:p>
          <a:p>
            <a:pPr marL="114300" indent="0">
              <a:buNone/>
            </a:pPr>
            <a:r>
              <a:rPr lang="en-CA" sz="2000" b="1" u="sng" dirty="0"/>
              <a:t>Body Paragraph …</a:t>
            </a:r>
          </a:p>
          <a:p>
            <a:pPr marL="114300" indent="0">
              <a:buNone/>
            </a:pPr>
            <a:r>
              <a:rPr lang="en-CA" sz="2000" dirty="0"/>
              <a:t>Topic sentence II: Step…(</a:t>
            </a:r>
            <a:r>
              <a:rPr lang="en-CA" sz="2000" dirty="0">
                <a:solidFill>
                  <a:srgbClr val="FF0000"/>
                </a:solidFill>
              </a:rPr>
              <a:t>one</a:t>
            </a:r>
            <a:r>
              <a:rPr lang="en-CA" sz="2000" dirty="0"/>
              <a:t> </a:t>
            </a:r>
            <a:r>
              <a:rPr lang="en-CA" sz="2000" dirty="0">
                <a:solidFill>
                  <a:srgbClr val="FF0000"/>
                </a:solidFill>
              </a:rPr>
              <a:t>full</a:t>
            </a:r>
            <a:r>
              <a:rPr lang="en-CA" sz="2000" dirty="0"/>
              <a:t> </a:t>
            </a:r>
            <a:r>
              <a:rPr lang="en-CA" sz="2000" dirty="0">
                <a:solidFill>
                  <a:srgbClr val="FF0000"/>
                </a:solidFill>
              </a:rPr>
              <a:t>sentence allowed</a:t>
            </a:r>
            <a:r>
              <a:rPr lang="en-CA" sz="2000" dirty="0"/>
              <a:t>)</a:t>
            </a:r>
          </a:p>
          <a:p>
            <a:pPr marL="114300" indent="0">
              <a:buNone/>
            </a:pPr>
            <a:r>
              <a:rPr lang="en-CA" sz="2000" dirty="0"/>
              <a:t>Some supporting details (</a:t>
            </a:r>
            <a:r>
              <a:rPr lang="en-CA" sz="2000" dirty="0">
                <a:solidFill>
                  <a:srgbClr val="FF0000"/>
                </a:solidFill>
              </a:rPr>
              <a:t>5 words – no sentences allowed</a:t>
            </a:r>
            <a:r>
              <a:rPr lang="en-CA" sz="2000" dirty="0"/>
              <a:t>)</a:t>
            </a:r>
          </a:p>
          <a:p>
            <a:pPr marL="114300" indent="0">
              <a:buNone/>
            </a:pPr>
            <a:r>
              <a:rPr lang="en-CA" sz="2000" b="1" u="sng" dirty="0"/>
              <a:t>Conclusion</a:t>
            </a:r>
          </a:p>
          <a:p>
            <a:pPr marL="114300" indent="0">
              <a:buNone/>
            </a:pPr>
            <a:r>
              <a:rPr lang="en-CA" sz="2000" dirty="0"/>
              <a:t>Restate your main ideas:  (</a:t>
            </a:r>
            <a:r>
              <a:rPr lang="en-CA" sz="2000" dirty="0">
                <a:solidFill>
                  <a:srgbClr val="FF0000"/>
                </a:solidFill>
              </a:rPr>
              <a:t>5 words – no sentences allowed</a:t>
            </a:r>
            <a:r>
              <a:rPr lang="en-CA" sz="2000" dirty="0"/>
              <a:t>)</a:t>
            </a:r>
          </a:p>
        </p:txBody>
      </p:sp>
      <p:sp>
        <p:nvSpPr>
          <p:cNvPr id="4" name="Slide Number Placeholder 3">
            <a:extLst>
              <a:ext uri="{FF2B5EF4-FFF2-40B4-BE49-F238E27FC236}">
                <a16:creationId xmlns:a16="http://schemas.microsoft.com/office/drawing/2014/main" id="{6986D0F1-2213-9ECC-BFA3-D8A6ED37AF68}"/>
              </a:ext>
            </a:extLst>
          </p:cNvPr>
          <p:cNvSpPr>
            <a:spLocks noGrp="1"/>
          </p:cNvSpPr>
          <p:nvPr>
            <p:ph type="sldNum" sz="quarter" idx="12"/>
          </p:nvPr>
        </p:nvSpPr>
        <p:spPr/>
        <p:txBody>
          <a:bodyPr/>
          <a:lstStyle/>
          <a:p>
            <a:fld id="{6E2D2B3B-882E-40F3-A32F-6DD516915044}" type="slidenum">
              <a:rPr lang="en-US" smtClean="0"/>
              <a:pPr/>
              <a:t>12</a:t>
            </a:fld>
            <a:endParaRPr lang="en-US"/>
          </a:p>
        </p:txBody>
      </p:sp>
    </p:spTree>
    <p:extLst>
      <p:ext uri="{BB962C8B-B14F-4D97-AF65-F5344CB8AC3E}">
        <p14:creationId xmlns:p14="http://schemas.microsoft.com/office/powerpoint/2010/main" val="3887500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E83C2-D074-7938-15B4-BF1FE1626E8F}"/>
              </a:ext>
            </a:extLst>
          </p:cNvPr>
          <p:cNvSpPr>
            <a:spLocks noGrp="1"/>
          </p:cNvSpPr>
          <p:nvPr>
            <p:ph type="title"/>
          </p:nvPr>
        </p:nvSpPr>
        <p:spPr>
          <a:xfrm>
            <a:off x="457200" y="480700"/>
            <a:ext cx="7620000" cy="1143000"/>
          </a:xfrm>
        </p:spPr>
        <p:txBody>
          <a:bodyPr/>
          <a:lstStyle/>
          <a:p>
            <a:r>
              <a:rPr lang="en-US" sz="4000" dirty="0"/>
              <a:t>Info on </a:t>
            </a:r>
            <a:r>
              <a:rPr lang="en-US" sz="4000" dirty="0" err="1"/>
              <a:t>Certificative</a:t>
            </a:r>
            <a:r>
              <a:rPr lang="en-US" sz="4000" dirty="0"/>
              <a:t> Evaluation:</a:t>
            </a:r>
            <a:br>
              <a:rPr lang="en-US" sz="4000" dirty="0"/>
            </a:br>
            <a:r>
              <a:rPr lang="en-US" sz="4000" dirty="0"/>
              <a:t>Task III Speaking </a:t>
            </a:r>
            <a:br>
              <a:rPr lang="en-US" dirty="0"/>
            </a:br>
            <a:endParaRPr lang="en-CA" dirty="0"/>
          </a:p>
        </p:txBody>
      </p:sp>
      <p:sp>
        <p:nvSpPr>
          <p:cNvPr id="3" name="Content Placeholder 2">
            <a:extLst>
              <a:ext uri="{FF2B5EF4-FFF2-40B4-BE49-F238E27FC236}">
                <a16:creationId xmlns:a16="http://schemas.microsoft.com/office/drawing/2014/main" id="{294BEA5F-9B33-3751-C153-FC50D487F052}"/>
              </a:ext>
            </a:extLst>
          </p:cNvPr>
          <p:cNvSpPr>
            <a:spLocks noGrp="1"/>
          </p:cNvSpPr>
          <p:nvPr>
            <p:ph idx="1"/>
          </p:nvPr>
        </p:nvSpPr>
        <p:spPr/>
        <p:txBody>
          <a:bodyPr>
            <a:normAutofit fontScale="92500"/>
          </a:bodyPr>
          <a:lstStyle/>
          <a:p>
            <a:r>
              <a:rPr lang="en-US" dirty="0"/>
              <a:t> Week 15 Speaking evaluation 25% in the classroom </a:t>
            </a:r>
          </a:p>
          <a:p>
            <a:r>
              <a:rPr lang="en-US" dirty="0"/>
              <a:t>Please check </a:t>
            </a:r>
            <a:r>
              <a:rPr lang="en-US" dirty="0">
                <a:solidFill>
                  <a:srgbClr val="FF0000"/>
                </a:solidFill>
              </a:rPr>
              <a:t>Week7 Schedule </a:t>
            </a:r>
            <a:r>
              <a:rPr lang="en-US" dirty="0"/>
              <a:t>on LEA for your individual arrival time. Arrive on time according to the Schedule and wait outside the classroom for the teacher’s signal to enter. </a:t>
            </a:r>
          </a:p>
          <a:p>
            <a:pPr marL="114300" indent="0">
              <a:buNone/>
            </a:pPr>
            <a:endParaRPr lang="en-US" dirty="0"/>
          </a:p>
          <a:p>
            <a:pPr marL="114300" indent="0">
              <a:buNone/>
            </a:pPr>
            <a:r>
              <a:rPr lang="en-US" dirty="0"/>
              <a:t>Details:</a:t>
            </a:r>
          </a:p>
          <a:p>
            <a:pPr marL="114300" indent="0">
              <a:buNone/>
            </a:pPr>
            <a:r>
              <a:rPr lang="en-US" dirty="0"/>
              <a:t>Two/three people present orally their researched audio/video clip. Each person will ask </a:t>
            </a:r>
            <a:r>
              <a:rPr lang="en-US" dirty="0">
                <a:solidFill>
                  <a:srgbClr val="FF0000"/>
                </a:solidFill>
              </a:rPr>
              <a:t>at least two questions </a:t>
            </a:r>
            <a:r>
              <a:rPr lang="en-US" dirty="0"/>
              <a:t>(one yes-no and one information question) to the partner. The whole presentation for each person should be </a:t>
            </a:r>
            <a:r>
              <a:rPr lang="en-US" dirty="0">
                <a:solidFill>
                  <a:srgbClr val="FF0000"/>
                </a:solidFill>
              </a:rPr>
              <a:t>approximately 3-5 minutes </a:t>
            </a:r>
            <a:r>
              <a:rPr lang="en-US" dirty="0"/>
              <a:t>long. </a:t>
            </a:r>
          </a:p>
          <a:p>
            <a:pPr marL="114300" indent="0">
              <a:buNone/>
            </a:pPr>
            <a:r>
              <a:rPr lang="en-US" dirty="0"/>
              <a:t>Cue cards may be used to include at most</a:t>
            </a:r>
            <a:r>
              <a:rPr lang="en-US" dirty="0">
                <a:solidFill>
                  <a:srgbClr val="FF0000"/>
                </a:solidFill>
              </a:rPr>
              <a:t> ten words or phrases</a:t>
            </a:r>
            <a:r>
              <a:rPr lang="en-US" dirty="0"/>
              <a:t>. No full sentences are allowed. </a:t>
            </a:r>
          </a:p>
          <a:p>
            <a:pPr marL="114300" indent="0">
              <a:buNone/>
            </a:pPr>
            <a:endParaRPr lang="en-US" dirty="0"/>
          </a:p>
          <a:p>
            <a:pPr marL="114300" indent="0">
              <a:buNone/>
            </a:pPr>
            <a:r>
              <a:rPr lang="en-US" dirty="0"/>
              <a:t>Evaluation Criteria: Same as the summative speaking evaluation</a:t>
            </a:r>
          </a:p>
          <a:p>
            <a:endParaRPr lang="en-CA" dirty="0"/>
          </a:p>
        </p:txBody>
      </p:sp>
      <p:sp>
        <p:nvSpPr>
          <p:cNvPr id="4" name="Slide Number Placeholder 3">
            <a:extLst>
              <a:ext uri="{FF2B5EF4-FFF2-40B4-BE49-F238E27FC236}">
                <a16:creationId xmlns:a16="http://schemas.microsoft.com/office/drawing/2014/main" id="{7A29A36F-D519-21D7-5FAC-742B5677BA7C}"/>
              </a:ext>
            </a:extLst>
          </p:cNvPr>
          <p:cNvSpPr>
            <a:spLocks noGrp="1"/>
          </p:cNvSpPr>
          <p:nvPr>
            <p:ph type="sldNum" sz="quarter" idx="12"/>
          </p:nvPr>
        </p:nvSpPr>
        <p:spPr/>
        <p:txBody>
          <a:bodyPr/>
          <a:lstStyle/>
          <a:p>
            <a:fld id="{6E2D2B3B-882E-40F3-A32F-6DD516915044}" type="slidenum">
              <a:rPr lang="en-US" smtClean="0"/>
              <a:pPr/>
              <a:t>13</a:t>
            </a:fld>
            <a:endParaRPr lang="en-US"/>
          </a:p>
        </p:txBody>
      </p:sp>
    </p:spTree>
    <p:extLst>
      <p:ext uri="{BB962C8B-B14F-4D97-AF65-F5344CB8AC3E}">
        <p14:creationId xmlns:p14="http://schemas.microsoft.com/office/powerpoint/2010/main" val="174888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00D3D-E669-FFA6-35D0-4E58977D4E8E}"/>
              </a:ext>
            </a:extLst>
          </p:cNvPr>
          <p:cNvSpPr>
            <a:spLocks noGrp="1"/>
          </p:cNvSpPr>
          <p:nvPr>
            <p:ph type="title"/>
          </p:nvPr>
        </p:nvSpPr>
        <p:spPr/>
        <p:txBody>
          <a:bodyPr/>
          <a:lstStyle/>
          <a:p>
            <a:r>
              <a:rPr lang="en-US" dirty="0" err="1"/>
              <a:t>Refrences</a:t>
            </a:r>
            <a:r>
              <a:rPr lang="en-US" dirty="0"/>
              <a:t> </a:t>
            </a:r>
          </a:p>
        </p:txBody>
      </p:sp>
      <p:sp>
        <p:nvSpPr>
          <p:cNvPr id="3" name="Content Placeholder 2">
            <a:extLst>
              <a:ext uri="{FF2B5EF4-FFF2-40B4-BE49-F238E27FC236}">
                <a16:creationId xmlns:a16="http://schemas.microsoft.com/office/drawing/2014/main" id="{B8359F1A-281F-0F77-9549-251B7C784C38}"/>
              </a:ext>
            </a:extLst>
          </p:cNvPr>
          <p:cNvSpPr>
            <a:spLocks noGrp="1"/>
          </p:cNvSpPr>
          <p:nvPr>
            <p:ph idx="1"/>
          </p:nvPr>
        </p:nvSpPr>
        <p:spPr/>
        <p:txBody>
          <a:bodyPr/>
          <a:lstStyle/>
          <a:p>
            <a:r>
              <a:rPr lang="en-CA" b="0" i="0" u="none" strike="noStrike" dirty="0">
                <a:solidFill>
                  <a:srgbClr val="000000"/>
                </a:solidFill>
                <a:effectLst/>
              </a:rPr>
              <a:t>"How to Reference in an Essay (3 Simple Tips)." </a:t>
            </a:r>
            <a:r>
              <a:rPr lang="en-CA" b="0" i="1" u="none" strike="noStrike" dirty="0">
                <a:solidFill>
                  <a:srgbClr val="000000"/>
                </a:solidFill>
                <a:effectLst/>
              </a:rPr>
              <a:t>YouTube</a:t>
            </a:r>
            <a:r>
              <a:rPr lang="en-CA" b="0" i="0" u="none" strike="noStrike" dirty="0">
                <a:solidFill>
                  <a:srgbClr val="000000"/>
                </a:solidFill>
                <a:effectLst/>
              </a:rPr>
              <a:t>, uploaded by Helpful Professor, 9 Mar. 2029, </a:t>
            </a:r>
            <a:r>
              <a:rPr lang="en-CA" b="0" i="0" u="none" strike="noStrike" dirty="0">
                <a:solidFill>
                  <a:srgbClr val="000000"/>
                </a:solidFill>
                <a:effectLst/>
                <a:hlinkClick r:id="rId2"/>
              </a:rPr>
              <a:t>www.youtube.com/watch?v=vZIu2pfbN6Q</a:t>
            </a:r>
            <a:r>
              <a:rPr lang="en-CA" b="0" i="0" u="none" strike="noStrike" dirty="0">
                <a:solidFill>
                  <a:srgbClr val="000000"/>
                </a:solidFill>
                <a:effectLst/>
              </a:rPr>
              <a:t>.</a:t>
            </a:r>
          </a:p>
          <a:p>
            <a:endParaRPr lang="en-CA" dirty="0">
              <a:solidFill>
                <a:srgbClr val="000000"/>
              </a:solidFill>
            </a:endParaRPr>
          </a:p>
          <a:p>
            <a:r>
              <a:rPr lang="en-CA" b="0" i="0" u="none" strike="noStrike" dirty="0">
                <a:solidFill>
                  <a:srgbClr val="000000"/>
                </a:solidFill>
                <a:effectLst/>
              </a:rPr>
              <a:t>"Academic Writing: Thesis Statements." </a:t>
            </a:r>
            <a:r>
              <a:rPr lang="en-CA" b="0" i="1" u="none" strike="noStrike" dirty="0">
                <a:solidFill>
                  <a:srgbClr val="000000"/>
                </a:solidFill>
                <a:effectLst/>
              </a:rPr>
              <a:t>YouTube</a:t>
            </a:r>
            <a:r>
              <a:rPr lang="en-CA" b="0" i="0" u="none" strike="noStrike" dirty="0">
                <a:solidFill>
                  <a:srgbClr val="000000"/>
                </a:solidFill>
                <a:effectLst/>
              </a:rPr>
              <a:t>, uploaded by University of Hertfordshire Library, 29 Apr. 2021, </a:t>
            </a:r>
            <a:r>
              <a:rPr lang="en-CA" b="0" i="0" u="none" strike="noStrike" dirty="0">
                <a:solidFill>
                  <a:srgbClr val="000000"/>
                </a:solidFill>
                <a:effectLst/>
                <a:hlinkClick r:id="rId3"/>
              </a:rPr>
              <a:t>www.youtube.com/watch?v=4Jo7-wK-keY</a:t>
            </a:r>
            <a:r>
              <a:rPr lang="en-CA" b="0" i="0" u="none" strike="noStrike" dirty="0">
                <a:solidFill>
                  <a:srgbClr val="000000"/>
                </a:solidFill>
                <a:effectLst/>
              </a:rPr>
              <a:t>.</a:t>
            </a:r>
          </a:p>
          <a:p>
            <a:r>
              <a:rPr lang="en-CA" dirty="0" err="1">
                <a:solidFill>
                  <a:srgbClr val="000000"/>
                </a:solidFill>
              </a:rPr>
              <a:t>Xuelian</a:t>
            </a:r>
            <a:r>
              <a:rPr lang="en-CA">
                <a:solidFill>
                  <a:srgbClr val="000000"/>
                </a:solidFill>
              </a:rPr>
              <a:t> Wei</a:t>
            </a:r>
            <a:endParaRPr lang="en-US" dirty="0"/>
          </a:p>
        </p:txBody>
      </p:sp>
      <p:sp>
        <p:nvSpPr>
          <p:cNvPr id="4" name="Slide Number Placeholder 3">
            <a:extLst>
              <a:ext uri="{FF2B5EF4-FFF2-40B4-BE49-F238E27FC236}">
                <a16:creationId xmlns:a16="http://schemas.microsoft.com/office/drawing/2014/main" id="{C11DBDAE-D90A-CD86-0890-5217CE9F7173}"/>
              </a:ext>
            </a:extLst>
          </p:cNvPr>
          <p:cNvSpPr>
            <a:spLocks noGrp="1"/>
          </p:cNvSpPr>
          <p:nvPr>
            <p:ph type="sldNum" sz="quarter" idx="12"/>
          </p:nvPr>
        </p:nvSpPr>
        <p:spPr/>
        <p:txBody>
          <a:bodyPr/>
          <a:lstStyle/>
          <a:p>
            <a:fld id="{6E2D2B3B-882E-40F3-A32F-6DD516915044}" type="slidenum">
              <a:rPr lang="en-US" smtClean="0"/>
              <a:pPr/>
              <a:t>14</a:t>
            </a:fld>
            <a:endParaRPr lang="en-US"/>
          </a:p>
        </p:txBody>
      </p:sp>
    </p:spTree>
    <p:extLst>
      <p:ext uri="{BB962C8B-B14F-4D97-AF65-F5344CB8AC3E}">
        <p14:creationId xmlns:p14="http://schemas.microsoft.com/office/powerpoint/2010/main" val="17475981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Genesis">
      <a:dk1>
        <a:sysClr val="windowText" lastClr="000000"/>
      </a:dk1>
      <a:lt1>
        <a:sysClr val="window" lastClr="FFFFFF"/>
      </a:lt1>
      <a:dk2>
        <a:srgbClr val="465466"/>
      </a:dk2>
      <a:lt2>
        <a:srgbClr val="BBD7F8"/>
      </a:lt2>
      <a:accent1>
        <a:srgbClr val="80B606"/>
      </a:accent1>
      <a:accent2>
        <a:srgbClr val="E29F1D"/>
      </a:accent2>
      <a:accent3>
        <a:srgbClr val="2397E2"/>
      </a:accent3>
      <a:accent4>
        <a:srgbClr val="35ACA2"/>
      </a:accent4>
      <a:accent5>
        <a:srgbClr val="5430BB"/>
      </a:accent5>
      <a:accent6>
        <a:srgbClr val="8D34E0"/>
      </a:accent6>
      <a:hlink>
        <a:srgbClr val="00B0F0"/>
      </a:hlink>
      <a:folHlink>
        <a:srgbClr val="0070C0"/>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Adjacency.thmx</Template>
  <TotalTime>4262</TotalTime>
  <Words>1198</Words>
  <Application>Microsoft Macintosh PowerPoint</Application>
  <PresentationFormat>On-screen Show (4:3)</PresentationFormat>
  <Paragraphs>131</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Times New Roman</vt:lpstr>
      <vt:lpstr>Adjacency</vt:lpstr>
      <vt:lpstr>604-420  Week 12</vt:lpstr>
      <vt:lpstr>How to write a good thesis statement </vt:lpstr>
      <vt:lpstr>Evidence in Academic Essays</vt:lpstr>
      <vt:lpstr>How to write Citations (references) </vt:lpstr>
      <vt:lpstr>Citations (references) </vt:lpstr>
      <vt:lpstr>Find the mistakes</vt:lpstr>
      <vt:lpstr>Academic Essay</vt:lpstr>
      <vt:lpstr>Extra Credit </vt:lpstr>
      <vt:lpstr>PowerPoint Presentation</vt:lpstr>
      <vt:lpstr>Task III Process Research  </vt:lpstr>
      <vt:lpstr>Task III Word Document </vt:lpstr>
      <vt:lpstr>Task III Outline                          Title of the Essay </vt:lpstr>
      <vt:lpstr>Info on Certificative Evaluation: Task III Speaking  </vt:lpstr>
      <vt:lpstr>Refrences </vt:lpstr>
    </vt:vector>
  </TitlesOfParts>
  <Company>CEGEP André Laurendeau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 </dc:title>
  <dc:creator>Loretta  Gillis</dc:creator>
  <cp:lastModifiedBy>Hala Jawlakh, Ms</cp:lastModifiedBy>
  <cp:revision>197</cp:revision>
  <dcterms:created xsi:type="dcterms:W3CDTF">2013-03-11T22:29:50Z</dcterms:created>
  <dcterms:modified xsi:type="dcterms:W3CDTF">2023-04-21T16:25:21Z</dcterms:modified>
</cp:coreProperties>
</file>