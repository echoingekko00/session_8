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0" r:id="rId1"/>
  </p:sldMasterIdLst>
  <p:notesMasterIdLst>
    <p:notesMasterId r:id="rId5"/>
  </p:notesMasterIdLst>
  <p:sldIdLst>
    <p:sldId id="272" r:id="rId2"/>
    <p:sldId id="301" r:id="rId3"/>
    <p:sldId id="302" r:id="rId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34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B599B-0FD1-4FF0-9745-F0BDA9EF8233}" type="datetimeFigureOut">
              <a:rPr lang="en-CA" smtClean="0"/>
              <a:t>2023-02-23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2303E-2E81-45CA-901A-043B08CA7B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903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96BFE3-1F61-47D7-9F97-9AD3C736D383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5814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A06B7-63D0-45F3-943F-F5BB7F597E75}" type="datetime1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EF221-4509-47A4-9CA5-09C1E0895316}" type="datetime1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4A7-FEC0-4A26-9254-9957E0A841D8}" type="datetime1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012FE-9E33-4C07-9EF1-A55953264CA7}" type="datetime1">
              <a:rPr lang="en-US" smtClean="0"/>
              <a:t>2/23/2023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420B-137F-4AD9-BEA5-C7EEE0946476}" type="datetime1">
              <a:rPr lang="en-US" smtClean="0"/>
              <a:t>2/23/2023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1CC82-A905-4D18-A826-B8257F7DE6BB}" type="datetime1">
              <a:rPr lang="en-US" smtClean="0"/>
              <a:t>2/23/2023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E6481-8003-41B8-8619-622F513CB2E8}" type="datetime1">
              <a:rPr lang="en-US" smtClean="0"/>
              <a:t>2/23/2023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9D30-4DE0-432D-B429-163551F9745E}" type="datetime1">
              <a:rPr lang="en-US" smtClean="0"/>
              <a:t>2/23/2023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E7214-7294-4B2B-ACFF-812A4AAC2203}" type="datetime1">
              <a:rPr lang="en-US" smtClean="0"/>
              <a:t>2/23/2023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111FE-5193-47EF-8BE9-5869585EA94D}" type="datetime1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FF6DA-B5EF-4027-9DDE-4DA729997CF1}" type="datetime1">
              <a:rPr lang="en-US" smtClean="0"/>
              <a:t>2/23/2023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C7A4780-BF45-48FB-8163-CCD37D391062}" type="datetime1">
              <a:rPr lang="en-US" smtClean="0"/>
              <a:t>2/23/2023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896" y="309093"/>
            <a:ext cx="7620000" cy="1004552"/>
          </a:xfrm>
        </p:spPr>
        <p:txBody>
          <a:bodyPr/>
          <a:lstStyle/>
          <a:p>
            <a:r>
              <a:rPr lang="en-US" dirty="0"/>
              <a:t>604-220  Week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896" y="1912512"/>
            <a:ext cx="7218608" cy="5396248"/>
          </a:xfrm>
        </p:spPr>
        <p:txBody>
          <a:bodyPr>
            <a:normAutofit/>
          </a:bodyPr>
          <a:lstStyle/>
          <a:p>
            <a:pPr marL="571500" indent="-457200">
              <a:buFont typeface="Arial" pitchFamily="34" charset="0"/>
              <a:buAutoNum type="arabicPeriod"/>
            </a:pPr>
            <a:r>
              <a:rPr lang="en-US" sz="2400" dirty="0"/>
              <a:t>Attendance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sz="2400" dirty="0"/>
              <a:t>Review of Task 1 Field-specific audio/video research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sz="2400" dirty="0"/>
              <a:t>Details and schedule for the speaking evaluation 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sz="2400" dirty="0"/>
              <a:t>Speaking Exam Descriptors (on LEA)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sz="2400" dirty="0"/>
              <a:t>Simplified Evaluation Grid based on the Descriptors 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sz="2400" dirty="0"/>
              <a:t>Oral presentation strategies: PMP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sz="2400" dirty="0"/>
              <a:t>Review of verb tenses (handout)</a:t>
            </a:r>
          </a:p>
          <a:p>
            <a:pPr marL="571500" indent="-457200">
              <a:buFont typeface="Arial" pitchFamily="34" charset="0"/>
              <a:buAutoNum type="arabicPeriod"/>
            </a:pPr>
            <a:r>
              <a:rPr lang="en-US" sz="2400" dirty="0"/>
              <a:t>Preparation for the summative speaking evaluation  </a:t>
            </a:r>
          </a:p>
          <a:p>
            <a:pPr marL="114300" indent="0">
              <a:buNone/>
            </a:pPr>
            <a:endParaRPr lang="en-US" sz="2400" dirty="0"/>
          </a:p>
          <a:p>
            <a:pPr marL="571500" indent="-457200">
              <a:buAutoNum type="arabicPeriod"/>
            </a:pPr>
            <a:endParaRPr lang="en-US" sz="2400" dirty="0">
              <a:solidFill>
                <a:srgbClr val="FF0000"/>
              </a:solidFill>
            </a:endParaRPr>
          </a:p>
          <a:p>
            <a:pPr marL="114300" indent="0"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78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4D25C-545D-116E-4F16-ED67B6E39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90" y="29939"/>
            <a:ext cx="7735910" cy="871582"/>
          </a:xfrm>
        </p:spPr>
        <p:txBody>
          <a:bodyPr/>
          <a:lstStyle/>
          <a:p>
            <a:r>
              <a:rPr lang="fr-CA" sz="3200" dirty="0" err="1"/>
              <a:t>Summative</a:t>
            </a:r>
            <a:r>
              <a:rPr lang="fr-CA" sz="3200" dirty="0"/>
              <a:t> </a:t>
            </a:r>
            <a:r>
              <a:rPr lang="fr-CA" sz="3200" dirty="0" err="1"/>
              <a:t>Evaluatoin</a:t>
            </a:r>
            <a:r>
              <a:rPr lang="fr-CA" sz="3200" dirty="0"/>
              <a:t> 1 </a:t>
            </a:r>
            <a:r>
              <a:rPr lang="fr-CA" sz="3200" dirty="0" err="1"/>
              <a:t>Task</a:t>
            </a:r>
            <a:r>
              <a:rPr lang="fr-CA" sz="3200" dirty="0"/>
              <a:t> 1 </a:t>
            </a:r>
            <a:r>
              <a:rPr lang="fr-CA" sz="3200" dirty="0" err="1"/>
              <a:t>Speaking</a:t>
            </a:r>
            <a:r>
              <a:rPr lang="fr-CA" sz="3200" dirty="0"/>
              <a:t> 15%</a:t>
            </a:r>
            <a:endParaRPr lang="en-CA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99BEE-7D19-6C2C-C40B-D314E83A6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73" y="1023871"/>
            <a:ext cx="8365650" cy="5804190"/>
          </a:xfrm>
        </p:spPr>
        <p:txBody>
          <a:bodyPr>
            <a:normAutofit/>
          </a:bodyPr>
          <a:lstStyle/>
          <a:p>
            <a:endParaRPr lang="en-US" sz="800" dirty="0"/>
          </a:p>
          <a:p>
            <a:r>
              <a:rPr lang="en-US" sz="2300" dirty="0"/>
              <a:t>This evaluation will begin during normal class hours in the normal classroom in </a:t>
            </a:r>
            <a:r>
              <a:rPr lang="en-US" sz="2300" b="1" dirty="0">
                <a:solidFill>
                  <a:srgbClr val="FF0000"/>
                </a:solidFill>
              </a:rPr>
              <a:t>Week 7.</a:t>
            </a:r>
            <a:r>
              <a:rPr lang="en-US" sz="2300" dirty="0"/>
              <a:t> Please check the Schedule on LEA for your individual arrival time. </a:t>
            </a:r>
          </a:p>
          <a:p>
            <a:r>
              <a:rPr lang="en-US" sz="2300" dirty="0"/>
              <a:t>Instructions: two/three people present orally their researched video clip. At the end of the individual presentation, each person will ask at least </a:t>
            </a:r>
            <a:r>
              <a:rPr lang="en-US" sz="2300" dirty="0">
                <a:solidFill>
                  <a:srgbClr val="FF0000"/>
                </a:solidFill>
              </a:rPr>
              <a:t>two questions </a:t>
            </a:r>
            <a:r>
              <a:rPr lang="en-US" sz="2300" dirty="0"/>
              <a:t>(one yes-no and one information question) to the partner. Each person should speak for approximately </a:t>
            </a:r>
            <a:r>
              <a:rPr lang="en-US" sz="2300" dirty="0">
                <a:solidFill>
                  <a:srgbClr val="FF0000"/>
                </a:solidFill>
              </a:rPr>
              <a:t>three minutes</a:t>
            </a:r>
            <a:r>
              <a:rPr lang="en-US" sz="2300" dirty="0"/>
              <a:t>. </a:t>
            </a:r>
          </a:p>
          <a:p>
            <a:r>
              <a:rPr lang="en-US" sz="2300" dirty="0">
                <a:solidFill>
                  <a:srgbClr val="FF0000"/>
                </a:solidFill>
              </a:rPr>
              <a:t>One</a:t>
            </a:r>
            <a:r>
              <a:rPr lang="en-US" sz="2300" dirty="0"/>
              <a:t> Post-it size (3X3 in) cue card (both-sides) may be used. Notes must be in point format. No full sentences are allowed. </a:t>
            </a:r>
          </a:p>
          <a:p>
            <a:r>
              <a:rPr lang="en-US" sz="2300" dirty="0"/>
              <a:t>Evaluation Criteria (Please see the descriptors on LEA)</a:t>
            </a:r>
            <a:endParaRPr lang="en-CA" sz="2300" dirty="0"/>
          </a:p>
          <a:p>
            <a:r>
              <a:rPr lang="en-CA" sz="2300">
                <a:solidFill>
                  <a:srgbClr val="FF0000"/>
                </a:solidFill>
              </a:rPr>
              <a:t>Speaking Exam Schedule </a:t>
            </a:r>
            <a:r>
              <a:rPr lang="en-CA" sz="2300" dirty="0">
                <a:solidFill>
                  <a:srgbClr val="FF0000"/>
                </a:solidFill>
              </a:rPr>
              <a:t>(On LEA):</a:t>
            </a:r>
            <a:r>
              <a:rPr lang="en-CA" sz="2300" dirty="0"/>
              <a:t> Arrive on time according to the Schedule and wait outside the classroom for the teacher’s signal to enter. </a:t>
            </a:r>
            <a:endParaRPr lang="fr-CA" sz="2300" dirty="0"/>
          </a:p>
          <a:p>
            <a:pPr lvl="1"/>
            <a:endParaRPr lang="en-US" dirty="0"/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B123-8A8B-2C95-95CB-1A0D900F2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305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31D48-E129-4DB0-A4E7-9F2DEF7A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1143000"/>
          </a:xfrm>
        </p:spPr>
        <p:txBody>
          <a:bodyPr/>
          <a:lstStyle/>
          <a:p>
            <a:r>
              <a:rPr lang="fr-CA" sz="4000" dirty="0" err="1"/>
              <a:t>Simplified</a:t>
            </a:r>
            <a:r>
              <a:rPr lang="fr-CA" sz="4000" dirty="0"/>
              <a:t> </a:t>
            </a:r>
            <a:r>
              <a:rPr lang="fr-CA" sz="4000" dirty="0" err="1"/>
              <a:t>Evaluation</a:t>
            </a:r>
            <a:r>
              <a:rPr lang="fr-CA" sz="4000" dirty="0"/>
              <a:t> </a:t>
            </a:r>
            <a:r>
              <a:rPr lang="fr-CA" sz="4000" dirty="0" err="1"/>
              <a:t>Grid</a:t>
            </a:r>
            <a:br>
              <a:rPr lang="fr-CA" sz="4000" dirty="0"/>
            </a:br>
            <a:r>
              <a:rPr lang="fr-CA" sz="4000" dirty="0" err="1"/>
              <a:t>based</a:t>
            </a:r>
            <a:r>
              <a:rPr lang="fr-CA" sz="4000" dirty="0"/>
              <a:t> on the </a:t>
            </a:r>
            <a:r>
              <a:rPr lang="fr-CA" sz="4000" dirty="0" err="1"/>
              <a:t>descriptors</a:t>
            </a:r>
            <a:r>
              <a:rPr lang="fr-CA" sz="4000" dirty="0"/>
              <a:t> 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79A41D4F-B005-4103-9172-D4C5B306C0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9635516"/>
              </p:ext>
            </p:extLst>
          </p:nvPr>
        </p:nvGraphicFramePr>
        <p:xfrm>
          <a:off x="160986" y="1600200"/>
          <a:ext cx="8099095" cy="511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01">
                  <a:extLst>
                    <a:ext uri="{9D8B030D-6E8A-4147-A177-3AD203B41FA5}">
                      <a16:colId xmlns:a16="http://schemas.microsoft.com/office/drawing/2014/main" val="1939626645"/>
                    </a:ext>
                  </a:extLst>
                </a:gridCol>
                <a:gridCol w="695459">
                  <a:extLst>
                    <a:ext uri="{9D8B030D-6E8A-4147-A177-3AD203B41FA5}">
                      <a16:colId xmlns:a16="http://schemas.microsoft.com/office/drawing/2014/main" val="993348612"/>
                    </a:ext>
                  </a:extLst>
                </a:gridCol>
                <a:gridCol w="1642057">
                  <a:extLst>
                    <a:ext uri="{9D8B030D-6E8A-4147-A177-3AD203B41FA5}">
                      <a16:colId xmlns:a16="http://schemas.microsoft.com/office/drawing/2014/main" val="305137232"/>
                    </a:ext>
                  </a:extLst>
                </a:gridCol>
                <a:gridCol w="1571222">
                  <a:extLst>
                    <a:ext uri="{9D8B030D-6E8A-4147-A177-3AD203B41FA5}">
                      <a16:colId xmlns:a16="http://schemas.microsoft.com/office/drawing/2014/main" val="3774925551"/>
                    </a:ext>
                  </a:extLst>
                </a:gridCol>
                <a:gridCol w="1584102">
                  <a:extLst>
                    <a:ext uri="{9D8B030D-6E8A-4147-A177-3AD203B41FA5}">
                      <a16:colId xmlns:a16="http://schemas.microsoft.com/office/drawing/2014/main" val="1154601649"/>
                    </a:ext>
                  </a:extLst>
                </a:gridCol>
                <a:gridCol w="1022154">
                  <a:extLst>
                    <a:ext uri="{9D8B030D-6E8A-4147-A177-3AD203B41FA5}">
                      <a16:colId xmlns:a16="http://schemas.microsoft.com/office/drawing/2014/main" val="109929819"/>
                    </a:ext>
                  </a:extLst>
                </a:gridCol>
              </a:tblGrid>
              <a:tr h="450465">
                <a:tc>
                  <a:txBody>
                    <a:bodyPr/>
                    <a:lstStyle/>
                    <a:p>
                      <a:r>
                        <a:rPr lang="fr-CA" dirty="0" err="1"/>
                        <a:t>Criteria</a:t>
                      </a:r>
                      <a:r>
                        <a:rPr lang="fr-CA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229803"/>
                  </a:ext>
                </a:extLst>
              </a:tr>
              <a:tr h="1443958">
                <a:tc>
                  <a:txBody>
                    <a:bodyPr/>
                    <a:lstStyle/>
                    <a:p>
                      <a:r>
                        <a:rPr lang="fr-CA" b="1" dirty="0" err="1"/>
                        <a:t>Language</a:t>
                      </a:r>
                      <a:endParaRPr lang="fr-CA" b="1" dirty="0"/>
                    </a:p>
                    <a:p>
                      <a:r>
                        <a:rPr lang="fr-CA" dirty="0"/>
                        <a:t>(</a:t>
                      </a:r>
                      <a:r>
                        <a:rPr lang="fr-CA" dirty="0" err="1"/>
                        <a:t>pronunciation</a:t>
                      </a:r>
                      <a:r>
                        <a:rPr lang="fr-CA" dirty="0"/>
                        <a:t>, </a:t>
                      </a:r>
                      <a:r>
                        <a:rPr lang="fr-CA" dirty="0" err="1"/>
                        <a:t>vocabulary</a:t>
                      </a:r>
                      <a:r>
                        <a:rPr lang="fr-CA" dirty="0"/>
                        <a:t>, </a:t>
                      </a:r>
                      <a:r>
                        <a:rPr lang="fr-CA" dirty="0" err="1"/>
                        <a:t>grammar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Very </a:t>
                      </a:r>
                      <a:r>
                        <a:rPr lang="fr-CA" dirty="0" err="1"/>
                        <a:t>weak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Very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27746"/>
                  </a:ext>
                </a:extLst>
              </a:tr>
              <a:tr h="1777179">
                <a:tc>
                  <a:txBody>
                    <a:bodyPr/>
                    <a:lstStyle/>
                    <a:p>
                      <a:r>
                        <a:rPr lang="fr-CA" b="1" dirty="0"/>
                        <a:t>Content</a:t>
                      </a:r>
                    </a:p>
                    <a:p>
                      <a:r>
                        <a:rPr lang="fr-CA" dirty="0"/>
                        <a:t>(</a:t>
                      </a:r>
                      <a:r>
                        <a:rPr lang="fr-CA" dirty="0" err="1"/>
                        <a:t>reliability</a:t>
                      </a:r>
                      <a:r>
                        <a:rPr lang="fr-CA" dirty="0"/>
                        <a:t>,</a:t>
                      </a:r>
                    </a:p>
                    <a:p>
                      <a:r>
                        <a:rPr lang="fr-CA" dirty="0"/>
                        <a:t>relevance,</a:t>
                      </a:r>
                    </a:p>
                    <a:p>
                      <a:r>
                        <a:rPr lang="fr-CA" dirty="0" err="1"/>
                        <a:t>coherence</a:t>
                      </a:r>
                      <a:r>
                        <a:rPr lang="fr-CA" dirty="0"/>
                        <a:t>,</a:t>
                      </a:r>
                    </a:p>
                    <a:p>
                      <a:r>
                        <a:rPr lang="fr-CA" dirty="0"/>
                        <a:t>support)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Very </a:t>
                      </a:r>
                      <a:r>
                        <a:rPr lang="fr-CA" dirty="0" err="1"/>
                        <a:t>weak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Very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Excellent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482156"/>
                  </a:ext>
                </a:extLst>
              </a:tr>
              <a:tr h="1443958">
                <a:tc>
                  <a:txBody>
                    <a:bodyPr/>
                    <a:lstStyle/>
                    <a:p>
                      <a:r>
                        <a:rPr lang="fr-CA" b="1" dirty="0"/>
                        <a:t>Interaction</a:t>
                      </a:r>
                    </a:p>
                    <a:p>
                      <a:r>
                        <a:rPr lang="fr-CA" dirty="0"/>
                        <a:t>(</a:t>
                      </a:r>
                      <a:r>
                        <a:rPr lang="fr-CA" dirty="0" err="1"/>
                        <a:t>fluency</a:t>
                      </a:r>
                      <a:r>
                        <a:rPr lang="fr-CA" dirty="0"/>
                        <a:t>,</a:t>
                      </a:r>
                    </a:p>
                    <a:p>
                      <a:r>
                        <a:rPr lang="fr-CA" dirty="0" err="1"/>
                        <a:t>effectiveness</a:t>
                      </a:r>
                      <a:r>
                        <a:rPr lang="fr-CA" dirty="0"/>
                        <a:t>,</a:t>
                      </a:r>
                    </a:p>
                    <a:p>
                      <a:r>
                        <a:rPr lang="fr-CA" dirty="0" err="1"/>
                        <a:t>manner</a:t>
                      </a:r>
                      <a:r>
                        <a:rPr lang="fr-CA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Very </a:t>
                      </a:r>
                      <a:r>
                        <a:rPr lang="fr-CA" dirty="0" err="1"/>
                        <a:t>weak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Very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Excellent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961722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E7059E-7C76-4F7B-93E8-1D15EB03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762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Genesis">
      <a:dk1>
        <a:sysClr val="windowText" lastClr="000000"/>
      </a:dk1>
      <a:lt1>
        <a:sysClr val="window" lastClr="FFFFFF"/>
      </a:lt1>
      <a:dk2>
        <a:srgbClr val="465466"/>
      </a:dk2>
      <a:lt2>
        <a:srgbClr val="BBD7F8"/>
      </a:lt2>
      <a:accent1>
        <a:srgbClr val="80B606"/>
      </a:accent1>
      <a:accent2>
        <a:srgbClr val="E29F1D"/>
      </a:accent2>
      <a:accent3>
        <a:srgbClr val="2397E2"/>
      </a:accent3>
      <a:accent4>
        <a:srgbClr val="35ACA2"/>
      </a:accent4>
      <a:accent5>
        <a:srgbClr val="5430BB"/>
      </a:accent5>
      <a:accent6>
        <a:srgbClr val="8D34E0"/>
      </a:accent6>
      <a:hlink>
        <a:srgbClr val="00B0F0"/>
      </a:hlink>
      <a:folHlink>
        <a:srgbClr val="0070C0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Adjacency.thmx</Template>
  <TotalTime>1452</TotalTime>
  <Words>268</Words>
  <Application>Microsoft Office PowerPoint</Application>
  <PresentationFormat>On-screen Show (4:3)</PresentationFormat>
  <Paragraphs>58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Adjacency</vt:lpstr>
      <vt:lpstr>604-220  Week 6</vt:lpstr>
      <vt:lpstr>Summative Evaluatoin 1 Task 1 Speaking 15%</vt:lpstr>
      <vt:lpstr>Simplified Evaluation Grid based on the descriptors </vt:lpstr>
    </vt:vector>
  </TitlesOfParts>
  <Company>CEGEP André Laurendeau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</dc:title>
  <dc:creator>Loretta  Gillis</dc:creator>
  <cp:lastModifiedBy>Xuelian Wei</cp:lastModifiedBy>
  <cp:revision>182</cp:revision>
  <dcterms:created xsi:type="dcterms:W3CDTF">2013-03-11T22:29:50Z</dcterms:created>
  <dcterms:modified xsi:type="dcterms:W3CDTF">2023-02-23T13:37:48Z</dcterms:modified>
</cp:coreProperties>
</file>