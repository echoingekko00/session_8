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0" r:id="rId1"/>
    <p:sldMasterId id="2147483962" r:id="rId2"/>
  </p:sldMasterIdLst>
  <p:notesMasterIdLst>
    <p:notesMasterId r:id="rId19"/>
  </p:notesMasterIdLst>
  <p:sldIdLst>
    <p:sldId id="263" r:id="rId3"/>
    <p:sldId id="288" r:id="rId4"/>
    <p:sldId id="266" r:id="rId5"/>
    <p:sldId id="289" r:id="rId6"/>
    <p:sldId id="285" r:id="rId7"/>
    <p:sldId id="259" r:id="rId8"/>
    <p:sldId id="292" r:id="rId9"/>
    <p:sldId id="260" r:id="rId10"/>
    <p:sldId id="271" r:id="rId11"/>
    <p:sldId id="282" r:id="rId12"/>
    <p:sldId id="273" r:id="rId13"/>
    <p:sldId id="290" r:id="rId14"/>
    <p:sldId id="276" r:id="rId15"/>
    <p:sldId id="283" r:id="rId16"/>
    <p:sldId id="291" r:id="rId17"/>
    <p:sldId id="280" r:id="rId1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289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023A6-C990-43B0-A8C9-C67F81519B96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CD0BA-306A-48CA-B04A-3F6DE2C6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053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usan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210F9B-7D77-41E7-9A68-7183E06A5F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07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628C-39AB-41D9-B5A8-21524A839E21}" type="datetime1">
              <a:rPr lang="en-US" smtClean="0"/>
              <a:t>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1F8D-516E-4C8B-8072-97B75EB7C23A}" type="datetime1">
              <a:rPr lang="en-US" smtClean="0"/>
              <a:t>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01054-654F-486D-AE79-9DD93C2EAF8B}" type="datetime1">
              <a:rPr lang="en-US" smtClean="0"/>
              <a:t>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9D24-9A1A-4FE4-BF00-427AF42CAC9F}" type="datetime1">
              <a:rPr lang="en-US" smtClean="0"/>
              <a:t>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1D2D9-1FAB-4C08-B0FF-4C95C6E4EA43}" type="datetime1">
              <a:rPr lang="en-US" smtClean="0"/>
              <a:t>2/1/2023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0ED2-AB69-4598-BF52-FFD2B75BBD0B}" type="datetime1">
              <a:rPr lang="en-US" smtClean="0"/>
              <a:t>2/1/2023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5F114-DF7F-4FD7-943B-2B3DB0910B11}" type="datetime1">
              <a:rPr lang="en-US" smtClean="0"/>
              <a:t>2/1/2023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0B5E-4E5F-46D9-A17C-94FC45687282}" type="datetime1">
              <a:rPr lang="en-US" smtClean="0"/>
              <a:t>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4986-3212-4D17-B958-0C40AB181941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09CA3-6060-4F6B-90F7-A7BA9412768A}" type="datetime1">
              <a:rPr lang="en-US" smtClean="0"/>
              <a:t>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D04C-8E4D-48C7-8BE7-D43CE82CEEAF}" type="datetime1">
              <a:rPr lang="en-US" smtClean="0"/>
              <a:t>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B1B43-B9B2-43D3-A18D-76A4310FD455}" type="datetime1">
              <a:rPr lang="en-US" smtClean="0">
                <a:solidFill>
                  <a:srgbClr val="ACCBF9"/>
                </a:solidFill>
              </a:rPr>
              <a:t>2/1/2023</a:t>
            </a:fld>
            <a:endParaRPr lang="en-US">
              <a:solidFill>
                <a:srgbClr val="ACCBF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ACCBF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66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B333-BCC8-4CD2-860F-EF1EF844CEBE}" type="datetime1">
              <a:rPr lang="en-US" smtClean="0">
                <a:solidFill>
                  <a:srgbClr val="ACCBF9"/>
                </a:solidFill>
              </a:rPr>
              <a:t>2/1/2023</a:t>
            </a:fld>
            <a:endParaRPr lang="en-US">
              <a:solidFill>
                <a:srgbClr val="ACCBF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ACCBF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10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34435-03A3-46EA-8332-2C75011CD901}" type="datetime1">
              <a:rPr lang="en-US" smtClean="0">
                <a:solidFill>
                  <a:srgbClr val="ACCBF9"/>
                </a:solidFill>
              </a:rPr>
              <a:t>2/1/2023</a:t>
            </a:fld>
            <a:endParaRPr lang="en-US">
              <a:solidFill>
                <a:srgbClr val="ACCBF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ACCBF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83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15A7-77FF-489E-BF8B-D5E53BC8E9C5}" type="datetime1">
              <a:rPr lang="en-US" smtClean="0">
                <a:solidFill>
                  <a:srgbClr val="ACCBF9"/>
                </a:solidFill>
              </a:rPr>
              <a:t>2/1/2023</a:t>
            </a:fld>
            <a:endParaRPr lang="en-US">
              <a:solidFill>
                <a:srgbClr val="ACCBF9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ACCBF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30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608-7373-4C7C-9945-19A45290A012}" type="datetime1">
              <a:rPr lang="en-US" smtClean="0">
                <a:solidFill>
                  <a:srgbClr val="ACCBF9"/>
                </a:solidFill>
              </a:rPr>
              <a:t>2/1/2023</a:t>
            </a:fld>
            <a:endParaRPr lang="en-US">
              <a:solidFill>
                <a:srgbClr val="ACCBF9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ACCBF9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56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975E4-E832-400E-A5E0-096F10DB2D71}" type="datetime1">
              <a:rPr lang="en-US" smtClean="0">
                <a:solidFill>
                  <a:srgbClr val="ACCBF9"/>
                </a:solidFill>
              </a:rPr>
              <a:t>2/1/2023</a:t>
            </a:fld>
            <a:endParaRPr lang="en-US">
              <a:solidFill>
                <a:srgbClr val="ACCBF9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ACCBF9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716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B3E29-3AB0-4C5A-8AE3-231260CDF75A}" type="datetime1">
              <a:rPr lang="en-US" smtClean="0">
                <a:solidFill>
                  <a:srgbClr val="ACCBF9"/>
                </a:solidFill>
              </a:rPr>
              <a:t>2/1/2023</a:t>
            </a:fld>
            <a:endParaRPr lang="en-US">
              <a:solidFill>
                <a:srgbClr val="ACCBF9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ACCBF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358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1CB1-6992-429D-9FBB-AEFD3BB65FED}" type="datetime1">
              <a:rPr lang="en-US" smtClean="0">
                <a:solidFill>
                  <a:srgbClr val="ACCBF9"/>
                </a:solidFill>
              </a:rPr>
              <a:t>2/1/2023</a:t>
            </a:fld>
            <a:endParaRPr lang="en-US">
              <a:solidFill>
                <a:srgbClr val="ACCBF9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ACCBF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3827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F5C57-4906-4ECD-81B1-8CD5A3422F6F}" type="datetime1">
              <a:rPr lang="en-US" smtClean="0">
                <a:solidFill>
                  <a:srgbClr val="ACCBF9"/>
                </a:solidFill>
              </a:rPr>
              <a:t>2/1/2023</a:t>
            </a:fld>
            <a:endParaRPr lang="en-US" dirty="0">
              <a:solidFill>
                <a:srgbClr val="ACCBF9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srgbClr val="ACCB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8048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5E6F7-5A3F-449B-B240-305BD6D240CD}" type="datetime1">
              <a:rPr lang="en-US" smtClean="0">
                <a:solidFill>
                  <a:srgbClr val="ACCBF9"/>
                </a:solidFill>
              </a:rPr>
              <a:t>2/1/2023</a:t>
            </a:fld>
            <a:endParaRPr lang="en-US">
              <a:solidFill>
                <a:srgbClr val="ACCBF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ACCBF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73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E15D6-FCA0-4DFC-BF55-6F95FEF03A5E}" type="datetime1">
              <a:rPr lang="en-US" smtClean="0">
                <a:solidFill>
                  <a:srgbClr val="ACCBF9"/>
                </a:solidFill>
              </a:rPr>
              <a:t>2/1/2023</a:t>
            </a:fld>
            <a:endParaRPr lang="en-US">
              <a:solidFill>
                <a:srgbClr val="ACCBF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ACCBF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7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3DA36B8-1C32-40CD-8A9B-87A25CE9949F}" type="datetime1">
              <a:rPr lang="en-US" smtClean="0"/>
              <a:t>2/1/2023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>
              <a:solidFill>
                <a:srgbClr val="ACCBF9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8DE68382-86AF-492A-93E8-AB142C637CE8}" type="datetime1">
              <a:rPr lang="en-US" smtClean="0">
                <a:solidFill>
                  <a:srgbClr val="ACCBF9"/>
                </a:solidFill>
              </a:rPr>
              <a:t>2/1/2023</a:t>
            </a:fld>
            <a:endParaRPr lang="en-US" dirty="0">
              <a:solidFill>
                <a:srgbClr val="ACCB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LGb4dT3vBA&amp;list=PLd9hCvj34W5gxnTUV-wHERehpInsTJgq7&amp;index=4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ted.com/talks/conor_heffernan_the_treadmill_s_dark_and_twisted_past?language=en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eb2.uvcs.uvic.ca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MA3NFtLc22k" TargetMode="External"/><Relationship Id="rId5" Type="http://schemas.openxmlformats.org/officeDocument/2006/relationships/hyperlink" Target="https://www.youtube.com/watch?v=Dsd0eFgU0m8" TargetMode="External"/><Relationship Id="rId4" Type="http://schemas.openxmlformats.org/officeDocument/2006/relationships/hyperlink" Target="http://godfather.wikia.com/wiki/Fredo_Corleo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604-220 Week3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457200">
              <a:buAutoNum type="arabicPeriod"/>
            </a:pPr>
            <a:r>
              <a:rPr lang="en-US" dirty="0"/>
              <a:t>Attendance</a:t>
            </a:r>
          </a:p>
          <a:p>
            <a:pPr marL="571500" indent="-457200">
              <a:buAutoNum type="arabicPeriod"/>
            </a:pPr>
            <a:r>
              <a:rPr lang="en-US" dirty="0"/>
              <a:t>Review of </a:t>
            </a:r>
            <a:r>
              <a:rPr lang="en-CA" dirty="0"/>
              <a:t>/s/ and /z/ sounds </a:t>
            </a:r>
          </a:p>
          <a:p>
            <a:pPr marL="571500" indent="-457200">
              <a:buAutoNum type="arabicPeriod"/>
            </a:pPr>
            <a:r>
              <a:rPr lang="en-US" dirty="0"/>
              <a:t>Pronouncing –d and –ed endings 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dirty="0"/>
              <a:t>Past tenses review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dirty="0"/>
              <a:t>List of irregular verbs </a:t>
            </a:r>
          </a:p>
          <a:p>
            <a:pPr marL="571500" indent="-457200">
              <a:buAutoNum type="arabicPeriod"/>
            </a:pPr>
            <a:r>
              <a:rPr lang="en-US" dirty="0"/>
              <a:t>The Alibi game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571500" indent="-457200">
              <a:buAutoNum type="arabicPeriod"/>
            </a:pPr>
            <a:endParaRPr lang="en-US" dirty="0"/>
          </a:p>
          <a:p>
            <a:pPr marL="571500" indent="-457200">
              <a:buAutoNum type="arabicPeriod"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83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90C8E-652E-5DB5-AE5D-BF4BC2EA1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59" y="59565"/>
            <a:ext cx="7620000" cy="635894"/>
          </a:xfrm>
        </p:spPr>
        <p:txBody>
          <a:bodyPr/>
          <a:lstStyle/>
          <a:p>
            <a:r>
              <a:rPr lang="en-CA" dirty="0"/>
              <a:t>Review of /s/ and /z/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8C14BF0-B8CD-C0A5-478B-CDA128A6C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72" y="1109699"/>
            <a:ext cx="8352772" cy="459775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839F9-A32B-B220-5CB0-BBDC16DE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150F6-8CB1-16F5-550E-384EA179B58C}"/>
              </a:ext>
            </a:extLst>
          </p:cNvPr>
          <p:cNvSpPr txBox="1"/>
          <p:nvPr/>
        </p:nvSpPr>
        <p:spPr>
          <a:xfrm>
            <a:off x="63573" y="6017235"/>
            <a:ext cx="88550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3"/>
              </a:rPr>
              <a:t>https://www.youtube.com/watch?v=zLGb4dT3vBA&amp;list=PLd9hCvj34W5gxnTUV-wHERehpInsTJgq7&amp;index=45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4085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276" y="0"/>
            <a:ext cx="7620000" cy="1143000"/>
          </a:xfrm>
        </p:spPr>
        <p:txBody>
          <a:bodyPr/>
          <a:lstStyle/>
          <a:p>
            <a:r>
              <a:rPr lang="en-CA" dirty="0"/>
              <a:t>Pronouncing –d, –</a:t>
            </a:r>
            <a:r>
              <a:rPr lang="en-CA" dirty="0" err="1"/>
              <a:t>ed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8531788" cy="57150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CA" sz="2400" dirty="0"/>
              <a:t>Choose the correct pronunciation for the endings:  /t/,  /d/, /id/</a:t>
            </a:r>
          </a:p>
          <a:p>
            <a:pPr marL="571500" indent="-457200">
              <a:buAutoNum type="arabicPeriod"/>
            </a:pPr>
            <a:r>
              <a:rPr lang="en-CA" sz="2800" dirty="0"/>
              <a:t>wash</a:t>
            </a:r>
            <a:r>
              <a:rPr lang="en-CA" sz="2800" dirty="0">
                <a:solidFill>
                  <a:srgbClr val="FF0000"/>
                </a:solidFill>
              </a:rPr>
              <a:t>ed</a:t>
            </a:r>
          </a:p>
          <a:p>
            <a:pPr marL="571500" indent="-457200">
              <a:buAutoNum type="arabicPeriod"/>
            </a:pPr>
            <a:r>
              <a:rPr lang="en-CA" sz="2800" dirty="0"/>
              <a:t>explain</a:t>
            </a:r>
            <a:r>
              <a:rPr lang="en-CA" sz="2800" dirty="0">
                <a:solidFill>
                  <a:srgbClr val="FF0000"/>
                </a:solidFill>
              </a:rPr>
              <a:t>ed</a:t>
            </a:r>
          </a:p>
          <a:p>
            <a:pPr marL="571500" indent="-457200">
              <a:buAutoNum type="arabicPeriod"/>
            </a:pPr>
            <a:r>
              <a:rPr lang="en-CA" sz="2800" dirty="0"/>
              <a:t>want</a:t>
            </a:r>
            <a:r>
              <a:rPr lang="en-CA" sz="2800" dirty="0">
                <a:solidFill>
                  <a:srgbClr val="FF0000"/>
                </a:solidFill>
              </a:rPr>
              <a:t>ed</a:t>
            </a:r>
          </a:p>
          <a:p>
            <a:pPr marL="571500" indent="-457200">
              <a:buAutoNum type="arabicPeriod"/>
            </a:pPr>
            <a:r>
              <a:rPr lang="en-CA" sz="2800" dirty="0"/>
              <a:t>pass</a:t>
            </a:r>
            <a:r>
              <a:rPr lang="en-CA" sz="2800" dirty="0">
                <a:solidFill>
                  <a:srgbClr val="FF0000"/>
                </a:solidFill>
              </a:rPr>
              <a:t>ed</a:t>
            </a:r>
          </a:p>
          <a:p>
            <a:pPr marL="571500" indent="-457200">
              <a:buAutoNum type="arabicPeriod"/>
            </a:pPr>
            <a:r>
              <a:rPr lang="en-CA" sz="2800" dirty="0"/>
              <a:t>prepare</a:t>
            </a:r>
            <a:r>
              <a:rPr lang="en-CA" sz="2800" dirty="0">
                <a:solidFill>
                  <a:srgbClr val="FF0000"/>
                </a:solidFill>
              </a:rPr>
              <a:t>d</a:t>
            </a:r>
          </a:p>
          <a:p>
            <a:pPr marL="571500" indent="-457200">
              <a:buAutoNum type="arabicPeriod"/>
            </a:pPr>
            <a:r>
              <a:rPr lang="en-CA" sz="2800" dirty="0"/>
              <a:t>need</a:t>
            </a:r>
            <a:r>
              <a:rPr lang="en-CA" sz="2800" dirty="0">
                <a:solidFill>
                  <a:srgbClr val="FF0000"/>
                </a:solidFill>
              </a:rPr>
              <a:t>ed</a:t>
            </a:r>
          </a:p>
          <a:p>
            <a:pPr marL="571500" indent="-457200">
              <a:buAutoNum type="arabicPeriod"/>
            </a:pPr>
            <a:r>
              <a:rPr lang="en-CA" sz="2800" dirty="0"/>
              <a:t>laugh</a:t>
            </a:r>
            <a:r>
              <a:rPr lang="en-CA" sz="2800" dirty="0">
                <a:solidFill>
                  <a:srgbClr val="FF0000"/>
                </a:solidFill>
              </a:rPr>
              <a:t>ed</a:t>
            </a:r>
          </a:p>
          <a:p>
            <a:pPr marL="571500" indent="-457200">
              <a:buAutoNum type="arabicPeriod"/>
            </a:pPr>
            <a:r>
              <a:rPr lang="en-CA" sz="2800" dirty="0"/>
              <a:t>arrange</a:t>
            </a:r>
            <a:r>
              <a:rPr lang="en-CA" sz="2800" dirty="0">
                <a:solidFill>
                  <a:srgbClr val="FF0000"/>
                </a:solidFill>
              </a:rPr>
              <a:t>d</a:t>
            </a:r>
          </a:p>
          <a:p>
            <a:pPr marL="571500" indent="-457200">
              <a:buAutoNum type="arabicPeriod"/>
            </a:pPr>
            <a:r>
              <a:rPr lang="en-CA" sz="2800" dirty="0"/>
              <a:t>ask</a:t>
            </a:r>
            <a:r>
              <a:rPr lang="en-CA" sz="2800" dirty="0">
                <a:solidFill>
                  <a:srgbClr val="FF0000"/>
                </a:solidFill>
              </a:rPr>
              <a:t>ed</a:t>
            </a:r>
          </a:p>
          <a:p>
            <a:pPr marL="571500" indent="-457200">
              <a:buAutoNum type="arabicPeriod"/>
            </a:pPr>
            <a:r>
              <a:rPr lang="en-CA" sz="2800" dirty="0"/>
              <a:t>live</a:t>
            </a:r>
            <a:r>
              <a:rPr lang="en-CA" sz="2800" dirty="0">
                <a:solidFill>
                  <a:srgbClr val="FF0000"/>
                </a:solidFill>
              </a:rPr>
              <a:t>d </a:t>
            </a:r>
          </a:p>
          <a:p>
            <a:pPr marL="571500" indent="-457200">
              <a:buAutoNum type="arabicPeriod"/>
            </a:pPr>
            <a:endParaRPr lang="en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59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Text&#10;&#10;Description automatically generated with medium confidence">
            <a:extLst>
              <a:ext uri="{FF2B5EF4-FFF2-40B4-BE49-F238E27FC236}">
                <a16:creationId xmlns:a16="http://schemas.microsoft.com/office/drawing/2014/main" id="{4EEA9DB2-30BF-3C09-AFC7-651190A61B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576" r="19090" b="-1"/>
          <a:stretch/>
        </p:blipFill>
        <p:spPr>
          <a:xfrm>
            <a:off x="20" y="695459"/>
            <a:ext cx="9143980" cy="6162541"/>
          </a:xfr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5CF7A070-DA9F-9CDF-AF97-FEC0F642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6E2D2B3B-882E-40F3-A32F-6DD51691504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1C6F8-F126-A39A-40F3-269780C46BF6}"/>
              </a:ext>
            </a:extLst>
          </p:cNvPr>
          <p:cNvSpPr txBox="1"/>
          <p:nvPr/>
        </p:nvSpPr>
        <p:spPr>
          <a:xfrm>
            <a:off x="257578" y="93947"/>
            <a:ext cx="7862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dirty="0"/>
              <a:t>https://www.youtube.com/watch?v=Dsd0eFgU0m8</a:t>
            </a:r>
          </a:p>
        </p:txBody>
      </p:sp>
    </p:spTree>
    <p:extLst>
      <p:ext uri="{BB962C8B-B14F-4D97-AF65-F5344CB8AC3E}">
        <p14:creationId xmlns:p14="http://schemas.microsoft.com/office/powerpoint/2010/main" val="3848311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55697"/>
            <a:ext cx="7946265" cy="942416"/>
          </a:xfrm>
        </p:spPr>
        <p:txBody>
          <a:bodyPr/>
          <a:lstStyle/>
          <a:p>
            <a:r>
              <a:rPr lang="en-US" sz="3600" dirty="0"/>
              <a:t>Pronunciation rules about –d, -</a:t>
            </a:r>
            <a:r>
              <a:rPr lang="en-US" sz="3600" dirty="0" err="1"/>
              <a:t>ed</a:t>
            </a:r>
            <a:r>
              <a:rPr lang="en-US" sz="36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744" y="1178417"/>
            <a:ext cx="8216720" cy="5531476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800" dirty="0"/>
              <a:t>1.</a:t>
            </a:r>
            <a:r>
              <a:rPr lang="en-US" sz="2800" dirty="0">
                <a:solidFill>
                  <a:srgbClr val="FF0000"/>
                </a:solidFill>
              </a:rPr>
              <a:t> /t/ </a:t>
            </a:r>
            <a:r>
              <a:rPr lang="en-US" sz="2800" dirty="0"/>
              <a:t>Verbs ending with  -</a:t>
            </a:r>
            <a:r>
              <a:rPr lang="en-US" sz="2800" dirty="0" err="1"/>
              <a:t>sh</a:t>
            </a:r>
            <a:r>
              <a:rPr lang="en-US" sz="2800" dirty="0"/>
              <a:t>, -</a:t>
            </a:r>
            <a:r>
              <a:rPr lang="en-US" sz="2800" dirty="0" err="1"/>
              <a:t>ch</a:t>
            </a:r>
            <a:r>
              <a:rPr lang="en-US" sz="2800" dirty="0"/>
              <a:t>, /s/,/p/,/ k/,/f/ 	Example: wa</a:t>
            </a:r>
            <a:r>
              <a:rPr lang="en-US" sz="2800" dirty="0">
                <a:highlight>
                  <a:srgbClr val="FFFF00"/>
                </a:highlight>
              </a:rPr>
              <a:t>sh</a:t>
            </a:r>
            <a:r>
              <a:rPr lang="en-US" sz="2800" dirty="0"/>
              <a:t>ed </a:t>
            </a:r>
          </a:p>
          <a:p>
            <a:pPr marL="114300" indent="0">
              <a:buNone/>
            </a:pPr>
            <a:r>
              <a:rPr lang="en-US" sz="2800" dirty="0">
                <a:solidFill>
                  <a:srgbClr val="002060"/>
                </a:solidFill>
              </a:rPr>
              <a:t>Your examples:__________________________</a:t>
            </a:r>
            <a:endParaRPr lang="en-US" sz="2800" dirty="0"/>
          </a:p>
          <a:p>
            <a:pPr marL="114300" indent="0">
              <a:buNone/>
            </a:pPr>
            <a:r>
              <a:rPr lang="en-US" sz="2800" dirty="0"/>
              <a:t>2. </a:t>
            </a:r>
            <a:r>
              <a:rPr lang="en-US" sz="2800" dirty="0">
                <a:solidFill>
                  <a:srgbClr val="FF0000"/>
                </a:solidFill>
              </a:rPr>
              <a:t>/id/  </a:t>
            </a:r>
            <a:r>
              <a:rPr lang="en-US" sz="2800" dirty="0"/>
              <a:t>Verbs ending with  /t/,/d/ </a:t>
            </a:r>
          </a:p>
          <a:p>
            <a:pPr marL="114300" indent="0">
              <a:buNone/>
            </a:pPr>
            <a:r>
              <a:rPr lang="en-US" sz="2800" dirty="0"/>
              <a:t>	Example: wan</a:t>
            </a:r>
            <a:r>
              <a:rPr lang="en-US" sz="2800" dirty="0">
                <a:highlight>
                  <a:srgbClr val="FFFF00"/>
                </a:highlight>
              </a:rPr>
              <a:t>t</a:t>
            </a:r>
            <a:r>
              <a:rPr lang="en-US" sz="2800" dirty="0"/>
              <a:t>ed</a:t>
            </a:r>
          </a:p>
          <a:p>
            <a:pPr marL="114300" indent="0">
              <a:buNone/>
            </a:pPr>
            <a:r>
              <a:rPr lang="en-US" sz="2800" dirty="0">
                <a:solidFill>
                  <a:srgbClr val="002060"/>
                </a:solidFill>
              </a:rPr>
              <a:t>Your examples:___________________________</a:t>
            </a:r>
            <a:endParaRPr lang="en-US" sz="2800" dirty="0"/>
          </a:p>
          <a:p>
            <a:pPr marL="114300" indent="0">
              <a:buNone/>
            </a:pPr>
            <a:r>
              <a:rPr lang="en-US" sz="2800" dirty="0"/>
              <a:t>3. </a:t>
            </a:r>
            <a:r>
              <a:rPr lang="en-US" sz="2800" dirty="0">
                <a:solidFill>
                  <a:srgbClr val="FF0000"/>
                </a:solidFill>
              </a:rPr>
              <a:t>/d/  </a:t>
            </a:r>
            <a:r>
              <a:rPr lang="en-US" sz="2800" dirty="0"/>
              <a:t>Verbs ending with all other sounds </a:t>
            </a:r>
          </a:p>
          <a:p>
            <a:pPr marL="114300" indent="0">
              <a:buNone/>
            </a:pPr>
            <a:r>
              <a:rPr lang="en-US" sz="2800" dirty="0"/>
              <a:t>	Example: explai</a:t>
            </a:r>
            <a:r>
              <a:rPr lang="en-US" sz="2800" dirty="0">
                <a:highlight>
                  <a:srgbClr val="FFFF00"/>
                </a:highlight>
              </a:rPr>
              <a:t>n</a:t>
            </a:r>
            <a:r>
              <a:rPr lang="en-US" sz="2800" dirty="0"/>
              <a:t>ed</a:t>
            </a:r>
          </a:p>
          <a:p>
            <a:pPr marL="114300" indent="0">
              <a:buNone/>
            </a:pPr>
            <a:r>
              <a:rPr lang="en-US" sz="2800" dirty="0">
                <a:solidFill>
                  <a:srgbClr val="002060"/>
                </a:solidFill>
              </a:rPr>
              <a:t>Your examples:____________________________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1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659080"/>
          </a:xfrm>
        </p:spPr>
        <p:txBody>
          <a:bodyPr/>
          <a:lstStyle/>
          <a:p>
            <a:r>
              <a:rPr lang="en-US" dirty="0"/>
              <a:t>Pronunciation practice:  -ed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10" y="998113"/>
            <a:ext cx="8223160" cy="540268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800" dirty="0"/>
              <a:t>1. They witnessed a robbery last night.</a:t>
            </a:r>
          </a:p>
          <a:p>
            <a:pPr marL="114300" indent="0">
              <a:buNone/>
            </a:pPr>
            <a:r>
              <a:rPr lang="en-US" sz="2800" dirty="0"/>
              <a:t>2. Jackie Robinson played for the Montreal Royals.</a:t>
            </a:r>
          </a:p>
          <a:p>
            <a:pPr marL="114300" indent="0">
              <a:buNone/>
            </a:pPr>
            <a:r>
              <a:rPr lang="en-US" sz="2800" dirty="0"/>
              <a:t>3. Johnathan lived in New York with his girlfriend.</a:t>
            </a:r>
          </a:p>
          <a:p>
            <a:pPr marL="114300" indent="0">
              <a:buNone/>
            </a:pPr>
            <a:r>
              <a:rPr lang="en-US" sz="2800" dirty="0"/>
              <a:t>4. She borrowed money to open a restaurant. </a:t>
            </a:r>
          </a:p>
          <a:p>
            <a:pPr marL="114300" indent="0">
              <a:buNone/>
            </a:pPr>
            <a:r>
              <a:rPr lang="en-US" sz="2800" dirty="0"/>
              <a:t>5. Celine Dion linked a perfume with her name.</a:t>
            </a:r>
          </a:p>
          <a:p>
            <a:pPr marL="114300" indent="0">
              <a:buNone/>
            </a:pPr>
            <a:r>
              <a:rPr lang="en-US" sz="2800" dirty="0"/>
              <a:t>6. They wanted to find good jobs but couldn’t.</a:t>
            </a:r>
          </a:p>
          <a:p>
            <a:pPr marL="114300" indent="0">
              <a:buNone/>
            </a:pPr>
            <a:r>
              <a:rPr lang="en-US" sz="2800" dirty="0"/>
              <a:t>7. The basketball game lasted for three hours.</a:t>
            </a:r>
          </a:p>
          <a:p>
            <a:pPr marL="114300" indent="0">
              <a:buNone/>
            </a:pPr>
            <a:r>
              <a:rPr lang="en-US" sz="2800" dirty="0"/>
              <a:t>8. He changed his name when he was 18. </a:t>
            </a:r>
          </a:p>
          <a:p>
            <a:pPr marL="114300" indent="0">
              <a:buNone/>
            </a:pPr>
            <a:r>
              <a:rPr lang="en-US" sz="2800" dirty="0"/>
              <a:t>9. My parents walked in the woods after dinner. </a:t>
            </a:r>
          </a:p>
          <a:p>
            <a:pPr marL="114300" indent="0">
              <a:buNone/>
            </a:pPr>
            <a:r>
              <a:rPr lang="en-US" sz="2800" dirty="0"/>
              <a:t>10. Mary finally finished her big project. </a:t>
            </a:r>
          </a:p>
          <a:p>
            <a:pPr marL="114300" indent="0">
              <a:buNone/>
            </a:pPr>
            <a:endParaRPr lang="en-US" sz="2800" dirty="0"/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02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99221-B04B-9D10-6B83-F0D8D43B5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07" y="62137"/>
            <a:ext cx="7929093" cy="556049"/>
          </a:xfrm>
        </p:spPr>
        <p:txBody>
          <a:bodyPr/>
          <a:lstStyle/>
          <a:p>
            <a:r>
              <a:rPr lang="fr-CA" sz="3600" dirty="0"/>
              <a:t>Read </a:t>
            </a:r>
            <a:r>
              <a:rPr lang="fr-CA" sz="3600" dirty="0" err="1"/>
              <a:t>Aloud</a:t>
            </a:r>
            <a:endParaRPr lang="en-CA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C83A2-A7AA-DA36-7B5C-D9F02220B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72" y="759854"/>
            <a:ext cx="8359211" cy="6098145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fr-CA" sz="2600" dirty="0" err="1"/>
              <a:t>Among</a:t>
            </a:r>
            <a:r>
              <a:rPr lang="fr-CA" sz="2600" dirty="0"/>
              <a:t> the </a:t>
            </a:r>
            <a:r>
              <a:rPr lang="fr-CA" sz="2600" dirty="0" err="1"/>
              <a:t>most</a:t>
            </a:r>
            <a:r>
              <a:rPr lang="fr-CA" sz="2600" dirty="0"/>
              <a:t> </a:t>
            </a:r>
            <a:r>
              <a:rPr lang="fr-CA" sz="2600" dirty="0" err="1"/>
              <a:t>widely</a:t>
            </a:r>
            <a:r>
              <a:rPr lang="fr-CA" sz="2600" dirty="0"/>
              <a:t> </a:t>
            </a:r>
            <a:r>
              <a:rPr lang="fr-CA" sz="2600" dirty="0" err="1"/>
              <a:t>reported</a:t>
            </a:r>
            <a:r>
              <a:rPr lang="fr-CA" sz="2600" dirty="0"/>
              <a:t> </a:t>
            </a:r>
            <a:r>
              <a:rPr lang="fr-CA" sz="2600" dirty="0" err="1"/>
              <a:t>experiements</a:t>
            </a:r>
            <a:r>
              <a:rPr lang="fr-CA" sz="2600" dirty="0"/>
              <a:t> in the </a:t>
            </a:r>
            <a:r>
              <a:rPr lang="fr-CA" sz="2600" dirty="0" err="1"/>
              <a:t>history</a:t>
            </a:r>
            <a:r>
              <a:rPr lang="fr-CA" sz="2600" dirty="0"/>
              <a:t> of animal </a:t>
            </a:r>
            <a:r>
              <a:rPr lang="fr-CA" sz="2600" dirty="0" err="1"/>
              <a:t>behaviour</a:t>
            </a:r>
            <a:r>
              <a:rPr lang="fr-CA" sz="2600" dirty="0"/>
              <a:t> are </a:t>
            </a:r>
            <a:r>
              <a:rPr lang="fr-CA" sz="2600" dirty="0" err="1"/>
              <a:t>those</a:t>
            </a:r>
            <a:r>
              <a:rPr lang="fr-CA" sz="2600" dirty="0"/>
              <a:t> </a:t>
            </a:r>
            <a:r>
              <a:rPr lang="fr-CA" sz="2600" dirty="0" err="1"/>
              <a:t>psychologist</a:t>
            </a:r>
            <a:r>
              <a:rPr lang="fr-CA" sz="2600" dirty="0"/>
              <a:t> Harry Harlow </a:t>
            </a:r>
            <a:r>
              <a:rPr lang="fr-CA" sz="2600" dirty="0" err="1"/>
              <a:t>performed</a:t>
            </a:r>
            <a:r>
              <a:rPr lang="fr-CA" sz="2600" dirty="0"/>
              <a:t> on </a:t>
            </a:r>
            <a:r>
              <a:rPr lang="fr-CA" sz="2600" dirty="0" err="1"/>
              <a:t>monkeys</a:t>
            </a:r>
            <a:r>
              <a:rPr lang="fr-CA" sz="2600" dirty="0"/>
              <a:t>. The baby </a:t>
            </a:r>
            <a:r>
              <a:rPr lang="fr-CA" sz="2600" dirty="0" err="1"/>
              <a:t>monkeys</a:t>
            </a:r>
            <a:r>
              <a:rPr lang="fr-CA" sz="2600" dirty="0"/>
              <a:t> </a:t>
            </a:r>
            <a:r>
              <a:rPr lang="fr-CA" sz="2600" dirty="0" err="1"/>
              <a:t>who</a:t>
            </a:r>
            <a:r>
              <a:rPr lang="fr-CA" sz="2600" dirty="0"/>
              <a:t> </a:t>
            </a:r>
            <a:r>
              <a:rPr lang="fr-CA" sz="2600" dirty="0" err="1"/>
              <a:t>preferred</a:t>
            </a:r>
            <a:r>
              <a:rPr lang="fr-CA" sz="2600" dirty="0"/>
              <a:t> soft, </a:t>
            </a:r>
            <a:r>
              <a:rPr lang="fr-CA" sz="2600" dirty="0" err="1"/>
              <a:t>huggable</a:t>
            </a:r>
            <a:r>
              <a:rPr lang="fr-CA" sz="2600" dirty="0"/>
              <a:t> </a:t>
            </a:r>
            <a:r>
              <a:rPr lang="fr-CA" sz="2600" dirty="0" err="1"/>
              <a:t>dummy</a:t>
            </a:r>
            <a:r>
              <a:rPr lang="fr-CA" sz="2600" dirty="0"/>
              <a:t> </a:t>
            </a:r>
            <a:r>
              <a:rPr lang="fr-CA" sz="2600" dirty="0" err="1"/>
              <a:t>mothers</a:t>
            </a:r>
            <a:r>
              <a:rPr lang="fr-CA" sz="2600" dirty="0"/>
              <a:t> to hard, </a:t>
            </a:r>
            <a:r>
              <a:rPr lang="fr-CA" sz="2600" dirty="0" err="1"/>
              <a:t>wire</a:t>
            </a:r>
            <a:r>
              <a:rPr lang="fr-CA" sz="2600" dirty="0"/>
              <a:t> </a:t>
            </a:r>
            <a:r>
              <a:rPr lang="fr-CA" sz="2600" dirty="0" err="1"/>
              <a:t>surrogates</a:t>
            </a:r>
            <a:r>
              <a:rPr lang="fr-CA" sz="2600" dirty="0"/>
              <a:t>, </a:t>
            </a:r>
            <a:r>
              <a:rPr lang="fr-CA" sz="2600" dirty="0" err="1"/>
              <a:t>even</a:t>
            </a:r>
            <a:r>
              <a:rPr lang="fr-CA" sz="2600" dirty="0"/>
              <a:t> </a:t>
            </a:r>
            <a:r>
              <a:rPr lang="fr-CA" sz="2600" dirty="0" err="1"/>
              <a:t>when</a:t>
            </a:r>
            <a:r>
              <a:rPr lang="fr-CA" sz="2600" dirty="0"/>
              <a:t> </a:t>
            </a:r>
            <a:r>
              <a:rPr lang="fr-CA" sz="2600" dirty="0" err="1"/>
              <a:t>only</a:t>
            </a:r>
            <a:r>
              <a:rPr lang="fr-CA" sz="2600" dirty="0"/>
              <a:t> the </a:t>
            </a:r>
            <a:r>
              <a:rPr lang="fr-CA" sz="2600" dirty="0" err="1"/>
              <a:t>wire</a:t>
            </a:r>
            <a:r>
              <a:rPr lang="fr-CA" sz="2600" dirty="0"/>
              <a:t> </a:t>
            </a:r>
            <a:r>
              <a:rPr lang="fr-CA" sz="2600" dirty="0" err="1"/>
              <a:t>ones</a:t>
            </a:r>
            <a:r>
              <a:rPr lang="fr-CA" sz="2600" dirty="0"/>
              <a:t> </a:t>
            </a:r>
            <a:r>
              <a:rPr lang="fr-CA" sz="2600" dirty="0" err="1"/>
              <a:t>dispensed</a:t>
            </a:r>
            <a:r>
              <a:rPr lang="fr-CA" sz="2600" dirty="0"/>
              <a:t> </a:t>
            </a:r>
            <a:r>
              <a:rPr lang="fr-CA" sz="2600" dirty="0" err="1"/>
              <a:t>milk</a:t>
            </a:r>
            <a:r>
              <a:rPr lang="fr-CA" sz="2600" dirty="0"/>
              <a:t>, are </a:t>
            </a:r>
            <a:r>
              <a:rPr lang="fr-CA" sz="2600" dirty="0" err="1"/>
              <a:t>famous</a:t>
            </a:r>
            <a:r>
              <a:rPr lang="fr-CA" sz="2600" dirty="0"/>
              <a:t> and have </a:t>
            </a:r>
            <a:r>
              <a:rPr lang="fr-CA" sz="2600" dirty="0" err="1"/>
              <a:t>even</a:t>
            </a:r>
            <a:r>
              <a:rPr lang="fr-CA" sz="2600" dirty="0"/>
              <a:t> been </a:t>
            </a:r>
            <a:r>
              <a:rPr lang="fr-CA" sz="2600" dirty="0" err="1"/>
              <a:t>used</a:t>
            </a:r>
            <a:r>
              <a:rPr lang="fr-CA" sz="2600" dirty="0"/>
              <a:t> as </a:t>
            </a:r>
            <a:r>
              <a:rPr lang="fr-CA" sz="2600" dirty="0" err="1"/>
              <a:t>evidence</a:t>
            </a:r>
            <a:r>
              <a:rPr lang="fr-CA" sz="2600" dirty="0"/>
              <a:t> </a:t>
            </a:r>
            <a:r>
              <a:rPr lang="fr-CA" sz="2600" dirty="0" err="1"/>
              <a:t>that</a:t>
            </a:r>
            <a:r>
              <a:rPr lang="fr-CA" sz="2600" dirty="0"/>
              <a:t> </a:t>
            </a:r>
            <a:r>
              <a:rPr lang="fr-CA" sz="2600" dirty="0" err="1"/>
              <a:t>psychological</a:t>
            </a:r>
            <a:r>
              <a:rPr lang="fr-CA" sz="2600" dirty="0"/>
              <a:t> </a:t>
            </a:r>
            <a:r>
              <a:rPr lang="fr-CA" sz="2600" dirty="0" err="1"/>
              <a:t>studies</a:t>
            </a:r>
            <a:r>
              <a:rPr lang="fr-CA" sz="2600" dirty="0"/>
              <a:t> on </a:t>
            </a:r>
            <a:r>
              <a:rPr lang="fr-CA" sz="2600" dirty="0" err="1"/>
              <a:t>animals</a:t>
            </a:r>
            <a:r>
              <a:rPr lang="fr-CA" sz="2600" dirty="0"/>
              <a:t>—</a:t>
            </a:r>
            <a:r>
              <a:rPr lang="fr-CA" sz="2600" dirty="0" err="1"/>
              <a:t>really</a:t>
            </a:r>
            <a:r>
              <a:rPr lang="fr-CA" sz="2600" dirty="0"/>
              <a:t> </a:t>
            </a:r>
            <a:r>
              <a:rPr lang="fr-CA" sz="2600" dirty="0" err="1"/>
              <a:t>forms</a:t>
            </a:r>
            <a:r>
              <a:rPr lang="fr-CA" sz="2600" dirty="0"/>
              <a:t> of torture—can </a:t>
            </a:r>
            <a:r>
              <a:rPr lang="fr-CA" sz="2600" dirty="0" err="1"/>
              <a:t>teach</a:t>
            </a:r>
            <a:r>
              <a:rPr lang="fr-CA" sz="2600" dirty="0"/>
              <a:t> </a:t>
            </a:r>
            <a:r>
              <a:rPr lang="fr-CA" sz="2600" dirty="0" err="1"/>
              <a:t>humans</a:t>
            </a:r>
            <a:r>
              <a:rPr lang="fr-CA" sz="2600" dirty="0"/>
              <a:t> about </a:t>
            </a:r>
            <a:r>
              <a:rPr lang="fr-CA" sz="2600" dirty="0" err="1"/>
              <a:t>their</a:t>
            </a:r>
            <a:r>
              <a:rPr lang="fr-CA" sz="2600" dirty="0"/>
              <a:t> </a:t>
            </a:r>
            <a:r>
              <a:rPr lang="fr-CA" sz="2600" dirty="0" err="1"/>
              <a:t>emotions</a:t>
            </a:r>
            <a:r>
              <a:rPr lang="fr-CA" sz="2600" dirty="0"/>
              <a:t>. </a:t>
            </a:r>
          </a:p>
          <a:p>
            <a:pPr marL="114300" indent="0">
              <a:buNone/>
            </a:pPr>
            <a:endParaRPr lang="fr-CA" sz="2600" dirty="0"/>
          </a:p>
          <a:p>
            <a:pPr marL="114300" indent="0">
              <a:buNone/>
            </a:pPr>
            <a:r>
              <a:rPr lang="fr-CA" sz="2600" dirty="0"/>
              <a:t>Questions:</a:t>
            </a:r>
          </a:p>
          <a:p>
            <a:pPr marL="571500" indent="-457200">
              <a:buAutoNum type="arabicPeriod"/>
            </a:pPr>
            <a:r>
              <a:rPr lang="fr-CA" sz="2600" dirty="0" err="1"/>
              <a:t>Does</a:t>
            </a:r>
            <a:r>
              <a:rPr lang="fr-CA" sz="2600" dirty="0"/>
              <a:t> the </a:t>
            </a:r>
            <a:r>
              <a:rPr lang="fr-CA" sz="2600" dirty="0" err="1"/>
              <a:t>writer</a:t>
            </a:r>
            <a:r>
              <a:rPr lang="fr-CA" sz="2600" dirty="0"/>
              <a:t> have a positive or a </a:t>
            </a:r>
            <a:r>
              <a:rPr lang="fr-CA" sz="2600" dirty="0" err="1"/>
              <a:t>negative</a:t>
            </a:r>
            <a:r>
              <a:rPr lang="fr-CA" sz="2600" dirty="0"/>
              <a:t> opinion about Harry </a:t>
            </a:r>
            <a:r>
              <a:rPr lang="fr-CA" sz="2600" dirty="0" err="1"/>
              <a:t>Harlow’s</a:t>
            </a:r>
            <a:r>
              <a:rPr lang="fr-CA" sz="2600" dirty="0"/>
              <a:t> </a:t>
            </a:r>
            <a:r>
              <a:rPr lang="fr-CA" sz="2600" dirty="0" err="1"/>
              <a:t>experiements</a:t>
            </a:r>
            <a:r>
              <a:rPr lang="fr-CA" sz="2600" dirty="0"/>
              <a:t> on </a:t>
            </a:r>
            <a:r>
              <a:rPr lang="fr-CA" sz="2600" dirty="0" err="1"/>
              <a:t>monkeys</a:t>
            </a:r>
            <a:r>
              <a:rPr lang="fr-CA" sz="2600" dirty="0"/>
              <a:t>? </a:t>
            </a:r>
          </a:p>
          <a:p>
            <a:pPr marL="571500" indent="-457200">
              <a:buAutoNum type="arabicPeriod"/>
            </a:pPr>
            <a:r>
              <a:rPr lang="fr-CA" sz="2600" dirty="0"/>
              <a:t>Do </a:t>
            </a:r>
            <a:r>
              <a:rPr lang="fr-CA" sz="2600" dirty="0" err="1"/>
              <a:t>you</a:t>
            </a:r>
            <a:r>
              <a:rPr lang="fr-CA" sz="2600" dirty="0"/>
              <a:t> </a:t>
            </a:r>
            <a:r>
              <a:rPr lang="fr-CA" sz="2600" dirty="0" err="1"/>
              <a:t>think</a:t>
            </a:r>
            <a:r>
              <a:rPr lang="fr-CA" sz="2600" dirty="0"/>
              <a:t> </a:t>
            </a:r>
            <a:r>
              <a:rPr lang="fr-CA" sz="2600" dirty="0" err="1"/>
              <a:t>animals</a:t>
            </a:r>
            <a:r>
              <a:rPr lang="fr-CA" sz="2600" dirty="0"/>
              <a:t> </a:t>
            </a:r>
            <a:r>
              <a:rPr lang="fr-CA" sz="2600" dirty="0" err="1"/>
              <a:t>hav</a:t>
            </a:r>
            <a:r>
              <a:rPr lang="en-CA" sz="2600" dirty="0"/>
              <a:t>e emotions? Why?</a:t>
            </a:r>
          </a:p>
          <a:p>
            <a:pPr marL="571500" indent="-457200">
              <a:buAutoNum type="arabicPeriod"/>
            </a:pPr>
            <a:r>
              <a:rPr lang="en-CA" sz="2600" dirty="0"/>
              <a:t>Is eating meat the same as eating dead animals? Why? </a:t>
            </a:r>
            <a:endParaRPr lang="fr-CA" dirty="0"/>
          </a:p>
          <a:p>
            <a:pPr marL="114300" indent="0">
              <a:buNone/>
            </a:pPr>
            <a:endParaRPr lang="fr-CA" dirty="0"/>
          </a:p>
          <a:p>
            <a:pPr marL="114300" indent="0" algn="r">
              <a:buNone/>
            </a:pPr>
            <a:r>
              <a:rPr lang="fr-CA" sz="1200" dirty="0"/>
              <a:t>Source: </a:t>
            </a:r>
            <a:r>
              <a:rPr lang="fr-CA" sz="1200" dirty="0" err="1"/>
              <a:t>Moussaieff</a:t>
            </a:r>
            <a:r>
              <a:rPr lang="fr-CA" sz="1200" dirty="0"/>
              <a:t> Masson, Jeffrey and Susan McCarthy. </a:t>
            </a:r>
            <a:r>
              <a:rPr lang="fr-CA" sz="1200" i="1" dirty="0" err="1"/>
              <a:t>When</a:t>
            </a:r>
            <a:r>
              <a:rPr lang="fr-CA" sz="1200" i="1" dirty="0"/>
              <a:t> </a:t>
            </a:r>
            <a:r>
              <a:rPr lang="fr-CA" sz="1200" i="1" dirty="0" err="1"/>
              <a:t>Elephants</a:t>
            </a:r>
            <a:r>
              <a:rPr lang="fr-CA" sz="1200" i="1" dirty="0"/>
              <a:t> </a:t>
            </a:r>
            <a:r>
              <a:rPr lang="fr-CA" sz="1200" i="1" dirty="0" err="1"/>
              <a:t>Weep</a:t>
            </a:r>
            <a:r>
              <a:rPr lang="fr-CA" sz="1200" i="1" dirty="0"/>
              <a:t>: The </a:t>
            </a:r>
            <a:r>
              <a:rPr lang="fr-CA" sz="1200" i="1" dirty="0" err="1"/>
              <a:t>Emotional</a:t>
            </a:r>
            <a:r>
              <a:rPr lang="fr-CA" sz="1200" i="1" dirty="0"/>
              <a:t> Lives of Animals</a:t>
            </a:r>
            <a:r>
              <a:rPr lang="fr-CA" sz="1200" dirty="0"/>
              <a:t>. Delta, 1996, p.102</a:t>
            </a:r>
            <a:endParaRPr lang="en-CA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25100-44E6-24C9-34AD-2BE6AD59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76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 Review: Past tenses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sz="3200" dirty="0"/>
              <a:t>What are the names of the past tenses?</a:t>
            </a:r>
          </a:p>
          <a:p>
            <a:pPr marL="114300" indent="0">
              <a:buNone/>
            </a:pPr>
            <a:endParaRPr lang="en-US" sz="3200" dirty="0"/>
          </a:p>
          <a:p>
            <a:pPr marL="571500" indent="-457200">
              <a:buAutoNum type="arabicPeriod"/>
            </a:pPr>
            <a:r>
              <a:rPr lang="en-US" sz="3200" dirty="0"/>
              <a:t>_________________</a:t>
            </a:r>
          </a:p>
          <a:p>
            <a:pPr marL="571500" indent="-457200">
              <a:buAutoNum type="arabicPeriod"/>
            </a:pPr>
            <a:r>
              <a:rPr lang="en-US" sz="3200" dirty="0"/>
              <a:t>_________________</a:t>
            </a:r>
          </a:p>
          <a:p>
            <a:pPr marL="571500" indent="-457200">
              <a:buAutoNum type="arabicPeriod"/>
            </a:pPr>
            <a:r>
              <a:rPr lang="en-US" sz="3200" dirty="0"/>
              <a:t>_________________</a:t>
            </a:r>
          </a:p>
          <a:p>
            <a:pPr marL="571500" indent="-457200">
              <a:buAutoNum type="arabicPeriod"/>
            </a:pPr>
            <a:r>
              <a:rPr lang="en-US" sz="3200" dirty="0"/>
              <a:t>_________________</a:t>
            </a:r>
          </a:p>
          <a:p>
            <a:pPr marL="114300" indent="0">
              <a:buNone/>
            </a:pPr>
            <a:endParaRPr lang="en-US" sz="3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15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9144000" cy="927463"/>
          </a:xfrm>
        </p:spPr>
        <p:txBody>
          <a:bodyPr/>
          <a:lstStyle/>
          <a:p>
            <a:r>
              <a:rPr lang="en-US" sz="3600" dirty="0"/>
              <a:t>Forming the simple past tense—</a:t>
            </a:r>
            <a:r>
              <a:rPr lang="en-US" sz="3600" dirty="0">
                <a:solidFill>
                  <a:srgbClr val="FF0000"/>
                </a:solidFill>
              </a:rPr>
              <a:t>regular verbs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971"/>
            <a:ext cx="9144000" cy="5617029"/>
          </a:xfrm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34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000" dirty="0"/>
              <a:t>The Irregular Verbs Song  </a:t>
            </a:r>
            <a:br>
              <a:rPr lang="en-CA" dirty="0"/>
            </a:br>
            <a:r>
              <a:rPr lang="en-CA" sz="2400" dirty="0"/>
              <a:t>https://www.youtube.com/watch?v=MA3NFtLc22k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5705351-97C5-099D-E5DD-854355550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96980"/>
            <a:ext cx="7450428" cy="4166315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C10A77-EE15-5546-592D-E3AA5B00358C}"/>
              </a:ext>
            </a:extLst>
          </p:cNvPr>
          <p:cNvSpPr txBox="1"/>
          <p:nvPr/>
        </p:nvSpPr>
        <p:spPr>
          <a:xfrm>
            <a:off x="457200" y="6107676"/>
            <a:ext cx="7907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dirty="0"/>
              <a:t>The Irregular Verb List: see the handout </a:t>
            </a:r>
          </a:p>
        </p:txBody>
      </p:sp>
    </p:spTree>
    <p:extLst>
      <p:ext uri="{BB962C8B-B14F-4D97-AF65-F5344CB8AC3E}">
        <p14:creationId xmlns:p14="http://schemas.microsoft.com/office/powerpoint/2010/main" val="3893322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258"/>
            <a:ext cx="7620000" cy="813627"/>
          </a:xfrm>
        </p:spPr>
        <p:txBody>
          <a:bodyPr/>
          <a:lstStyle/>
          <a:p>
            <a:r>
              <a:rPr lang="en-US" sz="3200" dirty="0"/>
              <a:t>Use simple past tense to complete the text.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72" y="1332962"/>
            <a:ext cx="8346332" cy="547577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My grandfather _____ a very exciting life. When he _____ young, he _____ on a farm in the country. When he _____ eighteen, he _____ to university, where he _____ Philosophy. He also  _____ the trumpet in a jazz band. When the war _____, he  _____ to join the Air Force, but he  ____ up in the Navy. In the Atlantic, a German torpedo _____ a hole in the side of his ship, and the ship _____. Only five men _____. When he _____back to England, he _____ my grandmother and they _____after only three weeks.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69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52DAC-39C2-EE16-589F-81494FEB8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1600" dirty="0">
                <a:hlinkClick r:id="rId2"/>
              </a:rPr>
              <a:t>https://www.ted.com/talks/conor_heffernan_the_treadmill_s_dark_and_twisted_past?language=en</a:t>
            </a:r>
            <a:br>
              <a:rPr lang="en-CA" sz="1600" dirty="0"/>
            </a:br>
            <a:endParaRPr lang="en-CA" sz="1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FE9A24-2836-B354-B387-C22BD27BE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049628"/>
            <a:ext cx="7553459" cy="51773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29A9D-9755-F993-3B72-9BA60BDC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27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063" y="-124097"/>
            <a:ext cx="7620000" cy="1143000"/>
          </a:xfrm>
        </p:spPr>
        <p:txBody>
          <a:bodyPr/>
          <a:lstStyle/>
          <a:p>
            <a:r>
              <a:rPr lang="en-US" sz="3200" dirty="0"/>
              <a:t>Forming the past continuous tense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8720"/>
            <a:ext cx="8503920" cy="5669280"/>
          </a:xfrm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29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Verb+ing</a:t>
            </a:r>
            <a:r>
              <a:rPr lang="fr-CA" dirty="0"/>
              <a:t>  </a:t>
            </a:r>
            <a:r>
              <a:rPr lang="fr-CA" dirty="0" err="1"/>
              <a:t>Rules</a:t>
            </a:r>
            <a:r>
              <a:rPr lang="fr-CA" dirty="0"/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457200">
              <a:buAutoNum type="arabicPeriod"/>
            </a:pPr>
            <a:r>
              <a:rPr lang="fr-CA" dirty="0"/>
              <a:t>If </a:t>
            </a:r>
            <a:r>
              <a:rPr lang="fr-CA" dirty="0" err="1"/>
              <a:t>there</a:t>
            </a:r>
            <a:r>
              <a:rPr lang="fr-CA" dirty="0"/>
              <a:t> </a:t>
            </a:r>
            <a:r>
              <a:rPr lang="fr-CA" dirty="0" err="1"/>
              <a:t>is</a:t>
            </a:r>
            <a:r>
              <a:rPr lang="fr-CA" dirty="0"/>
              <a:t> the silent </a:t>
            </a:r>
            <a:r>
              <a:rPr lang="fr-CA" dirty="0">
                <a:solidFill>
                  <a:srgbClr val="FF0000"/>
                </a:solidFill>
              </a:rPr>
              <a:t>e</a:t>
            </a:r>
            <a:r>
              <a:rPr lang="fr-CA" dirty="0"/>
              <a:t> , </a:t>
            </a:r>
            <a:r>
              <a:rPr lang="fr-CA" dirty="0" err="1"/>
              <a:t>remove</a:t>
            </a:r>
            <a:r>
              <a:rPr lang="fr-CA" dirty="0"/>
              <a:t> </a:t>
            </a:r>
            <a:r>
              <a:rPr lang="fr-CA" dirty="0">
                <a:solidFill>
                  <a:srgbClr val="FF0000"/>
                </a:solidFill>
              </a:rPr>
              <a:t>e </a:t>
            </a:r>
            <a:r>
              <a:rPr lang="fr-CA" dirty="0"/>
              <a:t>and </a:t>
            </a:r>
            <a:r>
              <a:rPr lang="fr-CA" dirty="0" err="1"/>
              <a:t>add</a:t>
            </a:r>
            <a:r>
              <a:rPr lang="fr-CA" dirty="0"/>
              <a:t> </a:t>
            </a:r>
            <a:r>
              <a:rPr lang="fr-CA" dirty="0" err="1">
                <a:solidFill>
                  <a:srgbClr val="FF0000"/>
                </a:solidFill>
              </a:rPr>
              <a:t>ing</a:t>
            </a:r>
            <a:r>
              <a:rPr lang="fr-CA" dirty="0">
                <a:solidFill>
                  <a:srgbClr val="FF0000"/>
                </a:solidFill>
              </a:rPr>
              <a:t>.</a:t>
            </a:r>
          </a:p>
          <a:p>
            <a:pPr marL="114300" indent="0">
              <a:buNone/>
            </a:pPr>
            <a:r>
              <a:rPr lang="fr-CA" dirty="0">
                <a:solidFill>
                  <a:srgbClr val="FF0000"/>
                </a:solidFill>
              </a:rPr>
              <a:t>	</a:t>
            </a:r>
            <a:r>
              <a:rPr lang="fr-CA" dirty="0" err="1"/>
              <a:t>Example</a:t>
            </a:r>
            <a:r>
              <a:rPr lang="fr-CA" dirty="0"/>
              <a:t>: </a:t>
            </a:r>
            <a:r>
              <a:rPr lang="fr-CA" dirty="0" err="1"/>
              <a:t>like</a:t>
            </a:r>
            <a:r>
              <a:rPr lang="fr-CA" dirty="0">
                <a:sym typeface="Wingdings" pitchFamily="2" charset="2"/>
              </a:rPr>
              <a:t> </a:t>
            </a:r>
            <a:r>
              <a:rPr lang="fr-CA" dirty="0" err="1">
                <a:sym typeface="Wingdings" pitchFamily="2" charset="2"/>
              </a:rPr>
              <a:t>liking</a:t>
            </a:r>
            <a:endParaRPr lang="fr-CA" dirty="0">
              <a:sym typeface="Wingdings" pitchFamily="2" charset="2"/>
            </a:endParaRPr>
          </a:p>
          <a:p>
            <a:pPr marL="114300" indent="0">
              <a:buNone/>
            </a:pPr>
            <a:r>
              <a:rPr lang="fr-CA" dirty="0">
                <a:solidFill>
                  <a:srgbClr val="FF0000"/>
                </a:solidFill>
                <a:sym typeface="Wingdings" pitchFamily="2" charset="2"/>
              </a:rPr>
              <a:t>	</a:t>
            </a:r>
            <a:r>
              <a:rPr lang="fr-CA" dirty="0" err="1">
                <a:sym typeface="Wingdings" pitchFamily="2" charset="2"/>
              </a:rPr>
              <a:t>Your</a:t>
            </a:r>
            <a:r>
              <a:rPr lang="fr-CA" dirty="0">
                <a:sym typeface="Wingdings" pitchFamily="2" charset="2"/>
              </a:rPr>
              <a:t> </a:t>
            </a:r>
            <a:r>
              <a:rPr lang="fr-CA" dirty="0" err="1">
                <a:sym typeface="Wingdings" pitchFamily="2" charset="2"/>
              </a:rPr>
              <a:t>examples</a:t>
            </a:r>
            <a:r>
              <a:rPr lang="fr-CA" dirty="0">
                <a:sym typeface="Wingdings" pitchFamily="2" charset="2"/>
              </a:rPr>
              <a:t>: _________________________________</a:t>
            </a:r>
          </a:p>
          <a:p>
            <a:pPr marL="114300" indent="0">
              <a:buNone/>
            </a:pPr>
            <a:endParaRPr lang="fr-CA" dirty="0">
              <a:solidFill>
                <a:srgbClr val="FF0000"/>
              </a:solidFill>
              <a:sym typeface="Wingdings" pitchFamily="2" charset="2"/>
            </a:endParaRPr>
          </a:p>
          <a:p>
            <a:pPr marL="114300" indent="0">
              <a:buNone/>
            </a:pPr>
            <a:r>
              <a:rPr lang="fr-CA" dirty="0">
                <a:sym typeface="Wingdings" pitchFamily="2" charset="2"/>
              </a:rPr>
              <a:t>2. If </a:t>
            </a:r>
            <a:r>
              <a:rPr lang="fr-CA" dirty="0" err="1">
                <a:sym typeface="Wingdings" pitchFamily="2" charset="2"/>
              </a:rPr>
              <a:t>there</a:t>
            </a:r>
            <a:r>
              <a:rPr lang="fr-CA" dirty="0">
                <a:sym typeface="Wingdings" pitchFamily="2" charset="2"/>
              </a:rPr>
              <a:t> </a:t>
            </a:r>
            <a:r>
              <a:rPr lang="fr-CA" dirty="0" err="1">
                <a:sym typeface="Wingdings" pitchFamily="2" charset="2"/>
              </a:rPr>
              <a:t>is</a:t>
            </a:r>
            <a:r>
              <a:rPr lang="fr-CA" dirty="0">
                <a:sym typeface="Wingdings" pitchFamily="2" charset="2"/>
              </a:rPr>
              <a:t> </a:t>
            </a:r>
            <a:r>
              <a:rPr lang="fr-CA" dirty="0">
                <a:solidFill>
                  <a:srgbClr val="FF0000"/>
                </a:solidFill>
                <a:sym typeface="Wingdings" pitchFamily="2" charset="2"/>
              </a:rPr>
              <a:t>CVC (consonant +</a:t>
            </a:r>
            <a:r>
              <a:rPr lang="fr-CA" dirty="0" err="1">
                <a:solidFill>
                  <a:srgbClr val="FF0000"/>
                </a:solidFill>
                <a:sym typeface="Wingdings" pitchFamily="2" charset="2"/>
              </a:rPr>
              <a:t>vowel</a:t>
            </a:r>
            <a:r>
              <a:rPr lang="fr-CA" dirty="0">
                <a:solidFill>
                  <a:srgbClr val="FF0000"/>
                </a:solidFill>
                <a:sym typeface="Wingdings" pitchFamily="2" charset="2"/>
              </a:rPr>
              <a:t>+ consonant)</a:t>
            </a:r>
            <a:r>
              <a:rPr lang="fr-CA" dirty="0">
                <a:sym typeface="Wingdings" pitchFamily="2" charset="2"/>
              </a:rPr>
              <a:t>, </a:t>
            </a:r>
            <a:r>
              <a:rPr lang="fr-CA" dirty="0">
                <a:solidFill>
                  <a:srgbClr val="FF0000"/>
                </a:solidFill>
                <a:sym typeface="Wingdings" pitchFamily="2" charset="2"/>
              </a:rPr>
              <a:t>double</a:t>
            </a:r>
            <a:r>
              <a:rPr lang="fr-CA" dirty="0">
                <a:sym typeface="Wingdings" pitchFamily="2" charset="2"/>
              </a:rPr>
              <a:t> the last consonant and </a:t>
            </a:r>
            <a:r>
              <a:rPr lang="fr-CA" dirty="0" err="1">
                <a:sym typeface="Wingdings" pitchFamily="2" charset="2"/>
              </a:rPr>
              <a:t>add</a:t>
            </a:r>
            <a:r>
              <a:rPr lang="fr-CA" dirty="0">
                <a:sym typeface="Wingdings" pitchFamily="2" charset="2"/>
              </a:rPr>
              <a:t> </a:t>
            </a:r>
            <a:r>
              <a:rPr lang="fr-CA" dirty="0" err="1">
                <a:solidFill>
                  <a:srgbClr val="FF0000"/>
                </a:solidFill>
                <a:sym typeface="Wingdings" pitchFamily="2" charset="2"/>
              </a:rPr>
              <a:t>ing</a:t>
            </a:r>
            <a:r>
              <a:rPr lang="fr-CA" dirty="0">
                <a:sym typeface="Wingdings" pitchFamily="2" charset="2"/>
              </a:rPr>
              <a:t>. </a:t>
            </a:r>
          </a:p>
          <a:p>
            <a:pPr marL="114300" indent="0">
              <a:buNone/>
            </a:pPr>
            <a:r>
              <a:rPr lang="fr-CA" dirty="0">
                <a:sym typeface="Wingdings" pitchFamily="2" charset="2"/>
              </a:rPr>
              <a:t>	Example: </a:t>
            </a:r>
            <a:r>
              <a:rPr lang="fr-CA" dirty="0" err="1">
                <a:sym typeface="Wingdings" pitchFamily="2" charset="2"/>
              </a:rPr>
              <a:t>sit</a:t>
            </a:r>
            <a:r>
              <a:rPr lang="fr-CA" dirty="0">
                <a:sym typeface="Wingdings" pitchFamily="2" charset="2"/>
              </a:rPr>
              <a:t> </a:t>
            </a:r>
            <a:r>
              <a:rPr lang="fr-CA" dirty="0" err="1">
                <a:sym typeface="Wingdings" pitchFamily="2" charset="2"/>
              </a:rPr>
              <a:t>sitting</a:t>
            </a:r>
            <a:endParaRPr lang="fr-CA" dirty="0">
              <a:sym typeface="Wingdings" pitchFamily="2" charset="2"/>
            </a:endParaRPr>
          </a:p>
          <a:p>
            <a:pPr marL="114300" indent="0">
              <a:buNone/>
            </a:pPr>
            <a:r>
              <a:rPr lang="fr-CA" dirty="0">
                <a:sym typeface="Wingdings" pitchFamily="2" charset="2"/>
              </a:rPr>
              <a:t>	</a:t>
            </a:r>
            <a:r>
              <a:rPr lang="fr-CA" dirty="0" err="1">
                <a:sym typeface="Wingdings" pitchFamily="2" charset="2"/>
              </a:rPr>
              <a:t>Your</a:t>
            </a:r>
            <a:r>
              <a:rPr lang="fr-CA" dirty="0">
                <a:sym typeface="Wingdings" pitchFamily="2" charset="2"/>
              </a:rPr>
              <a:t> </a:t>
            </a:r>
            <a:r>
              <a:rPr lang="fr-CA" dirty="0" err="1">
                <a:sym typeface="Wingdings" pitchFamily="2" charset="2"/>
              </a:rPr>
              <a:t>examples</a:t>
            </a:r>
            <a:r>
              <a:rPr lang="fr-CA" dirty="0">
                <a:sym typeface="Wingdings" pitchFamily="2" charset="2"/>
              </a:rPr>
              <a:t>: _________________________________</a:t>
            </a:r>
          </a:p>
          <a:p>
            <a:pPr marL="114300" indent="0">
              <a:buNone/>
            </a:pPr>
            <a:endParaRPr lang="fr-CA" dirty="0">
              <a:sym typeface="Wingdings" pitchFamily="2" charset="2"/>
            </a:endParaRPr>
          </a:p>
          <a:p>
            <a:pPr marL="114300" indent="0">
              <a:buNone/>
            </a:pPr>
            <a:r>
              <a:rPr lang="fr-CA" dirty="0">
                <a:sym typeface="Wingdings" pitchFamily="2" charset="2"/>
              </a:rPr>
              <a:t>3. For </a:t>
            </a:r>
            <a:r>
              <a:rPr lang="fr-CA" dirty="0" err="1">
                <a:sym typeface="Wingdings" pitchFamily="2" charset="2"/>
              </a:rPr>
              <a:t>words</a:t>
            </a:r>
            <a:r>
              <a:rPr lang="fr-CA" dirty="0">
                <a:sym typeface="Wingdings" pitchFamily="2" charset="2"/>
              </a:rPr>
              <a:t> </a:t>
            </a:r>
            <a:r>
              <a:rPr lang="fr-CA" dirty="0" err="1">
                <a:sym typeface="Wingdings" pitchFamily="2" charset="2"/>
              </a:rPr>
              <a:t>ending</a:t>
            </a:r>
            <a:r>
              <a:rPr lang="fr-CA" dirty="0">
                <a:sym typeface="Wingdings" pitchFamily="2" charset="2"/>
              </a:rPr>
              <a:t> </a:t>
            </a:r>
            <a:r>
              <a:rPr lang="fr-CA" dirty="0" err="1">
                <a:sym typeface="Wingdings" pitchFamily="2" charset="2"/>
              </a:rPr>
              <a:t>with</a:t>
            </a:r>
            <a:r>
              <a:rPr lang="fr-CA" dirty="0">
                <a:sym typeface="Wingdings" pitchFamily="2" charset="2"/>
              </a:rPr>
              <a:t> </a:t>
            </a:r>
            <a:r>
              <a:rPr lang="fr-CA" dirty="0">
                <a:solidFill>
                  <a:srgbClr val="FF0000"/>
                </a:solidFill>
                <a:sym typeface="Wingdings" pitchFamily="2" charset="2"/>
              </a:rPr>
              <a:t>Y</a:t>
            </a:r>
            <a:r>
              <a:rPr lang="fr-CA" dirty="0">
                <a:sym typeface="Wingdings" pitchFamily="2" charset="2"/>
              </a:rPr>
              <a:t>, </a:t>
            </a:r>
            <a:r>
              <a:rPr lang="fr-CA" dirty="0" err="1">
                <a:sym typeface="Wingdings" pitchFamily="2" charset="2"/>
              </a:rPr>
              <a:t>keep</a:t>
            </a:r>
            <a:r>
              <a:rPr lang="fr-CA" dirty="0">
                <a:sym typeface="Wingdings" pitchFamily="2" charset="2"/>
              </a:rPr>
              <a:t> </a:t>
            </a:r>
            <a:r>
              <a:rPr lang="fr-CA" dirty="0">
                <a:solidFill>
                  <a:srgbClr val="FF0000"/>
                </a:solidFill>
                <a:sym typeface="Wingdings" pitchFamily="2" charset="2"/>
              </a:rPr>
              <a:t>Y</a:t>
            </a:r>
            <a:r>
              <a:rPr lang="fr-CA" dirty="0">
                <a:sym typeface="Wingdings" pitchFamily="2" charset="2"/>
              </a:rPr>
              <a:t> and </a:t>
            </a:r>
            <a:r>
              <a:rPr lang="fr-CA" dirty="0" err="1">
                <a:sym typeface="Wingdings" pitchFamily="2" charset="2"/>
              </a:rPr>
              <a:t>add</a:t>
            </a:r>
            <a:r>
              <a:rPr lang="fr-CA" dirty="0">
                <a:sym typeface="Wingdings" pitchFamily="2" charset="2"/>
              </a:rPr>
              <a:t> </a:t>
            </a:r>
            <a:r>
              <a:rPr lang="fr-CA" dirty="0" err="1">
                <a:solidFill>
                  <a:srgbClr val="FF0000"/>
                </a:solidFill>
                <a:sym typeface="Wingdings" pitchFamily="2" charset="2"/>
              </a:rPr>
              <a:t>ing</a:t>
            </a:r>
            <a:r>
              <a:rPr lang="fr-CA" dirty="0">
                <a:sym typeface="Wingdings" pitchFamily="2" charset="2"/>
              </a:rPr>
              <a:t>. </a:t>
            </a:r>
          </a:p>
          <a:p>
            <a:pPr marL="114300" indent="0">
              <a:buNone/>
            </a:pPr>
            <a:r>
              <a:rPr lang="fr-CA" dirty="0">
                <a:sym typeface="Wingdings" pitchFamily="2" charset="2"/>
              </a:rPr>
              <a:t>	</a:t>
            </a:r>
            <a:r>
              <a:rPr lang="fr-CA" dirty="0" err="1">
                <a:sym typeface="Wingdings" pitchFamily="2" charset="2"/>
              </a:rPr>
              <a:t>Example</a:t>
            </a:r>
            <a:r>
              <a:rPr lang="fr-CA" dirty="0">
                <a:sym typeface="Wingdings" pitchFamily="2" charset="2"/>
              </a:rPr>
              <a:t>: carry </a:t>
            </a:r>
            <a:r>
              <a:rPr lang="fr-CA" dirty="0" err="1">
                <a:sym typeface="Wingdings" pitchFamily="2" charset="2"/>
              </a:rPr>
              <a:t>carrying</a:t>
            </a:r>
            <a:r>
              <a:rPr lang="fr-CA" dirty="0">
                <a:sym typeface="Wingdings" pitchFamily="2" charset="2"/>
              </a:rPr>
              <a:t> </a:t>
            </a:r>
          </a:p>
          <a:p>
            <a:pPr marL="114300" indent="0">
              <a:buNone/>
            </a:pPr>
            <a:r>
              <a:rPr lang="fr-CA" dirty="0">
                <a:sym typeface="Wingdings" pitchFamily="2" charset="2"/>
              </a:rPr>
              <a:t>	</a:t>
            </a:r>
            <a:r>
              <a:rPr lang="fr-CA" dirty="0" err="1">
                <a:sym typeface="Wingdings" pitchFamily="2" charset="2"/>
              </a:rPr>
              <a:t>Your</a:t>
            </a:r>
            <a:r>
              <a:rPr lang="fr-CA" dirty="0">
                <a:sym typeface="Wingdings" pitchFamily="2" charset="2"/>
              </a:rPr>
              <a:t> </a:t>
            </a:r>
            <a:r>
              <a:rPr lang="fr-CA" dirty="0" err="1">
                <a:sym typeface="Wingdings" pitchFamily="2" charset="2"/>
              </a:rPr>
              <a:t>examples</a:t>
            </a:r>
            <a:r>
              <a:rPr lang="fr-CA" dirty="0">
                <a:sym typeface="Wingdings" pitchFamily="2" charset="2"/>
              </a:rPr>
              <a:t>:__________________________________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77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0A8E3-99D1-51DD-E32B-28AF654C5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Alibi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9F5A6-6D56-17EA-3967-ECFFF306C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CA" dirty="0"/>
              <a:t>Please see the handout.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530ED-E3AA-09E2-C9D9-5FD1FFC24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36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1. </a:t>
            </a:r>
            <a:r>
              <a:rPr lang="en-US" i="1" dirty="0"/>
              <a:t>Technically Speaking </a:t>
            </a:r>
            <a:r>
              <a:rPr lang="en-US" dirty="0"/>
              <a:t>by Susan </a:t>
            </a:r>
            <a:r>
              <a:rPr lang="en-US" dirty="0" err="1"/>
              <a:t>Drolet</a:t>
            </a:r>
            <a:r>
              <a:rPr lang="en-US" dirty="0"/>
              <a:t> &amp; Ann Seguin</a:t>
            </a:r>
          </a:p>
          <a:p>
            <a:pPr marL="114300" indent="0">
              <a:buNone/>
            </a:pPr>
            <a:r>
              <a:rPr lang="en-US" dirty="0"/>
              <a:t>2. </a:t>
            </a:r>
            <a:r>
              <a:rPr lang="en-US" i="1" dirty="0"/>
              <a:t>Goals</a:t>
            </a:r>
            <a:r>
              <a:rPr lang="en-US" dirty="0"/>
              <a:t> by Lynne </a:t>
            </a:r>
            <a:r>
              <a:rPr lang="en-US" dirty="0" err="1"/>
              <a:t>Gaetz</a:t>
            </a:r>
            <a:r>
              <a:rPr lang="en-US" dirty="0"/>
              <a:t> </a:t>
            </a:r>
          </a:p>
          <a:p>
            <a:pPr marL="114300" indent="0">
              <a:buNone/>
            </a:pPr>
            <a:r>
              <a:rPr lang="en-US" dirty="0"/>
              <a:t>3. </a:t>
            </a:r>
            <a:r>
              <a:rPr lang="en-US" i="1" dirty="0"/>
              <a:t>Avenues </a:t>
            </a:r>
            <a:r>
              <a:rPr lang="en-US" dirty="0"/>
              <a:t>series by Lynne </a:t>
            </a:r>
            <a:r>
              <a:rPr lang="en-US" dirty="0" err="1"/>
              <a:t>Gaetz</a:t>
            </a:r>
            <a:r>
              <a:rPr lang="en-US" dirty="0"/>
              <a:t> </a:t>
            </a:r>
          </a:p>
          <a:p>
            <a:pPr marL="114300" indent="0">
              <a:buNone/>
            </a:pPr>
            <a:r>
              <a:rPr lang="en-US" dirty="0"/>
              <a:t>4. </a:t>
            </a:r>
            <a:r>
              <a:rPr lang="en-US" dirty="0">
                <a:hlinkClick r:id="rId3"/>
              </a:rPr>
              <a:t>http://web2.uvcs.uvic.ca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5. </a:t>
            </a:r>
            <a:r>
              <a:rPr lang="en-US" dirty="0">
                <a:hlinkClick r:id="rId4"/>
              </a:rPr>
              <a:t>http://godfather.wikia.com/wiki/Fredo_Corleone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6.https://www.youtube.com/watch?v=zLGb4dT3vBA&amp;list=PLd9hCvj34W5gxnTUV-wHERehpInsTJgq7&amp;index=44</a:t>
            </a:r>
          </a:p>
          <a:p>
            <a:pPr marL="114300" indent="0">
              <a:buNone/>
            </a:pPr>
            <a:r>
              <a:rPr lang="en-US" dirty="0"/>
              <a:t>7. </a:t>
            </a:r>
            <a:r>
              <a:rPr lang="en-US" dirty="0">
                <a:hlinkClick r:id="rId5"/>
              </a:rPr>
              <a:t>https://www.youtube.com/watch?v=Dsd0eFgU0m8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8. </a:t>
            </a:r>
            <a:r>
              <a:rPr lang="en-US" dirty="0">
                <a:hlinkClick r:id="rId6"/>
              </a:rPr>
              <a:t>https://www.youtube.com/watch?v=MA3NFtLc22k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171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Adjacency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Adjacency.thmx</Template>
  <TotalTime>2554</TotalTime>
  <Words>855</Words>
  <Application>Microsoft Office PowerPoint</Application>
  <PresentationFormat>On-screen Show (4:3)</PresentationFormat>
  <Paragraphs>108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</vt:lpstr>
      <vt:lpstr>Times New Roman</vt:lpstr>
      <vt:lpstr>Adjacency</vt:lpstr>
      <vt:lpstr>1_Adjacency</vt:lpstr>
      <vt:lpstr>604-220 Week3</vt:lpstr>
      <vt:lpstr>Review of /s/ and /z/</vt:lpstr>
      <vt:lpstr>Pronouncing –d, –ed</vt:lpstr>
      <vt:lpstr>PowerPoint Presentation</vt:lpstr>
      <vt:lpstr>Pronunciation rules about –d, -ed </vt:lpstr>
      <vt:lpstr>Pronunciation practice:  -ed  </vt:lpstr>
      <vt:lpstr>Read Aloud</vt:lpstr>
      <vt:lpstr>Grammar Review: Past tenses</vt:lpstr>
      <vt:lpstr>Forming the simple past tense—regular verbs</vt:lpstr>
      <vt:lpstr>The Irregular Verbs Song   https://www.youtube.com/watch?v=MA3NFtLc22k</vt:lpstr>
      <vt:lpstr>Use simple past tense to complete the text. </vt:lpstr>
      <vt:lpstr>https://www.ted.com/talks/conor_heffernan_the_treadmill_s_dark_and_twisted_past?language=en </vt:lpstr>
      <vt:lpstr>Forming the past continuous tense</vt:lpstr>
      <vt:lpstr>Verb+ing  Rules </vt:lpstr>
      <vt:lpstr>The Alibi game</vt:lpstr>
      <vt:lpstr>References</vt:lpstr>
    </vt:vector>
  </TitlesOfParts>
  <Company>CEGEP André Laurendeau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</dc:title>
  <dc:creator>Loretta  Gillis</dc:creator>
  <cp:lastModifiedBy>Xuelian Wei</cp:lastModifiedBy>
  <cp:revision>173</cp:revision>
  <dcterms:created xsi:type="dcterms:W3CDTF">2013-02-27T14:53:30Z</dcterms:created>
  <dcterms:modified xsi:type="dcterms:W3CDTF">2023-02-01T14:48:37Z</dcterms:modified>
</cp:coreProperties>
</file>