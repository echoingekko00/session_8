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8C917D-51C3-4E90-E07C-9C6F39712494}" v="198" dt="2023-04-26T18:22:27.502"/>
    <p1510:client id="{7971D062-FF0F-4B93-A668-CE8BA6381A13}" v="41" dt="2023-04-26T17:58:17.1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26/04/2023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26/04/2023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26/04/2023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26/04/2023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26/04/2023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26/04/2023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26/04/2023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26/04/2023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26/04/2023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26/04/2023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26/04/2023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26/04/2023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1520B01-A2E4-41C2-8A8F-7683F2508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912365" y="2120782"/>
            <a:ext cx="3505200" cy="3114698"/>
          </a:xfrm>
        </p:spPr>
        <p:txBody>
          <a:bodyPr>
            <a:normAutofit/>
          </a:bodyPr>
          <a:lstStyle/>
          <a:p>
            <a:pPr marL="857250" indent="-857250">
              <a:buFont typeface="Arial"/>
              <a:buChar char="•"/>
            </a:pPr>
            <a:r>
              <a:rPr lang="fr-FR" sz="3500">
                <a:solidFill>
                  <a:schemeClr val="bg1"/>
                </a:solidFill>
                <a:cs typeface="Calibri Light"/>
              </a:rPr>
              <a:t>Présentation orale sur </a:t>
            </a:r>
            <a:r>
              <a:rPr lang="fr-FR" sz="3500" b="1">
                <a:solidFill>
                  <a:schemeClr val="bg1"/>
                </a:solidFill>
                <a:cs typeface="Calibri Light"/>
              </a:rPr>
              <a:t>Les similitudes</a:t>
            </a:r>
            <a:r>
              <a:rPr lang="fr-FR" sz="3500" b="1">
                <a:solidFill>
                  <a:schemeClr val="bg1"/>
                </a:solidFill>
                <a:ea typeface="+mj-lt"/>
                <a:cs typeface="+mj-lt"/>
              </a:rPr>
              <a:t> entre </a:t>
            </a:r>
            <a:r>
              <a:rPr lang="fr-FR" sz="3500" b="1" i="1">
                <a:solidFill>
                  <a:schemeClr val="bg1"/>
                </a:solidFill>
                <a:ea typeface="+mj-lt"/>
                <a:cs typeface="+mj-lt"/>
              </a:rPr>
              <a:t>Huis clos </a:t>
            </a:r>
            <a:r>
              <a:rPr lang="fr-FR" sz="3500" b="1">
                <a:solidFill>
                  <a:schemeClr val="bg1"/>
                </a:solidFill>
                <a:ea typeface="+mj-lt"/>
                <a:cs typeface="+mj-lt"/>
              </a:rPr>
              <a:t>et </a:t>
            </a:r>
            <a:r>
              <a:rPr lang="fr-FR" sz="3500" b="1" i="1">
                <a:solidFill>
                  <a:schemeClr val="bg1"/>
                </a:solidFill>
                <a:ea typeface="+mj-lt"/>
                <a:cs typeface="+mj-lt"/>
              </a:rPr>
              <a:t>Le dieu du carnage</a:t>
            </a:r>
            <a:r>
              <a:rPr lang="fr-FR" sz="3500" b="1">
                <a:solidFill>
                  <a:schemeClr val="bg1"/>
                </a:solidFill>
                <a:ea typeface="+mj-lt"/>
                <a:cs typeface="+mj-lt"/>
              </a:rPr>
              <a:t>.</a:t>
            </a:r>
            <a:endParaRPr lang="fr-FR" sz="3500">
              <a:solidFill>
                <a:schemeClr val="bg1"/>
              </a:solidFill>
              <a:cs typeface="Calibri Light"/>
            </a:endParaRPr>
          </a:p>
          <a:p>
            <a:endParaRPr lang="fr-FR" sz="3500">
              <a:solidFill>
                <a:schemeClr val="bg1"/>
              </a:solidFill>
              <a:cs typeface="Calibri Light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F634C0A-A487-42AF-8DFD-4DAD62FE9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4087640" cy="6858000"/>
            <a:chOff x="1" y="0"/>
            <a:chExt cx="4087640" cy="6858000"/>
          </a:xfrm>
          <a:effectLst>
            <a:outerShdw blurRad="381000" dist="152400" algn="ctr" rotWithShape="0">
              <a:srgbClr val="000000">
                <a:alpha val="10000"/>
              </a:srgb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412B137-E115-42F2-8CF9-67E40B5D2C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0"/>
              <a:ext cx="3986041" cy="6858000"/>
            </a:xfrm>
            <a:custGeom>
              <a:avLst/>
              <a:gdLst>
                <a:gd name="connsiteX0" fmla="*/ 0 w 3986041"/>
                <a:gd name="connsiteY0" fmla="*/ 0 h 6858000"/>
                <a:gd name="connsiteX1" fmla="*/ 3066495 w 3986041"/>
                <a:gd name="connsiteY1" fmla="*/ 0 h 6858000"/>
                <a:gd name="connsiteX2" fmla="*/ 3427241 w 3986041"/>
                <a:gd name="connsiteY2" fmla="*/ 1211943 h 6858000"/>
                <a:gd name="connsiteX3" fmla="*/ 3986041 w 3986041"/>
                <a:gd name="connsiteY3" fmla="*/ 4122057 h 6858000"/>
                <a:gd name="connsiteX4" fmla="*/ 3751724 w 3986041"/>
                <a:gd name="connsiteY4" fmla="*/ 6858000 h 6858000"/>
                <a:gd name="connsiteX5" fmla="*/ 0 w 3986041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6041" h="6858000">
                  <a:moveTo>
                    <a:pt x="0" y="0"/>
                  </a:moveTo>
                  <a:lnTo>
                    <a:pt x="3066495" y="0"/>
                  </a:lnTo>
                  <a:lnTo>
                    <a:pt x="3427241" y="1211943"/>
                  </a:lnTo>
                  <a:lnTo>
                    <a:pt x="3986041" y="4122057"/>
                  </a:lnTo>
                  <a:lnTo>
                    <a:pt x="3751724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779E94B-3A8C-4695-9DA1-2EDEFB170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748588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" name="Image 4" descr="Une image contenant texte, personne, homme, habillé&#10;&#10;Description générée automatiquement">
            <a:extLst>
              <a:ext uri="{FF2B5EF4-FFF2-40B4-BE49-F238E27FC236}">
                <a16:creationId xmlns:a16="http://schemas.microsoft.com/office/drawing/2014/main" id="{8C5F7094-669A-EEA1-20B9-9C712A320D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149"/>
          <a:stretch/>
        </p:blipFill>
        <p:spPr>
          <a:xfrm>
            <a:off x="20" y="10"/>
            <a:ext cx="3910064" cy="6857990"/>
          </a:xfrm>
          <a:custGeom>
            <a:avLst/>
            <a:gdLst/>
            <a:ahLst/>
            <a:cxnLst/>
            <a:rect l="l" t="t" r="r" b="b"/>
            <a:pathLst>
              <a:path w="3910084" h="6858000">
                <a:moveTo>
                  <a:pt x="0" y="0"/>
                </a:moveTo>
                <a:lnTo>
                  <a:pt x="2996382" y="0"/>
                </a:lnTo>
                <a:lnTo>
                  <a:pt x="3563333" y="1750276"/>
                </a:lnTo>
                <a:lnTo>
                  <a:pt x="3910084" y="6054385"/>
                </a:lnTo>
                <a:lnTo>
                  <a:pt x="379130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66EE5A2-0D35-4D6A-A5C7-1CA91F740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48589" y="0"/>
            <a:ext cx="1339053" cy="6858000"/>
            <a:chOff x="2661507" y="0"/>
            <a:chExt cx="1339053" cy="6858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DFBB771-C61C-4F38-ABBB-98A2D8476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61507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2432BD6-3DCC-4397-BD7F-3FE84F3210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61507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6AA1647-0DA6-4A17-B3E1-95D61BD54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8104360" y="0"/>
            <a:ext cx="4087640" cy="6858000"/>
            <a:chOff x="1" y="0"/>
            <a:chExt cx="4087640" cy="6858000"/>
          </a:xfrm>
          <a:effectLst>
            <a:outerShdw blurRad="381000" dist="152400" algn="ctr" rotWithShape="0">
              <a:srgbClr val="000000">
                <a:alpha val="10000"/>
              </a:srgbClr>
            </a:outerShdw>
          </a:effectLst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F1D8352-2F00-4057-8781-E455C455B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0"/>
              <a:ext cx="3986041" cy="6858000"/>
            </a:xfrm>
            <a:custGeom>
              <a:avLst/>
              <a:gdLst>
                <a:gd name="connsiteX0" fmla="*/ 0 w 3986041"/>
                <a:gd name="connsiteY0" fmla="*/ 0 h 6858000"/>
                <a:gd name="connsiteX1" fmla="*/ 3066495 w 3986041"/>
                <a:gd name="connsiteY1" fmla="*/ 0 h 6858000"/>
                <a:gd name="connsiteX2" fmla="*/ 3427241 w 3986041"/>
                <a:gd name="connsiteY2" fmla="*/ 1211943 h 6858000"/>
                <a:gd name="connsiteX3" fmla="*/ 3986041 w 3986041"/>
                <a:gd name="connsiteY3" fmla="*/ 4122057 h 6858000"/>
                <a:gd name="connsiteX4" fmla="*/ 3751724 w 3986041"/>
                <a:gd name="connsiteY4" fmla="*/ 6858000 h 6858000"/>
                <a:gd name="connsiteX5" fmla="*/ 0 w 3986041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6041" h="6858000">
                  <a:moveTo>
                    <a:pt x="0" y="0"/>
                  </a:moveTo>
                  <a:lnTo>
                    <a:pt x="3066495" y="0"/>
                  </a:lnTo>
                  <a:lnTo>
                    <a:pt x="3427241" y="1211943"/>
                  </a:lnTo>
                  <a:lnTo>
                    <a:pt x="3986041" y="4122057"/>
                  </a:lnTo>
                  <a:lnTo>
                    <a:pt x="3751724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BE70D92-7E07-4A6F-BD82-729F71C268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748588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Image 5" descr="Une image contenant diagramme&#10;&#10;Description générée automatiquement">
            <a:extLst>
              <a:ext uri="{FF2B5EF4-FFF2-40B4-BE49-F238E27FC236}">
                <a16:creationId xmlns:a16="http://schemas.microsoft.com/office/drawing/2014/main" id="{201C56D8-F7A2-FEF8-FC67-9ED5A9CD4E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556" r="5531"/>
          <a:stretch/>
        </p:blipFill>
        <p:spPr>
          <a:xfrm>
            <a:off x="8281916" y="1"/>
            <a:ext cx="3910084" cy="6858000"/>
          </a:xfrm>
          <a:custGeom>
            <a:avLst/>
            <a:gdLst/>
            <a:ahLst/>
            <a:cxnLst/>
            <a:rect l="l" t="t" r="r" b="b"/>
            <a:pathLst>
              <a:path w="3910084" h="6858000">
                <a:moveTo>
                  <a:pt x="118775" y="0"/>
                </a:moveTo>
                <a:lnTo>
                  <a:pt x="3910084" y="0"/>
                </a:lnTo>
                <a:lnTo>
                  <a:pt x="3910084" y="6858000"/>
                </a:lnTo>
                <a:lnTo>
                  <a:pt x="913702" y="6858000"/>
                </a:lnTo>
                <a:lnTo>
                  <a:pt x="346751" y="5107724"/>
                </a:lnTo>
                <a:lnTo>
                  <a:pt x="0" y="803615"/>
                </a:lnTo>
                <a:close/>
              </a:path>
            </a:pathLst>
          </a:cu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08D20F07-CD49-4F17-BC00-9429DA80C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8104359" y="-2"/>
            <a:ext cx="1339053" cy="6858000"/>
            <a:chOff x="2661507" y="0"/>
            <a:chExt cx="1339053" cy="6858000"/>
          </a:xfrm>
          <a:effectLst>
            <a:outerShdw blurRad="381000" dist="152400" dir="10800000" algn="r" rotWithShape="0">
              <a:prstClr val="black">
                <a:alpha val="10000"/>
              </a:prstClr>
            </a:outerShdw>
          </a:effectLst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1F66703-4D0D-42DF-8150-991FE9F8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61507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96840F9-95E6-4C98-BFE4-21B595423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61507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ZoneTexte 2">
            <a:extLst>
              <a:ext uri="{FF2B5EF4-FFF2-40B4-BE49-F238E27FC236}">
                <a16:creationId xmlns:a16="http://schemas.microsoft.com/office/drawing/2014/main" id="{B51FDD3E-7D88-7745-FF67-B917D5D7BE8A}"/>
              </a:ext>
            </a:extLst>
          </p:cNvPr>
          <p:cNvSpPr txBox="1"/>
          <p:nvPr/>
        </p:nvSpPr>
        <p:spPr>
          <a:xfrm>
            <a:off x="4379309" y="6402551"/>
            <a:ext cx="442485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>
                <a:solidFill>
                  <a:srgbClr val="FFFFFF"/>
                </a:solidFill>
                <a:ea typeface="+mn-lt"/>
                <a:cs typeface="+mn-lt"/>
              </a:rPr>
              <a:t>Par : Chris, </a:t>
            </a:r>
            <a:r>
              <a:rPr lang="fr-FR" dirty="0" err="1">
                <a:solidFill>
                  <a:srgbClr val="FFFFFF"/>
                </a:solidFill>
                <a:ea typeface="+mn-lt"/>
                <a:cs typeface="+mn-lt"/>
              </a:rPr>
              <a:t>Anca</a:t>
            </a:r>
            <a:r>
              <a:rPr lang="fr-FR" dirty="0">
                <a:solidFill>
                  <a:srgbClr val="FFFFFF"/>
                </a:solidFill>
                <a:ea typeface="+mn-lt"/>
                <a:cs typeface="+mn-lt"/>
              </a:rPr>
              <a:t>, Cassandra et Johanne.</a:t>
            </a:r>
            <a:endParaRPr lang="fr-FR" dirty="0">
              <a:solidFill>
                <a:srgbClr val="FFFFFF"/>
              </a:solidFill>
            </a:endParaRPr>
          </a:p>
          <a:p>
            <a:pPr algn="l"/>
            <a:endParaRPr lang="fr-FR" dirty="0">
              <a:solidFill>
                <a:srgbClr val="FFFFFF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3" descr="Seul dans la foule">
            <a:extLst>
              <a:ext uri="{FF2B5EF4-FFF2-40B4-BE49-F238E27FC236}">
                <a16:creationId xmlns:a16="http://schemas.microsoft.com/office/drawing/2014/main" id="{C2E007FC-8AE3-D387-9A12-C1F351462F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8131" r="-2" b="16868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2778145-058A-4385-8D81-9AB237555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Présentation des membres d'équipes</a:t>
            </a:r>
          </a:p>
        </p:txBody>
      </p:sp>
    </p:spTree>
    <p:extLst>
      <p:ext uri="{BB962C8B-B14F-4D97-AF65-F5344CB8AC3E}">
        <p14:creationId xmlns:p14="http://schemas.microsoft.com/office/powerpoint/2010/main" val="19860116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4" descr="Paysage d’une tempête sur une batterie de serveurs">
            <a:extLst>
              <a:ext uri="{FF2B5EF4-FFF2-40B4-BE49-F238E27FC236}">
                <a16:creationId xmlns:a16="http://schemas.microsoft.com/office/drawing/2014/main" id="{30682672-2984-1C22-03E9-4E38BA5911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2" b="-5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BA2557-20BF-BA51-644C-257C84799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Approfondissement du sujet</a:t>
            </a:r>
          </a:p>
        </p:txBody>
      </p:sp>
    </p:spTree>
    <p:extLst>
      <p:ext uri="{BB962C8B-B14F-4D97-AF65-F5344CB8AC3E}">
        <p14:creationId xmlns:p14="http://schemas.microsoft.com/office/powerpoint/2010/main" val="3560943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19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ierres blanches équilibrées en pile">
            <a:extLst>
              <a:ext uri="{FF2B5EF4-FFF2-40B4-BE49-F238E27FC236}">
                <a16:creationId xmlns:a16="http://schemas.microsoft.com/office/drawing/2014/main" id="{421FCCC9-E8C2-1BA7-9492-41E52A8ADC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289" t="909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33" name="Rectangle 21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AED7755-4AE8-4E1D-EACA-B0FC5445C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/>
              <a:t>Élement en commun entre Huis clos et Le dieu du carnage</a:t>
            </a:r>
          </a:p>
        </p:txBody>
      </p:sp>
      <p:sp>
        <p:nvSpPr>
          <p:cNvPr id="34" name="Rectangle 2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Rectangle 2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DEF3A78-758D-D37F-E259-457CF3E48D5D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Thèmes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Contexte-sociohistorique</a:t>
            </a:r>
          </a:p>
        </p:txBody>
      </p:sp>
    </p:spTree>
    <p:extLst>
      <p:ext uri="{BB962C8B-B14F-4D97-AF65-F5344CB8AC3E}">
        <p14:creationId xmlns:p14="http://schemas.microsoft.com/office/powerpoint/2010/main" val="22794421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lèches pointant vers la droite tandis qu'une pointe vers la gauche">
            <a:extLst>
              <a:ext uri="{FF2B5EF4-FFF2-40B4-BE49-F238E27FC236}">
                <a16:creationId xmlns:a16="http://schemas.microsoft.com/office/drawing/2014/main" id="{E807907F-F73F-BCA1-FF40-432153210D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89" r="-2" b="11014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C49841B-4DA5-51E2-18EB-FB70CB08D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 err="1">
                <a:solidFill>
                  <a:srgbClr val="FFFFFF"/>
                </a:solidFill>
              </a:rPr>
              <a:t>Comparaison</a:t>
            </a:r>
            <a:r>
              <a:rPr lang="en-US" sz="5200" dirty="0">
                <a:solidFill>
                  <a:srgbClr val="FFFFFF"/>
                </a:solidFill>
              </a:rPr>
              <a:t> des critiques reçues</a:t>
            </a:r>
          </a:p>
        </p:txBody>
      </p:sp>
    </p:spTree>
    <p:extLst>
      <p:ext uri="{BB962C8B-B14F-4D97-AF65-F5344CB8AC3E}">
        <p14:creationId xmlns:p14="http://schemas.microsoft.com/office/powerpoint/2010/main" val="2999435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716F42E0-28DF-4093-AFC5-CA01F54C8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4" descr="Lunettes au-dessus d’un livre">
            <a:extLst>
              <a:ext uri="{FF2B5EF4-FFF2-40B4-BE49-F238E27FC236}">
                <a16:creationId xmlns:a16="http://schemas.microsoft.com/office/drawing/2014/main" id="{08487BD5-6CE8-00DD-A665-64824AD9D1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175" r="-2" b="5867"/>
          <a:stretch/>
        </p:blipFill>
        <p:spPr>
          <a:xfrm>
            <a:off x="3" y="-22"/>
            <a:ext cx="12191997" cy="6858022"/>
          </a:xfrm>
          <a:prstGeom prst="rect">
            <a:avLst/>
          </a:prstGeom>
        </p:spPr>
      </p:pic>
      <p:sp>
        <p:nvSpPr>
          <p:cNvPr id="19" name="Rectangle 10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206190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2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37374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F6F2300-BCF4-F006-18F9-18BB3134E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6" y="728897"/>
            <a:ext cx="5452529" cy="37286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5200">
                <a:solidFill>
                  <a:srgbClr val="FFFFFF"/>
                </a:solidFill>
              </a:rPr>
              <a:t>Présentation des citations</a:t>
            </a:r>
          </a:p>
        </p:txBody>
      </p:sp>
    </p:spTree>
    <p:extLst>
      <p:ext uri="{BB962C8B-B14F-4D97-AF65-F5344CB8AC3E}">
        <p14:creationId xmlns:p14="http://schemas.microsoft.com/office/powerpoint/2010/main" val="2496662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DF3A5735-A602-0F2E-8021-1EB75F66B5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r="-2" b="15603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7EE9B34-6957-A21F-5B5A-CBFFDDD5E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9694291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4" descr="Point d’exclamation sur un arrière-plan jaune">
            <a:extLst>
              <a:ext uri="{FF2B5EF4-FFF2-40B4-BE49-F238E27FC236}">
                <a16:creationId xmlns:a16="http://schemas.microsoft.com/office/drawing/2014/main" id="{56CFD8D2-F148-7BCE-2E03-B2F23A5F83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92" t="31820" r="-7" b="-7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6" name="Rectangle 10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AD4D045-2CB3-E8AA-E442-6A52DD04F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/>
              <a:t>Merci de l'écoute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6038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Présentation orale sur Les similitudes entre Huis clos et Le dieu du carnage. </vt:lpstr>
      <vt:lpstr>Présentation des membres d'équipes</vt:lpstr>
      <vt:lpstr>Approfondissement du sujet</vt:lpstr>
      <vt:lpstr>Élement en commun entre Huis clos et Le dieu du carnage</vt:lpstr>
      <vt:lpstr>Comparaison des critiques reçues</vt:lpstr>
      <vt:lpstr>Présentation des citations</vt:lpstr>
      <vt:lpstr>Conclusion</vt:lpstr>
      <vt:lpstr>Merci de l'écoute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/>
  <cp:lastModifiedBy/>
  <cp:revision>77</cp:revision>
  <dcterms:created xsi:type="dcterms:W3CDTF">2023-04-26T17:49:47Z</dcterms:created>
  <dcterms:modified xsi:type="dcterms:W3CDTF">2023-04-26T18:23:14Z</dcterms:modified>
</cp:coreProperties>
</file>