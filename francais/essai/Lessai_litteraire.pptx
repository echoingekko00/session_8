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1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D617-CE24-471F-8BE9-D6250C92ADD1}" type="datetimeFigureOut">
              <a:rPr lang="fr-CA" smtClean="0"/>
              <a:t>2016-09-14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17B3A-407C-4F88-80FB-9D2967F35C7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34960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D617-CE24-471F-8BE9-D6250C92ADD1}" type="datetimeFigureOut">
              <a:rPr lang="fr-CA" smtClean="0"/>
              <a:t>2016-09-14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17B3A-407C-4F88-80FB-9D2967F35C7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971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D617-CE24-471F-8BE9-D6250C92ADD1}" type="datetimeFigureOut">
              <a:rPr lang="fr-CA" smtClean="0"/>
              <a:t>2016-09-14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17B3A-407C-4F88-80FB-9D2967F35C7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88344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D617-CE24-471F-8BE9-D6250C92ADD1}" type="datetimeFigureOut">
              <a:rPr lang="fr-CA" smtClean="0"/>
              <a:t>2016-09-14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17B3A-407C-4F88-80FB-9D2967F35C7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94097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D617-CE24-471F-8BE9-D6250C92ADD1}" type="datetimeFigureOut">
              <a:rPr lang="fr-CA" smtClean="0"/>
              <a:t>2016-09-14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17B3A-407C-4F88-80FB-9D2967F35C7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37254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D617-CE24-471F-8BE9-D6250C92ADD1}" type="datetimeFigureOut">
              <a:rPr lang="fr-CA" smtClean="0"/>
              <a:t>2016-09-14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17B3A-407C-4F88-80FB-9D2967F35C7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847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D617-CE24-471F-8BE9-D6250C92ADD1}" type="datetimeFigureOut">
              <a:rPr lang="fr-CA" smtClean="0"/>
              <a:t>2016-09-14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17B3A-407C-4F88-80FB-9D2967F35C7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28615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D617-CE24-471F-8BE9-D6250C92ADD1}" type="datetimeFigureOut">
              <a:rPr lang="fr-CA" smtClean="0"/>
              <a:t>2016-09-14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17B3A-407C-4F88-80FB-9D2967F35C7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7737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D617-CE24-471F-8BE9-D6250C92ADD1}" type="datetimeFigureOut">
              <a:rPr lang="fr-CA" smtClean="0"/>
              <a:t>2016-09-14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17B3A-407C-4F88-80FB-9D2967F35C7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4991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D617-CE24-471F-8BE9-D6250C92ADD1}" type="datetimeFigureOut">
              <a:rPr lang="fr-CA" smtClean="0"/>
              <a:t>2016-09-14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17B3A-407C-4F88-80FB-9D2967F35C7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82500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D617-CE24-471F-8BE9-D6250C92ADD1}" type="datetimeFigureOut">
              <a:rPr lang="fr-CA" smtClean="0"/>
              <a:t>2016-09-14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17B3A-407C-4F88-80FB-9D2967F35C77}" type="slidenum">
              <a:rPr lang="fr-CA" smtClean="0"/>
              <a:t>‹N°›</a:t>
            </a:fld>
            <a:endParaRPr lang="fr-CA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1981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D617-CE24-471F-8BE9-D6250C92ADD1}" type="datetimeFigureOut">
              <a:rPr lang="fr-CA" smtClean="0"/>
              <a:t>2016-09-14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17B3A-407C-4F88-80FB-9D2967F35C7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663533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D617-CE24-471F-8BE9-D6250C92ADD1}" type="datetimeFigureOut">
              <a:rPr lang="fr-CA" smtClean="0"/>
              <a:t>2016-09-14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17B3A-407C-4F88-80FB-9D2967F35C77}" type="slidenum">
              <a:rPr lang="fr-CA" smtClean="0"/>
              <a:t>‹N°›</a:t>
            </a:fld>
            <a:endParaRPr lang="fr-C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785609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D617-CE24-471F-8BE9-D6250C92ADD1}" type="datetimeFigureOut">
              <a:rPr lang="fr-CA" smtClean="0"/>
              <a:t>2016-09-14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17B3A-407C-4F88-80FB-9D2967F35C7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47072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D617-CE24-471F-8BE9-D6250C92ADD1}" type="datetimeFigureOut">
              <a:rPr lang="fr-CA" smtClean="0"/>
              <a:t>2016-09-14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17B3A-407C-4F88-80FB-9D2967F35C7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233871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D617-CE24-471F-8BE9-D6250C92ADD1}" type="datetimeFigureOut">
              <a:rPr lang="fr-CA" smtClean="0"/>
              <a:t>2016-09-14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17B3A-407C-4F88-80FB-9D2967F35C7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4939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6ED617-CE24-471F-8BE9-D6250C92ADD1}" type="datetimeFigureOut">
              <a:rPr lang="fr-CA" smtClean="0"/>
              <a:t>2016-09-14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6C17B3A-407C-4F88-80FB-9D2967F35C7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51261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CA" dirty="0" smtClean="0"/>
              <a:t>L’essai </a:t>
            </a:r>
            <a:r>
              <a:rPr lang="fr-CA" dirty="0" smtClean="0"/>
              <a:t>littéraire</a:t>
            </a:r>
            <a:br>
              <a:rPr lang="fr-CA" dirty="0" smtClean="0"/>
            </a:br>
            <a:r>
              <a:rPr lang="fr-CA" sz="1200" dirty="0" smtClean="0"/>
              <a:t/>
            </a:r>
            <a:br>
              <a:rPr lang="fr-CA" sz="1200" dirty="0" smtClean="0"/>
            </a:br>
            <a:r>
              <a:rPr lang="fr-CA" sz="1200" dirty="0" smtClean="0"/>
              <a:t>Matériel didactique conçu par Élisabeth Désourdy, cégep André-</a:t>
            </a:r>
            <a:r>
              <a:rPr lang="fr-CA" sz="1200" dirty="0" err="1" smtClean="0"/>
              <a:t>Laurendeau</a:t>
            </a:r>
            <a:r>
              <a:rPr lang="fr-CA" sz="1200" dirty="0" smtClean="0"/>
              <a:t>.</a:t>
            </a:r>
            <a:endParaRPr lang="fr-CA" dirty="0"/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295" y="2160588"/>
            <a:ext cx="3693447" cy="3881437"/>
          </a:xfrm>
        </p:spPr>
      </p:pic>
    </p:spTree>
    <p:extLst>
      <p:ext uri="{BB962C8B-B14F-4D97-AF65-F5344CB8AC3E}">
        <p14:creationId xmlns:p14="http://schemas.microsoft.com/office/powerpoint/2010/main" val="3534219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CA" b="1" dirty="0" smtClean="0"/>
              <a:t>Qu’est-ce qu’un essai?</a:t>
            </a:r>
            <a:endParaRPr lang="fr-CA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fr-CA" sz="4000" dirty="0" smtClean="0"/>
              <a:t>L’essai est un genre littéraire plutôt </a:t>
            </a:r>
            <a:r>
              <a:rPr lang="fr-CA" sz="4000" dirty="0" smtClean="0"/>
              <a:t>libre</a:t>
            </a:r>
            <a:r>
              <a:rPr lang="fr-CA" sz="4000" dirty="0"/>
              <a:t> </a:t>
            </a:r>
            <a:r>
              <a:rPr lang="fr-CA" sz="4000" dirty="0" smtClean="0"/>
              <a:t>qui propose certaines caractéristiques thématiques et stylistiques.</a:t>
            </a:r>
            <a:r>
              <a:rPr lang="fr-CA" sz="4000" dirty="0" smtClean="0"/>
              <a:t> </a:t>
            </a:r>
            <a:endParaRPr lang="fr-CA" sz="4000" dirty="0" smtClean="0"/>
          </a:p>
          <a:p>
            <a:pPr marL="0" indent="0" algn="just">
              <a:buNone/>
            </a:pPr>
            <a:endParaRPr lang="fr-CA" sz="4000" dirty="0"/>
          </a:p>
          <a:p>
            <a:pPr marL="0" indent="0" algn="just">
              <a:buNone/>
            </a:pPr>
            <a:r>
              <a:rPr lang="fr-CA" sz="4000" dirty="0" smtClean="0"/>
              <a:t>Voici donc les grandes lignes.</a:t>
            </a:r>
            <a:endParaRPr lang="fr-CA" sz="4000" dirty="0"/>
          </a:p>
        </p:txBody>
      </p:sp>
    </p:spTree>
    <p:extLst>
      <p:ext uri="{BB962C8B-B14F-4D97-AF65-F5344CB8AC3E}">
        <p14:creationId xmlns:p14="http://schemas.microsoft.com/office/powerpoint/2010/main" val="3047408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CA" b="1" dirty="0" smtClean="0"/>
              <a:t>Contenu (les idées)</a:t>
            </a:r>
            <a:endParaRPr lang="fr-CA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b="1" dirty="0" smtClean="0"/>
              <a:t>L'essai </a:t>
            </a:r>
            <a:r>
              <a:rPr lang="fr-CA" b="1" dirty="0"/>
              <a:t>est </a:t>
            </a:r>
            <a:r>
              <a:rPr lang="fr-CA" b="1" dirty="0" smtClean="0"/>
              <a:t>un genre très personnel</a:t>
            </a:r>
            <a:endParaRPr lang="fr-CA" b="1" dirty="0" smtClean="0"/>
          </a:p>
          <a:p>
            <a:pPr marL="0" indent="0">
              <a:buNone/>
            </a:pPr>
            <a:endParaRPr lang="fr-CA" dirty="0"/>
          </a:p>
          <a:p>
            <a:pPr algn="just"/>
            <a:r>
              <a:rPr lang="fr-CA" dirty="0" err="1" smtClean="0"/>
              <a:t>L‘auteurE</a:t>
            </a:r>
            <a:r>
              <a:rPr lang="fr-CA" dirty="0" smtClean="0"/>
              <a:t> </a:t>
            </a:r>
            <a:r>
              <a:rPr lang="fr-CA" dirty="0"/>
              <a:t>se met en scène dans le texte et il s'adresse à un </a:t>
            </a:r>
            <a:r>
              <a:rPr lang="fr-CA" dirty="0" smtClean="0"/>
              <a:t>lectorat. </a:t>
            </a:r>
          </a:p>
          <a:p>
            <a:pPr algn="just"/>
            <a:r>
              <a:rPr lang="fr-CA" dirty="0" smtClean="0"/>
              <a:t>Il </a:t>
            </a:r>
            <a:r>
              <a:rPr lang="fr-CA" dirty="0"/>
              <a:t>ne s'agit cependant pas d'une autobiographie (texte narratif). </a:t>
            </a:r>
            <a:endParaRPr lang="fr-CA" dirty="0" smtClean="0"/>
          </a:p>
          <a:p>
            <a:pPr algn="just"/>
            <a:r>
              <a:rPr lang="fr-CA" dirty="0" smtClean="0"/>
              <a:t>L'essai </a:t>
            </a:r>
            <a:r>
              <a:rPr lang="fr-CA" dirty="0"/>
              <a:t>est un texte qui propose une réflexion, il expose, </a:t>
            </a:r>
            <a:r>
              <a:rPr lang="fr-CA" dirty="0" smtClean="0"/>
              <a:t>il </a:t>
            </a:r>
            <a:r>
              <a:rPr lang="fr-CA" dirty="0" smtClean="0"/>
              <a:t>analyse</a:t>
            </a:r>
            <a:r>
              <a:rPr lang="fr-CA" dirty="0" smtClean="0"/>
              <a:t>, sans être scientifique et/ou purement objectif</a:t>
            </a:r>
            <a:r>
              <a:rPr lang="fr-CA" dirty="0" smtClean="0"/>
              <a:t>. </a:t>
            </a:r>
          </a:p>
          <a:p>
            <a:pPr algn="just"/>
            <a:r>
              <a:rPr lang="fr-CA" dirty="0" smtClean="0"/>
              <a:t>I</a:t>
            </a:r>
            <a:r>
              <a:rPr lang="fr-CA" dirty="0" smtClean="0"/>
              <a:t>l </a:t>
            </a:r>
            <a:r>
              <a:rPr lang="fr-CA" dirty="0" smtClean="0"/>
              <a:t>amorce une discussion.</a:t>
            </a:r>
            <a:endParaRPr lang="fr-CA" dirty="0"/>
          </a:p>
          <a:p>
            <a:pPr marL="0" indent="0">
              <a:buNone/>
            </a:pPr>
            <a:endParaRPr lang="fr-CA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3650" y="4501375"/>
            <a:ext cx="2114550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259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Intention de communication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b="1" dirty="0" smtClean="0"/>
              <a:t>L'essai veut convaincre ou émouvoir</a:t>
            </a:r>
            <a:endParaRPr lang="fr-CA" dirty="0"/>
          </a:p>
          <a:p>
            <a:pPr algn="just"/>
            <a:r>
              <a:rPr lang="fr-CA" dirty="0" smtClean="0"/>
              <a:t>En </a:t>
            </a:r>
            <a:r>
              <a:rPr lang="fr-CA" dirty="0"/>
              <a:t>ce sens, il se place entre la philosophie et la littérature</a:t>
            </a:r>
            <a:r>
              <a:rPr lang="fr-CA" dirty="0" smtClean="0"/>
              <a:t>. </a:t>
            </a:r>
            <a:endParaRPr lang="fr-CA" dirty="0" smtClean="0"/>
          </a:p>
          <a:p>
            <a:pPr algn="just"/>
            <a:r>
              <a:rPr lang="fr-CA" dirty="0" smtClean="0"/>
              <a:t>Il </a:t>
            </a:r>
            <a:r>
              <a:rPr lang="fr-CA" dirty="0" smtClean="0"/>
              <a:t>tentera d’atteindre son but en proposant des arguments convaincants, en émouvant le lecteur, en le faisant rire, etc.</a:t>
            </a:r>
            <a:endParaRPr lang="fr-CA" dirty="0"/>
          </a:p>
          <a:p>
            <a:pPr marL="0" indent="0" algn="just">
              <a:buNone/>
            </a:pPr>
            <a:endParaRPr lang="fr-CA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8966" y="3724150"/>
            <a:ext cx="4871921" cy="279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94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Communication « bidirectionnelle »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b="1" dirty="0" smtClean="0"/>
              <a:t>L'essai </a:t>
            </a:r>
            <a:r>
              <a:rPr lang="fr-CA" b="1" dirty="0"/>
              <a:t>propose une discussion d'idées</a:t>
            </a:r>
            <a:endParaRPr lang="fr-CA" dirty="0"/>
          </a:p>
          <a:p>
            <a:pPr marL="0" indent="0" algn="just">
              <a:buNone/>
            </a:pPr>
            <a:r>
              <a:rPr lang="fr-CA" dirty="0" smtClean="0"/>
              <a:t>En effet, comme il amorce une </a:t>
            </a:r>
            <a:r>
              <a:rPr lang="fr-CA" dirty="0" smtClean="0"/>
              <a:t>discussion, </a:t>
            </a:r>
            <a:r>
              <a:rPr lang="fr-CA" dirty="0"/>
              <a:t>il </a:t>
            </a:r>
            <a:r>
              <a:rPr lang="fr-CA" dirty="0" smtClean="0"/>
              <a:t>propose </a:t>
            </a:r>
            <a:r>
              <a:rPr lang="fr-CA" dirty="0"/>
              <a:t>une </a:t>
            </a:r>
            <a:r>
              <a:rPr lang="fr-CA" dirty="0" smtClean="0"/>
              <a:t>réflexion</a:t>
            </a:r>
            <a:r>
              <a:rPr lang="fr-CA" dirty="0" smtClean="0"/>
              <a:t> </a:t>
            </a:r>
            <a:r>
              <a:rPr lang="fr-CA" dirty="0" smtClean="0"/>
              <a:t>qui laisse une </a:t>
            </a:r>
            <a:r>
              <a:rPr lang="fr-CA" dirty="0" smtClean="0"/>
              <a:t>place </a:t>
            </a:r>
            <a:r>
              <a:rPr lang="fr-CA" dirty="0" smtClean="0"/>
              <a:t>au </a:t>
            </a:r>
            <a:r>
              <a:rPr lang="fr-CA" dirty="0" smtClean="0"/>
              <a:t>lectorat </a:t>
            </a:r>
            <a:r>
              <a:rPr lang="fr-CA" dirty="0" smtClean="0"/>
              <a:t>ou, plus précisément, </a:t>
            </a:r>
            <a:r>
              <a:rPr lang="fr-CA" dirty="0" smtClean="0"/>
              <a:t>à son interprétation, sa propre perspective.</a:t>
            </a:r>
            <a:endParaRPr lang="fr-CA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186" y="3548915"/>
            <a:ext cx="6693209" cy="311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382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Thématique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CA" b="1" dirty="0" smtClean="0"/>
              <a:t>L'essai </a:t>
            </a:r>
            <a:r>
              <a:rPr lang="fr-CA" b="1" dirty="0"/>
              <a:t>s'interroge sur un problème existentiel</a:t>
            </a:r>
            <a:endParaRPr lang="fr-CA" dirty="0"/>
          </a:p>
          <a:p>
            <a:pPr algn="just"/>
            <a:r>
              <a:rPr lang="fr-CA" dirty="0"/>
              <a:t>L'essai est une </a:t>
            </a:r>
            <a:r>
              <a:rPr lang="fr-CA" dirty="0" smtClean="0"/>
              <a:t>étude</a:t>
            </a:r>
            <a:r>
              <a:rPr lang="fr-CA" dirty="0" smtClean="0"/>
              <a:t> </a:t>
            </a:r>
            <a:r>
              <a:rPr lang="fr-CA" dirty="0"/>
              <a:t>des grandes questions de la vie: l'amour, la mort</a:t>
            </a:r>
            <a:r>
              <a:rPr lang="fr-CA" dirty="0" smtClean="0"/>
              <a:t>, </a:t>
            </a:r>
            <a:r>
              <a:rPr lang="fr-CA" dirty="0"/>
              <a:t>le pouvoir, l'autre, la </a:t>
            </a:r>
            <a:r>
              <a:rPr lang="fr-CA" dirty="0" smtClean="0"/>
              <a:t>justice, la vie en société, etc.  </a:t>
            </a:r>
            <a:endParaRPr lang="fr-CA" dirty="0" smtClean="0"/>
          </a:p>
          <a:p>
            <a:pPr algn="just"/>
            <a:r>
              <a:rPr lang="fr-CA" dirty="0" smtClean="0"/>
              <a:t>On </a:t>
            </a:r>
            <a:r>
              <a:rPr lang="fr-CA" dirty="0" smtClean="0"/>
              <a:t>y sent une </a:t>
            </a:r>
            <a:r>
              <a:rPr lang="fr-CA" dirty="0"/>
              <a:t>volonté de trouver des réponses aux </a:t>
            </a:r>
            <a:r>
              <a:rPr lang="fr-CA" dirty="0" smtClean="0"/>
              <a:t>questionnements</a:t>
            </a:r>
            <a:r>
              <a:rPr lang="fr-CA" dirty="0" smtClean="0"/>
              <a:t> </a:t>
            </a:r>
            <a:r>
              <a:rPr lang="fr-CA" dirty="0"/>
              <a:t>existentiels que </a:t>
            </a:r>
            <a:r>
              <a:rPr lang="fr-CA" dirty="0" smtClean="0"/>
              <a:t>nous nous posons tous. </a:t>
            </a:r>
          </a:p>
          <a:p>
            <a:pPr marL="0" indent="0" algn="just">
              <a:buNone/>
            </a:pPr>
            <a:endParaRPr lang="fr-CA" dirty="0"/>
          </a:p>
          <a:p>
            <a:pPr marL="0" indent="0" algn="just">
              <a:buNone/>
            </a:pPr>
            <a:r>
              <a:rPr lang="fr-CA" dirty="0" smtClean="0"/>
              <a:t>Attention:</a:t>
            </a:r>
          </a:p>
          <a:p>
            <a:pPr marL="0" indent="0" algn="just">
              <a:buNone/>
            </a:pPr>
            <a:r>
              <a:rPr lang="fr-CA" dirty="0" smtClean="0"/>
              <a:t>L’essai est un lieu de questionnement et non de réponse!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750256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Structure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b="1" dirty="0" smtClean="0"/>
              <a:t>L'essai </a:t>
            </a:r>
            <a:r>
              <a:rPr lang="fr-CA" b="1" dirty="0"/>
              <a:t>aborde </a:t>
            </a:r>
            <a:r>
              <a:rPr lang="fr-CA" b="1" dirty="0" smtClean="0"/>
              <a:t>son</a:t>
            </a:r>
            <a:r>
              <a:rPr lang="fr-CA" b="1" dirty="0" smtClean="0"/>
              <a:t> </a:t>
            </a:r>
            <a:r>
              <a:rPr lang="fr-CA" b="1" dirty="0"/>
              <a:t>sujet sous plusieurs points de vue</a:t>
            </a:r>
            <a:endParaRPr lang="fr-CA" dirty="0"/>
          </a:p>
          <a:p>
            <a:pPr algn="just"/>
            <a:r>
              <a:rPr lang="fr-CA" dirty="0"/>
              <a:t>Il </a:t>
            </a:r>
            <a:r>
              <a:rPr lang="fr-CA" dirty="0" smtClean="0"/>
              <a:t>peut contenir des citations </a:t>
            </a:r>
            <a:r>
              <a:rPr lang="fr-CA" dirty="0" smtClean="0"/>
              <a:t>pertinentes; </a:t>
            </a:r>
          </a:p>
          <a:p>
            <a:pPr algn="just"/>
            <a:r>
              <a:rPr lang="fr-CA" dirty="0"/>
              <a:t>I</a:t>
            </a:r>
            <a:r>
              <a:rPr lang="fr-CA" dirty="0" smtClean="0"/>
              <a:t>l </a:t>
            </a:r>
            <a:r>
              <a:rPr lang="fr-CA" dirty="0"/>
              <a:t>ouvre un maximum d'angles </a:t>
            </a:r>
            <a:r>
              <a:rPr lang="fr-CA" dirty="0" smtClean="0"/>
              <a:t>« d’attaque », </a:t>
            </a:r>
            <a:r>
              <a:rPr lang="fr-CA" dirty="0" smtClean="0"/>
              <a:t>ce qui ajoute de la crédibilité au </a:t>
            </a:r>
            <a:r>
              <a:rPr lang="fr-CA" dirty="0" smtClean="0"/>
              <a:t>propos; </a:t>
            </a:r>
          </a:p>
          <a:p>
            <a:pPr algn="just"/>
            <a:r>
              <a:rPr lang="fr-CA" dirty="0" smtClean="0"/>
              <a:t>Il utilise une</a:t>
            </a:r>
            <a:r>
              <a:rPr lang="fr-CA" dirty="0" smtClean="0"/>
              <a:t> pensée plutôt libre </a:t>
            </a:r>
            <a:r>
              <a:rPr lang="fr-CA" dirty="0" smtClean="0"/>
              <a:t>mais structurée et </a:t>
            </a:r>
            <a:r>
              <a:rPr lang="fr-CA" dirty="0" smtClean="0"/>
              <a:t>bien réfléchie</a:t>
            </a:r>
            <a:r>
              <a:rPr lang="fr-CA" dirty="0" smtClean="0"/>
              <a:t>.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9094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b="1" dirty="0" smtClean="0"/>
              <a:t>Structure</a:t>
            </a:r>
            <a:endParaRPr lang="fr-CA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 smtClean="0"/>
              <a:t>Comme </a:t>
            </a:r>
            <a:r>
              <a:rPr lang="fr-CA" dirty="0" smtClean="0"/>
              <a:t>point de départ, il utilise une anecdote, une citation, un proverbe, un fait historique connu, etc. Ceci lui permet de prendre contact avec le </a:t>
            </a:r>
            <a:r>
              <a:rPr lang="fr-CA" dirty="0" smtClean="0"/>
              <a:t>lectorat et </a:t>
            </a:r>
            <a:r>
              <a:rPr lang="fr-CA" dirty="0" smtClean="0"/>
              <a:t>d’afficher ses couleurs dès le début</a:t>
            </a:r>
            <a:r>
              <a:rPr lang="fr-CA" dirty="0" smtClean="0"/>
              <a:t>.</a:t>
            </a:r>
          </a:p>
          <a:p>
            <a:r>
              <a:rPr lang="fr-CA" dirty="0" smtClean="0"/>
              <a:t>Il amorce ensuite sa réflexion. La structure dépendra de la façon de penser de l’auteur. Il n’existe pas de modèle strict. </a:t>
            </a:r>
            <a:endParaRPr lang="fr-CA" dirty="0" smtClean="0"/>
          </a:p>
          <a:p>
            <a:r>
              <a:rPr lang="fr-CA" dirty="0"/>
              <a:t>De nos jours, plusieurs essais intègrent aussi </a:t>
            </a:r>
            <a:r>
              <a:rPr lang="fr-CA" dirty="0" smtClean="0"/>
              <a:t>des </a:t>
            </a:r>
            <a:r>
              <a:rPr lang="fr-CA" dirty="0"/>
              <a:t>outils visuels : photographies, graphiques, schémas, grilles, caricatures, illustrations, etc. </a:t>
            </a:r>
          </a:p>
          <a:p>
            <a:pPr marL="0" indent="0">
              <a:buNone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958810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CA" b="1" dirty="0" smtClean="0"/>
              <a:t>Des exemples à travers l’histoire littéraire</a:t>
            </a:r>
            <a:endParaRPr lang="fr-CA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dirty="0"/>
              <a:t> les </a:t>
            </a:r>
            <a:r>
              <a:rPr lang="fr-CA" i="1" dirty="0"/>
              <a:t>Dialogues</a:t>
            </a:r>
            <a:r>
              <a:rPr lang="fr-CA" dirty="0"/>
              <a:t> de </a:t>
            </a:r>
            <a:r>
              <a:rPr lang="fr-CA" dirty="0" smtClean="0"/>
              <a:t>Platon (Antiquité)</a:t>
            </a:r>
          </a:p>
          <a:p>
            <a:pPr marL="0" indent="0">
              <a:buNone/>
            </a:pPr>
            <a:endParaRPr lang="fr-CA" dirty="0" smtClean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671762"/>
            <a:ext cx="5581650" cy="4186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228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i="1" dirty="0" smtClean="0"/>
              <a:t>Essais</a:t>
            </a:r>
            <a:r>
              <a:rPr lang="fr-CA" dirty="0" smtClean="0"/>
              <a:t>, Michel de Montaigne (Renaissance)</a:t>
            </a:r>
          </a:p>
          <a:p>
            <a:endParaRPr lang="fr-CA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0" y="2552700"/>
            <a:ext cx="4096781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008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 smtClean="0"/>
              <a:t>Essai sur les goûts, Montesquieu (XVIII</a:t>
            </a:r>
            <a:r>
              <a:rPr lang="fr-CA" baseline="30000" dirty="0" smtClean="0"/>
              <a:t>e</a:t>
            </a:r>
            <a:r>
              <a:rPr lang="fr-CA" dirty="0" smtClean="0"/>
              <a:t> siècle)</a:t>
            </a:r>
          </a:p>
          <a:p>
            <a:endParaRPr lang="fr-CA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3850" y="2728251"/>
            <a:ext cx="2895600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015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i="1" dirty="0" smtClean="0"/>
              <a:t>Essai de Mythologie</a:t>
            </a:r>
            <a:r>
              <a:rPr lang="fr-CA" dirty="0" smtClean="0"/>
              <a:t>, Nietzsche (XIX</a:t>
            </a:r>
            <a:r>
              <a:rPr lang="fr-CA" baseline="30000" dirty="0" smtClean="0"/>
              <a:t>e</a:t>
            </a:r>
            <a:r>
              <a:rPr lang="fr-CA" dirty="0" smtClean="0"/>
              <a:t> siècle)</a:t>
            </a:r>
          </a:p>
          <a:p>
            <a:endParaRPr lang="fr-CA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1230" y="2782599"/>
            <a:ext cx="3192020" cy="348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910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i="1" dirty="0" smtClean="0"/>
              <a:t>Le Deuxième sexe</a:t>
            </a:r>
            <a:r>
              <a:rPr lang="fr-CA" dirty="0" smtClean="0"/>
              <a:t>, Simone de Beauvoir (XXe siècle)</a:t>
            </a:r>
          </a:p>
          <a:p>
            <a:endParaRPr lang="fr-CA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6237" y="2744860"/>
            <a:ext cx="2824163" cy="352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095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 smtClean="0"/>
              <a:t>Ta-</a:t>
            </a:r>
            <a:r>
              <a:rPr lang="fr-CA" dirty="0" err="1" smtClean="0"/>
              <a:t>Nehisi</a:t>
            </a:r>
            <a:r>
              <a:rPr lang="fr-CA" dirty="0" smtClean="0"/>
              <a:t> </a:t>
            </a:r>
            <a:r>
              <a:rPr lang="fr-CA" dirty="0" err="1" smtClean="0"/>
              <a:t>Coates</a:t>
            </a:r>
            <a:r>
              <a:rPr lang="fr-CA" dirty="0" smtClean="0"/>
              <a:t>, </a:t>
            </a:r>
            <a:r>
              <a:rPr lang="fr-CA" i="1" dirty="0" smtClean="0"/>
              <a:t>Une colère noire </a:t>
            </a:r>
            <a:r>
              <a:rPr lang="fr-CA" dirty="0" smtClean="0"/>
              <a:t>(traduction de </a:t>
            </a:r>
            <a:r>
              <a:rPr lang="fr-CA" i="1" dirty="0" err="1" smtClean="0"/>
              <a:t>Between</a:t>
            </a:r>
            <a:r>
              <a:rPr lang="fr-CA" i="1" dirty="0" smtClean="0"/>
              <a:t> the world and me</a:t>
            </a:r>
            <a:r>
              <a:rPr lang="fr-CA" dirty="0" smtClean="0"/>
              <a:t>)</a:t>
            </a:r>
            <a:endParaRPr lang="fr-CA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853" y="2160588"/>
            <a:ext cx="6900332" cy="3881437"/>
          </a:xfrm>
        </p:spPr>
      </p:pic>
    </p:spTree>
    <p:extLst>
      <p:ext uri="{BB962C8B-B14F-4D97-AF65-F5344CB8AC3E}">
        <p14:creationId xmlns:p14="http://schemas.microsoft.com/office/powerpoint/2010/main" val="2950905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À propos de l’auteur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 smtClean="0"/>
              <a:t>Il est né à Baltimore en 1975.</a:t>
            </a:r>
          </a:p>
          <a:p>
            <a:r>
              <a:rPr lang="fr-CA" dirty="0" smtClean="0"/>
              <a:t>Il fait d’abord carrière comme journaliste, puis publie des essais. Son premier (2008) s’intitule </a:t>
            </a:r>
            <a:r>
              <a:rPr lang="fr-CA" i="1" dirty="0" smtClean="0"/>
              <a:t>The </a:t>
            </a:r>
            <a:r>
              <a:rPr lang="fr-CA" i="1" dirty="0" err="1" smtClean="0"/>
              <a:t>Beautiful</a:t>
            </a:r>
            <a:r>
              <a:rPr lang="fr-CA" i="1" dirty="0" smtClean="0"/>
              <a:t> struggle </a:t>
            </a:r>
            <a:r>
              <a:rPr lang="fr-CA" dirty="0" smtClean="0"/>
              <a:t>(</a:t>
            </a:r>
            <a:r>
              <a:rPr lang="fr-CA" i="1" dirty="0" smtClean="0"/>
              <a:t>Le magnifique combat</a:t>
            </a:r>
            <a:r>
              <a:rPr lang="fr-CA" dirty="0" smtClean="0"/>
              <a:t>) et raconte son enfance dans un des quartiers les plus violents de Baltimore.</a:t>
            </a:r>
          </a:p>
          <a:p>
            <a:r>
              <a:rPr lang="fr-CA" dirty="0" smtClean="0"/>
              <a:t>Il est très engagé dans la défense des droits des citoyens </a:t>
            </a:r>
            <a:r>
              <a:rPr lang="fr-CA" dirty="0" err="1" smtClean="0"/>
              <a:t>afroaméricains</a:t>
            </a:r>
            <a:r>
              <a:rPr lang="fr-CA" dirty="0" smtClean="0"/>
              <a:t>. </a:t>
            </a:r>
          </a:p>
          <a:p>
            <a:r>
              <a:rPr lang="fr-CA" dirty="0" smtClean="0"/>
              <a:t>Il a reçu le prix du National Book </a:t>
            </a:r>
            <a:r>
              <a:rPr lang="fr-CA" dirty="0" err="1" smtClean="0"/>
              <a:t>Award</a:t>
            </a:r>
            <a:r>
              <a:rPr lang="fr-CA" dirty="0" smtClean="0"/>
              <a:t> pour sa dernière œuvre, bien que ses propos aient été vertement critiqués par </a:t>
            </a:r>
            <a:r>
              <a:rPr lang="fr-CA" dirty="0" err="1" smtClean="0"/>
              <a:t>certainEs</a:t>
            </a:r>
            <a:r>
              <a:rPr lang="fr-CA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4432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L’œuvre à l’étude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Son essai le plus récent, </a:t>
            </a:r>
            <a:r>
              <a:rPr lang="fr-CA" i="1" dirty="0"/>
              <a:t>Une colère noire</a:t>
            </a:r>
            <a:r>
              <a:rPr lang="fr-CA" dirty="0"/>
              <a:t>, prend la forme d’une longue lettre dédiée à son fils dans laquelle il réfléchit sur les causes et les effets du </a:t>
            </a:r>
            <a:r>
              <a:rPr lang="fr-CA" dirty="0" smtClean="0"/>
              <a:t>racisme</a:t>
            </a:r>
            <a:r>
              <a:rPr lang="fr-CA" dirty="0"/>
              <a:t>;</a:t>
            </a:r>
            <a:endParaRPr lang="fr-CA" dirty="0" smtClean="0"/>
          </a:p>
          <a:p>
            <a:r>
              <a:rPr lang="fr-CA" dirty="0" smtClean="0"/>
              <a:t>Il y inclut des épisodes de sa vie;</a:t>
            </a:r>
          </a:p>
          <a:p>
            <a:r>
              <a:rPr lang="fr-CA" dirty="0" smtClean="0"/>
              <a:t>Il y fait référence à d’autres </a:t>
            </a:r>
            <a:r>
              <a:rPr lang="fr-CA" dirty="0" err="1" smtClean="0"/>
              <a:t>auteurEs</a:t>
            </a:r>
            <a:r>
              <a:rPr lang="fr-CA" dirty="0" smtClean="0"/>
              <a:t> ayant abordé ce même thème.</a:t>
            </a:r>
          </a:p>
          <a:p>
            <a:pPr marL="0" indent="0">
              <a:buNone/>
            </a:pPr>
            <a:endParaRPr lang="fr-CA" dirty="0"/>
          </a:p>
          <a:p>
            <a:endParaRPr lang="fr-CA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777" y="4215392"/>
            <a:ext cx="4416331" cy="218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236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90</TotalTime>
  <Words>565</Words>
  <Application>Microsoft Office PowerPoint</Application>
  <PresentationFormat>Grand écran</PresentationFormat>
  <Paragraphs>51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Trebuchet MS</vt:lpstr>
      <vt:lpstr>Wingdings 3</vt:lpstr>
      <vt:lpstr>Facette</vt:lpstr>
      <vt:lpstr>L’essai littéraire  Matériel didactique conçu par Élisabeth Désourdy, cégep André-Laurendeau.</vt:lpstr>
      <vt:lpstr>Qu’est-ce qu’un essai?</vt:lpstr>
      <vt:lpstr>Contenu (les idées)</vt:lpstr>
      <vt:lpstr>Intention de communication</vt:lpstr>
      <vt:lpstr>Communication « bidirectionnelle »</vt:lpstr>
      <vt:lpstr>Thématique</vt:lpstr>
      <vt:lpstr>Structure</vt:lpstr>
      <vt:lpstr>Structure</vt:lpstr>
      <vt:lpstr>Des exemples à travers l’histoire littéraire</vt:lpstr>
      <vt:lpstr>Présentation PowerPoint</vt:lpstr>
      <vt:lpstr>Présentation PowerPoint</vt:lpstr>
      <vt:lpstr>Présentation PowerPoint</vt:lpstr>
      <vt:lpstr>Présentation PowerPoint</vt:lpstr>
      <vt:lpstr>Ta-Nehisi Coates, Une colère noire (traduction de Between the world and me)</vt:lpstr>
      <vt:lpstr>À propos de l’auteur</vt:lpstr>
      <vt:lpstr>L’œuvre à l’étude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L’essai littéraire</dc:title>
  <dc:creator>Élisabeth Désourdy</dc:creator>
  <cp:lastModifiedBy>carlos alberto de la cruz duran</cp:lastModifiedBy>
  <cp:revision>20</cp:revision>
  <dcterms:created xsi:type="dcterms:W3CDTF">2013-06-25T15:10:44Z</dcterms:created>
  <dcterms:modified xsi:type="dcterms:W3CDTF">2016-09-14T14:13:34Z</dcterms:modified>
</cp:coreProperties>
</file>