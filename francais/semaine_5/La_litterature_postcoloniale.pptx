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853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2682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3379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9999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011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3329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762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111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876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0595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4262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3059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2886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9032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4502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748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271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11F7E-616B-47F4-86CE-DB40E67CEAC7}" type="datetimeFigureOut">
              <a:rPr lang="fr-CA" smtClean="0"/>
              <a:t>2023-02-13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F3D42-13C1-4B6C-A9BE-1B50F79E8B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40234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spc10.fr/energie/resistor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BABA80-5BC4-47FB-8F6B-6D6FC6B46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La littérature postcoloniale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CF0DB5D-DE57-40E6-9495-514E8A21ED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sz="1600" dirty="0"/>
              <a:t>Matériel didactique préparé par Élisabeth Désourdy, cégep André-Laurendeau.</a:t>
            </a:r>
          </a:p>
        </p:txBody>
      </p:sp>
    </p:spTree>
    <p:extLst>
      <p:ext uri="{BB962C8B-B14F-4D97-AF65-F5344CB8AC3E}">
        <p14:creationId xmlns:p14="http://schemas.microsoft.com/office/powerpoint/2010/main" val="1119805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13C24-A375-4BE3-971D-BCE1C513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Rappel du contexte: la colonisation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4BF246-F447-4D29-AF2B-D7135A2E04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sz="2400" dirty="0"/>
              <a:t>Envahir un territoire;</a:t>
            </a:r>
          </a:p>
          <a:p>
            <a:r>
              <a:rPr lang="fr-CA" sz="2400" dirty="0"/>
              <a:t>Mettre un / des peuples sous son autorité par la violence et la domination;</a:t>
            </a:r>
          </a:p>
          <a:p>
            <a:r>
              <a:rPr lang="fr-CA" sz="2400" dirty="0"/>
              <a:t>Imposer sa culture, sa langue, sa religion;</a:t>
            </a:r>
          </a:p>
          <a:p>
            <a:r>
              <a:rPr lang="fr-CA" sz="2400" dirty="0"/>
              <a:t>S’approprier les richesses.</a:t>
            </a:r>
          </a:p>
          <a:p>
            <a:pPr marL="0" indent="0">
              <a:buNone/>
            </a:pPr>
            <a:endParaRPr lang="fr-CA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95EA58C-DAC7-44C9-B51F-A6AB68D94D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37059" y="1935921"/>
            <a:ext cx="4224894" cy="342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5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9412C8-0012-446F-B2E4-14B24E9D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Même après l’indépendance, des blessures persistent: le postcolonialisme.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7B96A6-2822-44AD-945E-46D21AFF54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CA" sz="2400" dirty="0"/>
              <a:t>Complexes culturels;</a:t>
            </a:r>
          </a:p>
          <a:p>
            <a:r>
              <a:rPr lang="fr-CA" sz="2400" dirty="0"/>
              <a:t>Identité culturelle fractionnée;</a:t>
            </a:r>
          </a:p>
          <a:p>
            <a:r>
              <a:rPr lang="fr-CA" sz="2400" dirty="0"/>
              <a:t>Transmission des traditions difficile;</a:t>
            </a:r>
          </a:p>
          <a:p>
            <a:r>
              <a:rPr lang="fr-CA" sz="2400" dirty="0"/>
              <a:t>Instabilité politique;</a:t>
            </a:r>
          </a:p>
          <a:p>
            <a:r>
              <a:rPr lang="fr-CA" sz="2400" dirty="0"/>
              <a:t>Chaos dans les infrastructures;</a:t>
            </a:r>
          </a:p>
          <a:p>
            <a:r>
              <a:rPr lang="fr-CA" sz="2400" dirty="0"/>
              <a:t>Dépendance économique.</a:t>
            </a:r>
          </a:p>
          <a:p>
            <a:pPr marL="0" indent="0">
              <a:buNone/>
            </a:pPr>
            <a:endParaRPr lang="fr-CA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4B51793-A2C8-4C01-A9E5-91004DAA2A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088319"/>
            <a:ext cx="5830312" cy="328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89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08E70-4CCA-4FFC-BF8B-BD4EFDFD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tradition orale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D12BAE-097F-40AB-803C-D1C6EE5832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fr-CA" sz="2400" dirty="0"/>
              <a:t>Un récit oral ne respecte pas la structure « réglée » du roman traditionnel.</a:t>
            </a:r>
          </a:p>
          <a:p>
            <a:pPr lvl="0">
              <a:buSzPct val="45000"/>
              <a:buFont typeface="StarSymbol"/>
              <a:buChar char="●"/>
            </a:pPr>
            <a:r>
              <a:rPr lang="fr-CA" sz="2400" dirty="0"/>
              <a:t>On y raconte les événements de façon plus éclatée, plus naturelle, en faisant de nombreux liens avec le passé. (parole vivante)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CD58FC-E8BC-4665-9FF9-CDC35C37A8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sz="2400" dirty="0"/>
              <a:t>Par exemple, on présente un personnage en racontant son histoire ou ses origines. On indique ainsi la place qu'il occupe à l'intérieur de l'histoire de la communauté. (récit enchâssé)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0989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225348-AE6D-40FE-A940-6437B828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Influence de la tradition orale sur la structure narrative du roman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C21A5E-9003-41FC-BEE9-60B14BAB34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Pas de structure linéaire</a:t>
            </a:r>
          </a:p>
          <a:p>
            <a:r>
              <a:rPr lang="fr-CA" dirty="0"/>
              <a:t>Temps cyclique</a:t>
            </a:r>
          </a:p>
          <a:p>
            <a:r>
              <a:rPr lang="fr-CA" dirty="0"/>
              <a:t>Hérédité narrative</a:t>
            </a:r>
          </a:p>
          <a:p>
            <a:r>
              <a:rPr lang="fr-CA" dirty="0"/>
              <a:t>Interpellation du lectorat</a:t>
            </a:r>
          </a:p>
          <a:p>
            <a:r>
              <a:rPr lang="fr-CA"/>
              <a:t>Récits enchâssés </a:t>
            </a:r>
            <a:endParaRPr lang="fr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923E10-40FF-4257-9C85-B650FF3F10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617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562215-B979-41D8-B2A3-2921F066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/>
              <a:t>Post…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BDA9B0-59A9-40ED-A8C6-FD07131E7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467" y="2096063"/>
            <a:ext cx="3361498" cy="4028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 err="1"/>
              <a:t>Plusieurs</a:t>
            </a:r>
            <a:r>
              <a:rPr lang="en-US" sz="1800" dirty="0"/>
              <a:t> </a:t>
            </a:r>
            <a:r>
              <a:rPr lang="en-US" sz="1800" dirty="0" err="1"/>
              <a:t>autrices</a:t>
            </a:r>
            <a:r>
              <a:rPr lang="en-US" sz="1800" dirty="0"/>
              <a:t> et auteurs se </a:t>
            </a:r>
            <a:r>
              <a:rPr lang="en-US" sz="1800" dirty="0" err="1"/>
              <a:t>retrouvent</a:t>
            </a:r>
            <a:r>
              <a:rPr lang="en-US" sz="1800" dirty="0"/>
              <a:t> dans la position </a:t>
            </a:r>
            <a:r>
              <a:rPr lang="en-US" sz="1800" dirty="0" err="1"/>
              <a:t>délicate</a:t>
            </a:r>
            <a:r>
              <a:rPr lang="en-US" sz="1800" dirty="0"/>
              <a:t> </a:t>
            </a:r>
            <a:r>
              <a:rPr lang="en-US" sz="1800" dirty="0" err="1"/>
              <a:t>d’écrire</a:t>
            </a:r>
            <a:r>
              <a:rPr lang="en-US" sz="1800" dirty="0"/>
              <a:t> dans la langue du </a:t>
            </a:r>
            <a:r>
              <a:rPr lang="en-US" sz="1800" dirty="0" err="1"/>
              <a:t>colonisateur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 err="1"/>
              <a:t>L’écriture</a:t>
            </a:r>
            <a:r>
              <a:rPr lang="en-US" sz="1800" dirty="0"/>
              <a:t> </a:t>
            </a:r>
            <a:r>
              <a:rPr lang="en-US" sz="1800" dirty="0" err="1"/>
              <a:t>postcoloniale</a:t>
            </a:r>
            <a:r>
              <a:rPr lang="en-US" sz="1800" dirty="0"/>
              <a:t> </a:t>
            </a:r>
            <a:r>
              <a:rPr lang="en-US" sz="1800" dirty="0" err="1"/>
              <a:t>est</a:t>
            </a:r>
            <a:r>
              <a:rPr lang="en-US" sz="1800" dirty="0"/>
              <a:t> </a:t>
            </a:r>
            <a:r>
              <a:rPr lang="en-US" sz="1800" dirty="0" err="1"/>
              <a:t>engagée</a:t>
            </a:r>
            <a:r>
              <a:rPr lang="en-US" sz="1800" dirty="0"/>
              <a:t>, sur </a:t>
            </a:r>
            <a:r>
              <a:rPr lang="en-US" sz="1800" dirty="0" err="1"/>
              <a:t>différents</a:t>
            </a:r>
            <a:r>
              <a:rPr lang="en-US" sz="1800" dirty="0"/>
              <a:t> plans et à des </a:t>
            </a:r>
            <a:r>
              <a:rPr lang="en-US" sz="1800" dirty="0" err="1"/>
              <a:t>degrés</a:t>
            </a:r>
            <a:r>
              <a:rPr lang="en-US" sz="1800" dirty="0"/>
              <a:t> </a:t>
            </a:r>
            <a:r>
              <a:rPr lang="en-US" sz="1800" dirty="0" err="1"/>
              <a:t>différents</a:t>
            </a:r>
            <a:r>
              <a:rPr lang="en-US" sz="1800" dirty="0"/>
              <a:t> </a:t>
            </a:r>
            <a:r>
              <a:rPr lang="en-US" sz="1800" dirty="0" err="1"/>
              <a:t>selon</a:t>
            </a:r>
            <a:r>
              <a:rPr lang="en-US" sz="1800" dirty="0"/>
              <a:t> </a:t>
            </a:r>
            <a:r>
              <a:rPr lang="en-US" sz="1800" dirty="0" err="1"/>
              <a:t>l’autrice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l’auteur</a:t>
            </a:r>
            <a:r>
              <a:rPr lang="en-US" sz="1800"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6AE269B-987B-46CA-AA52-2FCCF7BD55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07358" y="1445823"/>
            <a:ext cx="6382331" cy="250506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DC3E170-37AA-49E0-96B9-71E6965F1E89}"/>
              </a:ext>
            </a:extLst>
          </p:cNvPr>
          <p:cNvSpPr txBox="1"/>
          <p:nvPr/>
        </p:nvSpPr>
        <p:spPr>
          <a:xfrm>
            <a:off x="8201301" y="4401068"/>
            <a:ext cx="286488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fr-CA" sz="700">
                <a:solidFill>
                  <a:srgbClr val="FFFFFF"/>
                </a:solidFill>
                <a:hlinkClick r:id="rId4" tooltip="https://www.spc10.fr/energie/resisto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Cette photo</a:t>
            </a:r>
            <a:r>
              <a:rPr lang="fr-CA" sz="700">
                <a:solidFill>
                  <a:srgbClr val="FFFFFF"/>
                </a:solidFill>
              </a:rPr>
              <a:t> par Auteur inconnu est soumis à la licence </a:t>
            </a:r>
            <a:r>
              <a:rPr lang="fr-CA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fr-C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27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8E22BD-F26E-422F-BC42-DDEAE1B8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Thèmes fréquents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D0C01D-C453-4221-AE01-9C799E853B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Histoire et traditions;</a:t>
            </a:r>
          </a:p>
          <a:p>
            <a:r>
              <a:rPr lang="fr-CA" dirty="0"/>
              <a:t>Environnement;</a:t>
            </a:r>
          </a:p>
          <a:p>
            <a:r>
              <a:rPr lang="fr-CA" dirty="0"/>
              <a:t>Langue;</a:t>
            </a:r>
          </a:p>
          <a:p>
            <a:r>
              <a:rPr lang="fr-CA" dirty="0"/>
              <a:t>Enjeux sociaux;</a:t>
            </a:r>
          </a:p>
          <a:p>
            <a:r>
              <a:rPr lang="fr-CA" dirty="0"/>
              <a:t>Abus;</a:t>
            </a:r>
          </a:p>
          <a:p>
            <a:r>
              <a:rPr lang="fr-CA" dirty="0"/>
              <a:t>Reconstruction.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132950-E6D1-4A34-B243-266B721939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17042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254</Words>
  <Application>Microsoft Office PowerPoint</Application>
  <PresentationFormat>Grand écran</PresentationFormat>
  <Paragraphs>36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Rockwell</vt:lpstr>
      <vt:lpstr>StarSymbol</vt:lpstr>
      <vt:lpstr>Damask</vt:lpstr>
      <vt:lpstr>La littérature postcoloniale</vt:lpstr>
      <vt:lpstr>Rappel du contexte: la colonisation</vt:lpstr>
      <vt:lpstr>Même après l’indépendance, des blessures persistent: le postcolonialisme.</vt:lpstr>
      <vt:lpstr>La tradition orale</vt:lpstr>
      <vt:lpstr>Influence de la tradition orale sur la structure narrative du roman</vt:lpstr>
      <vt:lpstr>Post…</vt:lpstr>
      <vt:lpstr>Thèmes fréquents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littérature postcoloniale</dc:title>
  <dc:creator>Élisabeth Désourdy</dc:creator>
  <cp:lastModifiedBy>Élisabeth Désourdy</cp:lastModifiedBy>
  <cp:revision>5</cp:revision>
  <dcterms:created xsi:type="dcterms:W3CDTF">2023-01-16T15:39:39Z</dcterms:created>
  <dcterms:modified xsi:type="dcterms:W3CDTF">2023-02-13T16:53:40Z</dcterms:modified>
</cp:coreProperties>
</file>