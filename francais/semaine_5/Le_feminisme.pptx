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0" r:id="rId4"/>
    <p:sldId id="258" r:id="rId5"/>
    <p:sldId id="259" r:id="rId6"/>
    <p:sldId id="272" r:id="rId7"/>
    <p:sldId id="261" r:id="rId8"/>
    <p:sldId id="262" r:id="rId9"/>
    <p:sldId id="263" r:id="rId10"/>
    <p:sldId id="264" r:id="rId11"/>
    <p:sldId id="265" r:id="rId12"/>
    <p:sldId id="271" r:id="rId13"/>
    <p:sldId id="266" r:id="rId14"/>
    <p:sldId id="267" r:id="rId15"/>
    <p:sldId id="268" r:id="rId16"/>
    <p:sldId id="269"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p:cViewPr varScale="1">
        <p:scale>
          <a:sx n="67" d="100"/>
          <a:sy n="67" d="100"/>
        </p:scale>
        <p:origin x="5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fr-FR"/>
              <a:t>Modifiez le style du titre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7" name="Date Placeholder 6"/>
          <p:cNvSpPr>
            <a:spLocks noGrp="1"/>
          </p:cNvSpPr>
          <p:nvPr>
            <p:ph type="dt" sz="half" idx="10"/>
          </p:nvPr>
        </p:nvSpPr>
        <p:spPr/>
        <p:txBody>
          <a:bodyPr/>
          <a:lstStyle/>
          <a:p>
            <a:fld id="{7AF51D9F-37A7-4F01-BA15-31618C88B980}" type="datetimeFigureOut">
              <a:rPr lang="fr-CA" smtClean="0"/>
              <a:t>2023-01-26</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4F15483F-9279-4A24-8A29-8BCFE3C32945}" type="slidenum">
              <a:rPr lang="fr-CA" smtClean="0"/>
              <a:t>‹N°›</a:t>
            </a:fld>
            <a:endParaRPr lang="fr-CA"/>
          </a:p>
        </p:txBody>
      </p:sp>
    </p:spTree>
    <p:extLst>
      <p:ext uri="{BB962C8B-B14F-4D97-AF65-F5344CB8AC3E}">
        <p14:creationId xmlns:p14="http://schemas.microsoft.com/office/powerpoint/2010/main" val="386069776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AF51D9F-37A7-4F01-BA15-31618C88B980}" type="datetimeFigureOut">
              <a:rPr lang="fr-CA" smtClean="0"/>
              <a:t>2023-01-26</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4F15483F-9279-4A24-8A29-8BCFE3C32945}" type="slidenum">
              <a:rPr lang="fr-CA" smtClean="0"/>
              <a:t>‹N°›</a:t>
            </a:fld>
            <a:endParaRPr lang="fr-CA"/>
          </a:p>
        </p:txBody>
      </p:sp>
    </p:spTree>
    <p:extLst>
      <p:ext uri="{BB962C8B-B14F-4D97-AF65-F5344CB8AC3E}">
        <p14:creationId xmlns:p14="http://schemas.microsoft.com/office/powerpoint/2010/main" val="2699846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fr-FR"/>
              <a:t>Modifiez le style du titre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Date Placeholder 6"/>
          <p:cNvSpPr>
            <a:spLocks noGrp="1"/>
          </p:cNvSpPr>
          <p:nvPr>
            <p:ph type="dt" sz="half" idx="10"/>
          </p:nvPr>
        </p:nvSpPr>
        <p:spPr/>
        <p:txBody>
          <a:bodyPr/>
          <a:lstStyle/>
          <a:p>
            <a:fld id="{7AF51D9F-37A7-4F01-BA15-31618C88B980}" type="datetimeFigureOut">
              <a:rPr lang="fr-CA" smtClean="0"/>
              <a:t>2023-01-26</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4F15483F-9279-4A24-8A29-8BCFE3C32945}" type="slidenum">
              <a:rPr lang="fr-CA" smtClean="0"/>
              <a:t>‹N°›</a:t>
            </a:fld>
            <a:endParaRPr lang="fr-CA"/>
          </a:p>
        </p:txBody>
      </p:sp>
    </p:spTree>
    <p:extLst>
      <p:ext uri="{BB962C8B-B14F-4D97-AF65-F5344CB8AC3E}">
        <p14:creationId xmlns:p14="http://schemas.microsoft.com/office/powerpoint/2010/main" val="100447580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Date Placeholder 7"/>
          <p:cNvSpPr>
            <a:spLocks noGrp="1"/>
          </p:cNvSpPr>
          <p:nvPr>
            <p:ph type="dt" sz="half" idx="10"/>
          </p:nvPr>
        </p:nvSpPr>
        <p:spPr/>
        <p:txBody>
          <a:bodyPr/>
          <a:lstStyle/>
          <a:p>
            <a:fld id="{7AF51D9F-37A7-4F01-BA15-31618C88B980}" type="datetimeFigureOut">
              <a:rPr lang="fr-CA" smtClean="0"/>
              <a:t>2023-01-26</a:t>
            </a:fld>
            <a:endParaRPr lang="fr-CA"/>
          </a:p>
        </p:txBody>
      </p:sp>
      <p:sp>
        <p:nvSpPr>
          <p:cNvPr id="9" name="Footer Placeholder 8"/>
          <p:cNvSpPr>
            <a:spLocks noGrp="1"/>
          </p:cNvSpPr>
          <p:nvPr>
            <p:ph type="ftr" sz="quarter" idx="11"/>
          </p:nvPr>
        </p:nvSpPr>
        <p:spPr/>
        <p:txBody>
          <a:bodyPr/>
          <a:lstStyle/>
          <a:p>
            <a:endParaRPr lang="fr-CA"/>
          </a:p>
        </p:txBody>
      </p:sp>
      <p:sp>
        <p:nvSpPr>
          <p:cNvPr id="10" name="Slide Number Placeholder 9"/>
          <p:cNvSpPr>
            <a:spLocks noGrp="1"/>
          </p:cNvSpPr>
          <p:nvPr>
            <p:ph type="sldNum" sz="quarter" idx="12"/>
          </p:nvPr>
        </p:nvSpPr>
        <p:spPr/>
        <p:txBody>
          <a:bodyPr/>
          <a:lstStyle/>
          <a:p>
            <a:fld id="{4F15483F-9279-4A24-8A29-8BCFE3C32945}" type="slidenum">
              <a:rPr lang="fr-CA" smtClean="0"/>
              <a:t>‹N°›</a:t>
            </a:fld>
            <a:endParaRPr lang="fr-CA"/>
          </a:p>
        </p:txBody>
      </p:sp>
    </p:spTree>
    <p:extLst>
      <p:ext uri="{BB962C8B-B14F-4D97-AF65-F5344CB8AC3E}">
        <p14:creationId xmlns:p14="http://schemas.microsoft.com/office/powerpoint/2010/main" val="2660223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583436" y="3143250"/>
            <a:ext cx="4270248" cy="25967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7" name="Date Placeholder 6"/>
          <p:cNvSpPr>
            <a:spLocks noGrp="1"/>
          </p:cNvSpPr>
          <p:nvPr>
            <p:ph type="dt" sz="half" idx="10"/>
          </p:nvPr>
        </p:nvSpPr>
        <p:spPr/>
        <p:txBody>
          <a:bodyPr/>
          <a:lstStyle/>
          <a:p>
            <a:fld id="{7AF51D9F-37A7-4F01-BA15-31618C88B980}" type="datetimeFigureOut">
              <a:rPr lang="fr-CA" smtClean="0"/>
              <a:t>2023-01-26</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4F15483F-9279-4A24-8A29-8BCFE3C32945}" type="slidenum">
              <a:rPr lang="fr-CA" smtClean="0"/>
              <a:t>‹N°›</a:t>
            </a:fld>
            <a:endParaRPr lang="fr-CA"/>
          </a:p>
        </p:txBody>
      </p:sp>
      <p:sp>
        <p:nvSpPr>
          <p:cNvPr id="10" name="Title 9"/>
          <p:cNvSpPr>
            <a:spLocks noGrp="1"/>
          </p:cNvSpPr>
          <p:nvPr>
            <p:ph type="title"/>
          </p:nvPr>
        </p:nvSpPr>
        <p:spPr/>
        <p:txBody>
          <a:bodyPr/>
          <a:lstStyle/>
          <a:p>
            <a:r>
              <a:rPr lang="fr-FR"/>
              <a:t>Modifiez le style du titre</a:t>
            </a:r>
            <a:endParaRPr lang="en-US" dirty="0"/>
          </a:p>
        </p:txBody>
      </p:sp>
    </p:spTree>
    <p:extLst>
      <p:ext uri="{BB962C8B-B14F-4D97-AF65-F5344CB8AC3E}">
        <p14:creationId xmlns:p14="http://schemas.microsoft.com/office/powerpoint/2010/main" val="3163630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7AF51D9F-37A7-4F01-BA15-31618C88B980}" type="datetimeFigureOut">
              <a:rPr lang="fr-CA" smtClean="0"/>
              <a:t>2023-01-26</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4F15483F-9279-4A24-8A29-8BCFE3C32945}" type="slidenum">
              <a:rPr lang="fr-CA" smtClean="0"/>
              <a:t>‹N°›</a:t>
            </a:fld>
            <a:endParaRPr lang="fr-CA"/>
          </a:p>
        </p:txBody>
      </p:sp>
    </p:spTree>
    <p:extLst>
      <p:ext uri="{BB962C8B-B14F-4D97-AF65-F5344CB8AC3E}">
        <p14:creationId xmlns:p14="http://schemas.microsoft.com/office/powerpoint/2010/main" val="858409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F51D9F-37A7-4F01-BA15-31618C88B980}" type="datetimeFigureOut">
              <a:rPr lang="fr-CA" smtClean="0"/>
              <a:t>2023-01-26</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4F15483F-9279-4A24-8A29-8BCFE3C32945}" type="slidenum">
              <a:rPr lang="fr-CA" smtClean="0"/>
              <a:t>‹N°›</a:t>
            </a:fld>
            <a:endParaRPr lang="fr-CA"/>
          </a:p>
        </p:txBody>
      </p:sp>
    </p:spTree>
    <p:extLst>
      <p:ext uri="{BB962C8B-B14F-4D97-AF65-F5344CB8AC3E}">
        <p14:creationId xmlns:p14="http://schemas.microsoft.com/office/powerpoint/2010/main" val="2918019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fr-FR"/>
              <a:t>Modifiez le style du titre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9" name="Date Placeholder 8"/>
          <p:cNvSpPr>
            <a:spLocks noGrp="1"/>
          </p:cNvSpPr>
          <p:nvPr>
            <p:ph type="dt" sz="half" idx="10"/>
          </p:nvPr>
        </p:nvSpPr>
        <p:spPr/>
        <p:txBody>
          <a:bodyPr/>
          <a:lstStyle/>
          <a:p>
            <a:fld id="{7AF51D9F-37A7-4F01-BA15-31618C88B980}" type="datetimeFigureOut">
              <a:rPr lang="fr-CA" smtClean="0"/>
              <a:t>2023-01-26</a:t>
            </a:fld>
            <a:endParaRPr lang="fr-CA"/>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fr-CA"/>
          </a:p>
        </p:txBody>
      </p:sp>
      <p:sp>
        <p:nvSpPr>
          <p:cNvPr id="11" name="Slide Number Placeholder 10"/>
          <p:cNvSpPr>
            <a:spLocks noGrp="1"/>
          </p:cNvSpPr>
          <p:nvPr>
            <p:ph type="sldNum" sz="quarter" idx="12"/>
          </p:nvPr>
        </p:nvSpPr>
        <p:spPr/>
        <p:txBody>
          <a:bodyPr/>
          <a:lstStyle/>
          <a:p>
            <a:fld id="{4F15483F-9279-4A24-8A29-8BCFE3C32945}" type="slidenum">
              <a:rPr lang="fr-CA" smtClean="0"/>
              <a:t>‹N°›</a:t>
            </a:fld>
            <a:endParaRPr lang="fr-CA"/>
          </a:p>
        </p:txBody>
      </p:sp>
    </p:spTree>
    <p:extLst>
      <p:ext uri="{BB962C8B-B14F-4D97-AF65-F5344CB8AC3E}">
        <p14:creationId xmlns:p14="http://schemas.microsoft.com/office/powerpoint/2010/main" val="3799745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7AF51D9F-37A7-4F01-BA15-31618C88B980}" type="datetimeFigureOut">
              <a:rPr lang="fr-CA" smtClean="0"/>
              <a:t>2023-01-26</a:t>
            </a:fld>
            <a:endParaRPr lang="fr-CA"/>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fr-CA"/>
          </a:p>
        </p:txBody>
      </p:sp>
      <p:sp>
        <p:nvSpPr>
          <p:cNvPr id="10" name="Slide Number Placeholder 9"/>
          <p:cNvSpPr>
            <a:spLocks noGrp="1"/>
          </p:cNvSpPr>
          <p:nvPr>
            <p:ph type="sldNum" sz="quarter" idx="12"/>
          </p:nvPr>
        </p:nvSpPr>
        <p:spPr/>
        <p:txBody>
          <a:bodyPr/>
          <a:lstStyle/>
          <a:p>
            <a:fld id="{4F15483F-9279-4A24-8A29-8BCFE3C32945}" type="slidenum">
              <a:rPr lang="fr-CA" smtClean="0"/>
              <a:t>‹N°›</a:t>
            </a:fld>
            <a:endParaRPr lang="fr-CA"/>
          </a:p>
        </p:txBody>
      </p:sp>
    </p:spTree>
    <p:extLst>
      <p:ext uri="{BB962C8B-B14F-4D97-AF65-F5344CB8AC3E}">
        <p14:creationId xmlns:p14="http://schemas.microsoft.com/office/powerpoint/2010/main" val="4177323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AF51D9F-37A7-4F01-BA15-31618C88B980}" type="datetimeFigureOut">
              <a:rPr lang="fr-CA" smtClean="0"/>
              <a:t>2023-01-26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4F15483F-9279-4A24-8A29-8BCFE3C32945}" type="slidenum">
              <a:rPr lang="fr-CA" smtClean="0"/>
              <a:t>‹N°›</a:t>
            </a:fld>
            <a:endParaRPr lang="fr-CA"/>
          </a:p>
        </p:txBody>
      </p:sp>
    </p:spTree>
    <p:extLst>
      <p:ext uri="{BB962C8B-B14F-4D97-AF65-F5344CB8AC3E}">
        <p14:creationId xmlns:p14="http://schemas.microsoft.com/office/powerpoint/2010/main" val="3552212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AF51D9F-37A7-4F01-BA15-31618C88B980}" type="datetimeFigureOut">
              <a:rPr lang="fr-CA" smtClean="0"/>
              <a:t>2023-01-26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4F15483F-9279-4A24-8A29-8BCFE3C32945}" type="slidenum">
              <a:rPr lang="fr-CA" smtClean="0"/>
              <a:t>‹N°›</a:t>
            </a:fld>
            <a:endParaRPr lang="fr-CA"/>
          </a:p>
        </p:txBody>
      </p:sp>
    </p:spTree>
    <p:extLst>
      <p:ext uri="{BB962C8B-B14F-4D97-AF65-F5344CB8AC3E}">
        <p14:creationId xmlns:p14="http://schemas.microsoft.com/office/powerpoint/2010/main" val="465162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7AF51D9F-37A7-4F01-BA15-31618C88B980}" type="datetimeFigureOut">
              <a:rPr lang="fr-CA" smtClean="0"/>
              <a:t>2023-01-26</a:t>
            </a:fld>
            <a:endParaRPr lang="fr-CA"/>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fr-CA"/>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F15483F-9279-4A24-8A29-8BCFE3C32945}" type="slidenum">
              <a:rPr lang="fr-CA" smtClean="0"/>
              <a:t>‹N°›</a:t>
            </a:fld>
            <a:endParaRPr lang="fr-CA"/>
          </a:p>
        </p:txBody>
      </p:sp>
    </p:spTree>
    <p:extLst>
      <p:ext uri="{BB962C8B-B14F-4D97-AF65-F5344CB8AC3E}">
        <p14:creationId xmlns:p14="http://schemas.microsoft.com/office/powerpoint/2010/main" val="13144114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C0B438-3D83-40E5-88DF-B7EB4DE955E0}"/>
              </a:ext>
            </a:extLst>
          </p:cNvPr>
          <p:cNvSpPr>
            <a:spLocks noGrp="1"/>
          </p:cNvSpPr>
          <p:nvPr>
            <p:ph type="ctrTitle"/>
          </p:nvPr>
        </p:nvSpPr>
        <p:spPr/>
        <p:txBody>
          <a:bodyPr/>
          <a:lstStyle/>
          <a:p>
            <a:r>
              <a:rPr lang="fr-CA" dirty="0"/>
              <a:t>Le féminisme</a:t>
            </a:r>
          </a:p>
        </p:txBody>
      </p:sp>
      <p:sp>
        <p:nvSpPr>
          <p:cNvPr id="3" name="Sous-titre 2">
            <a:extLst>
              <a:ext uri="{FF2B5EF4-FFF2-40B4-BE49-F238E27FC236}">
                <a16:creationId xmlns:a16="http://schemas.microsoft.com/office/drawing/2014/main" id="{6B3B7F6F-A958-4636-A964-14B3B27C2938}"/>
              </a:ext>
            </a:extLst>
          </p:cNvPr>
          <p:cNvSpPr>
            <a:spLocks noGrp="1"/>
          </p:cNvSpPr>
          <p:nvPr>
            <p:ph type="subTitle" idx="1"/>
          </p:nvPr>
        </p:nvSpPr>
        <p:spPr/>
        <p:txBody>
          <a:bodyPr/>
          <a:lstStyle/>
          <a:p>
            <a:r>
              <a:rPr lang="fr-CA" dirty="0"/>
              <a:t>Mouvement social, politique, littéraire et artistique.</a:t>
            </a:r>
          </a:p>
        </p:txBody>
      </p:sp>
    </p:spTree>
    <p:extLst>
      <p:ext uri="{BB962C8B-B14F-4D97-AF65-F5344CB8AC3E}">
        <p14:creationId xmlns:p14="http://schemas.microsoft.com/office/powerpoint/2010/main" val="1676924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F0821B-AAAD-4C64-BAC5-F478DB3C0D12}"/>
              </a:ext>
            </a:extLst>
          </p:cNvPr>
          <p:cNvSpPr>
            <a:spLocks noGrp="1"/>
          </p:cNvSpPr>
          <p:nvPr>
            <p:ph type="title"/>
          </p:nvPr>
        </p:nvSpPr>
        <p:spPr/>
        <p:txBody>
          <a:bodyPr/>
          <a:lstStyle/>
          <a:p>
            <a:pPr algn="l"/>
            <a:r>
              <a:rPr lang="fr-CA" dirty="0"/>
              <a:t>définition</a:t>
            </a:r>
          </a:p>
        </p:txBody>
      </p:sp>
      <p:sp>
        <p:nvSpPr>
          <p:cNvPr id="3" name="Espace réservé du contenu 2">
            <a:extLst>
              <a:ext uri="{FF2B5EF4-FFF2-40B4-BE49-F238E27FC236}">
                <a16:creationId xmlns:a16="http://schemas.microsoft.com/office/drawing/2014/main" id="{F887468E-F78F-42C7-81E9-C6E1B5E675CA}"/>
              </a:ext>
            </a:extLst>
          </p:cNvPr>
          <p:cNvSpPr>
            <a:spLocks noGrp="1"/>
          </p:cNvSpPr>
          <p:nvPr>
            <p:ph idx="1"/>
          </p:nvPr>
        </p:nvSpPr>
        <p:spPr/>
        <p:txBody>
          <a:bodyPr>
            <a:normAutofit/>
          </a:bodyPr>
          <a:lstStyle/>
          <a:p>
            <a:pPr marL="0" indent="0">
              <a:buNone/>
            </a:pPr>
            <a:r>
              <a:rPr lang="fr-CA" sz="2400" dirty="0"/>
              <a:t>Principe qui considère la femme comme </a:t>
            </a:r>
            <a:r>
              <a:rPr lang="fr-CA" sz="2400" cap="all" dirty="0"/>
              <a:t>égale</a:t>
            </a:r>
            <a:r>
              <a:rPr lang="fr-CA" sz="2400" dirty="0"/>
              <a:t> à l’homme sur le plan des droits et des devoirs.</a:t>
            </a:r>
          </a:p>
          <a:p>
            <a:pPr marL="0" indent="0">
              <a:buNone/>
            </a:pPr>
            <a:endParaRPr lang="fr-CA" sz="2400" dirty="0"/>
          </a:p>
          <a:p>
            <a:pPr marL="0" indent="0">
              <a:buNone/>
            </a:pPr>
            <a:r>
              <a:rPr lang="fr-CA" sz="2400" cap="all" dirty="0"/>
              <a:t>À ne pas confondre avec</a:t>
            </a:r>
            <a:r>
              <a:rPr lang="fr-CA" sz="2400" dirty="0"/>
              <a:t>:</a:t>
            </a:r>
          </a:p>
          <a:p>
            <a:r>
              <a:rPr lang="fr-CA" sz="2400" dirty="0"/>
              <a:t>Une haine de l’homme;</a:t>
            </a:r>
          </a:p>
          <a:p>
            <a:r>
              <a:rPr lang="fr-CA" sz="2400" dirty="0"/>
              <a:t>L’idée qu’homme et femme sont IDENTIQUES.</a:t>
            </a:r>
          </a:p>
          <a:p>
            <a:pPr marL="0" indent="0">
              <a:buNone/>
            </a:pPr>
            <a:endParaRPr lang="fr-CA" sz="2400" dirty="0"/>
          </a:p>
        </p:txBody>
      </p:sp>
    </p:spTree>
    <p:extLst>
      <p:ext uri="{BB962C8B-B14F-4D97-AF65-F5344CB8AC3E}">
        <p14:creationId xmlns:p14="http://schemas.microsoft.com/office/powerpoint/2010/main" val="4090082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657FC9-14DE-4AAE-93A1-D0C27B3B99BE}"/>
              </a:ext>
            </a:extLst>
          </p:cNvPr>
          <p:cNvSpPr>
            <a:spLocks noGrp="1"/>
          </p:cNvSpPr>
          <p:nvPr>
            <p:ph type="title"/>
          </p:nvPr>
        </p:nvSpPr>
        <p:spPr/>
        <p:txBody>
          <a:bodyPr/>
          <a:lstStyle/>
          <a:p>
            <a:r>
              <a:rPr lang="fr-CA" dirty="0"/>
              <a:t>Deuxième guerre mondiale</a:t>
            </a:r>
          </a:p>
        </p:txBody>
      </p:sp>
      <p:sp>
        <p:nvSpPr>
          <p:cNvPr id="3" name="Espace réservé du contenu 2">
            <a:extLst>
              <a:ext uri="{FF2B5EF4-FFF2-40B4-BE49-F238E27FC236}">
                <a16:creationId xmlns:a16="http://schemas.microsoft.com/office/drawing/2014/main" id="{94CBD6C9-529A-490D-94A8-DF68CE5F7166}"/>
              </a:ext>
            </a:extLst>
          </p:cNvPr>
          <p:cNvSpPr>
            <a:spLocks noGrp="1"/>
          </p:cNvSpPr>
          <p:nvPr>
            <p:ph sz="half" idx="1"/>
          </p:nvPr>
        </p:nvSpPr>
        <p:spPr/>
        <p:txBody>
          <a:bodyPr>
            <a:normAutofit/>
          </a:bodyPr>
          <a:lstStyle/>
          <a:p>
            <a:r>
              <a:rPr lang="fr-CA" sz="2400" dirty="0"/>
              <a:t>Hommes partis au front, manque de </a:t>
            </a:r>
            <a:r>
              <a:rPr lang="fr-CA" sz="2400" dirty="0" err="1"/>
              <a:t>main-d’oeuvre</a:t>
            </a:r>
            <a:r>
              <a:rPr lang="fr-CA" sz="2400" dirty="0"/>
              <a:t>.</a:t>
            </a:r>
          </a:p>
          <a:p>
            <a:r>
              <a:rPr lang="fr-CA" sz="2400" dirty="0"/>
              <a:t>Économie grandissante : maintenant indispensables.</a:t>
            </a:r>
          </a:p>
          <a:p>
            <a:r>
              <a:rPr lang="fr-CA" sz="2400" dirty="0"/>
              <a:t>Crédibilité des « </a:t>
            </a:r>
            <a:r>
              <a:rPr lang="fr-CA" sz="2400" dirty="0" err="1"/>
              <a:t>Sufragettes</a:t>
            </a:r>
            <a:r>
              <a:rPr lang="fr-CA" sz="2400" dirty="0"/>
              <a:t> » augmente. </a:t>
            </a:r>
          </a:p>
        </p:txBody>
      </p:sp>
      <p:pic>
        <p:nvPicPr>
          <p:cNvPr id="6" name="Espace réservé du contenu 5">
            <a:extLst>
              <a:ext uri="{FF2B5EF4-FFF2-40B4-BE49-F238E27FC236}">
                <a16:creationId xmlns:a16="http://schemas.microsoft.com/office/drawing/2014/main" id="{B80C20DB-41D0-408A-8A3F-F3B5035C070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39360" y="2421924"/>
            <a:ext cx="5896012" cy="3318102"/>
          </a:xfrm>
        </p:spPr>
      </p:pic>
    </p:spTree>
    <p:extLst>
      <p:ext uri="{BB962C8B-B14F-4D97-AF65-F5344CB8AC3E}">
        <p14:creationId xmlns:p14="http://schemas.microsoft.com/office/powerpoint/2010/main" val="3695683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D4A565-7CE0-48AE-91D1-C65210B8C2E0}"/>
              </a:ext>
            </a:extLst>
          </p:cNvPr>
          <p:cNvSpPr>
            <a:spLocks noGrp="1"/>
          </p:cNvSpPr>
          <p:nvPr>
            <p:ph type="title"/>
          </p:nvPr>
        </p:nvSpPr>
        <p:spPr/>
        <p:txBody>
          <a:bodyPr/>
          <a:lstStyle/>
          <a:p>
            <a:r>
              <a:rPr lang="fr-CA" dirty="0"/>
              <a:t>Littérature féministe</a:t>
            </a:r>
          </a:p>
        </p:txBody>
      </p:sp>
      <p:sp>
        <p:nvSpPr>
          <p:cNvPr id="3" name="Espace réservé du contenu 2">
            <a:extLst>
              <a:ext uri="{FF2B5EF4-FFF2-40B4-BE49-F238E27FC236}">
                <a16:creationId xmlns:a16="http://schemas.microsoft.com/office/drawing/2014/main" id="{2D1D6E85-27CF-46BD-AE3B-CF235086FB32}"/>
              </a:ext>
            </a:extLst>
          </p:cNvPr>
          <p:cNvSpPr>
            <a:spLocks noGrp="1"/>
          </p:cNvSpPr>
          <p:nvPr>
            <p:ph idx="1"/>
          </p:nvPr>
        </p:nvSpPr>
        <p:spPr/>
        <p:txBody>
          <a:bodyPr>
            <a:normAutofit/>
          </a:bodyPr>
          <a:lstStyle/>
          <a:p>
            <a:pPr marL="0" indent="0">
              <a:buNone/>
            </a:pPr>
            <a:r>
              <a:rPr lang="fr-CA" sz="2400" dirty="0" err="1"/>
              <a:t>PrécurseurEs</a:t>
            </a:r>
            <a:r>
              <a:rPr lang="fr-CA" sz="2400" dirty="0"/>
              <a:t>:</a:t>
            </a:r>
          </a:p>
          <a:p>
            <a:r>
              <a:rPr lang="fr-CA" sz="2400" dirty="0"/>
              <a:t>Christine de Pisan (14</a:t>
            </a:r>
            <a:r>
              <a:rPr lang="fr-CA" sz="2400" baseline="30000" dirty="0"/>
              <a:t>e</a:t>
            </a:r>
            <a:r>
              <a:rPr lang="fr-CA" sz="2400" dirty="0"/>
              <a:t> siècle);</a:t>
            </a:r>
          </a:p>
          <a:p>
            <a:r>
              <a:rPr lang="fr-CA" sz="2400" dirty="0"/>
              <a:t>Marguerite de Valois (Renaissance);</a:t>
            </a:r>
          </a:p>
          <a:p>
            <a:r>
              <a:rPr lang="fr-CA" sz="2400" dirty="0"/>
              <a:t>Mary Wollstonecraft, Olympe de Gouges, </a:t>
            </a:r>
            <a:r>
              <a:rPr lang="fr-CA" sz="2400" dirty="0" err="1"/>
              <a:t>Poullain</a:t>
            </a:r>
            <a:r>
              <a:rPr lang="fr-CA" sz="2400" dirty="0"/>
              <a:t> de la Barre (Lumières);</a:t>
            </a:r>
          </a:p>
          <a:p>
            <a:r>
              <a:rPr lang="fr-CA" sz="2400" dirty="0"/>
              <a:t>Flora Tristan, George Sand, Voltaire (19</a:t>
            </a:r>
            <a:r>
              <a:rPr lang="fr-CA" sz="2400" baseline="30000" dirty="0"/>
              <a:t>e</a:t>
            </a:r>
            <a:r>
              <a:rPr lang="fr-CA" sz="2400" dirty="0"/>
              <a:t> siècle)</a:t>
            </a:r>
          </a:p>
        </p:txBody>
      </p:sp>
    </p:spTree>
    <p:extLst>
      <p:ext uri="{BB962C8B-B14F-4D97-AF65-F5344CB8AC3E}">
        <p14:creationId xmlns:p14="http://schemas.microsoft.com/office/powerpoint/2010/main" val="1734422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8C9A18-FD3F-48B1-B692-5BBA702D2453}"/>
              </a:ext>
            </a:extLst>
          </p:cNvPr>
          <p:cNvSpPr>
            <a:spLocks noGrp="1"/>
          </p:cNvSpPr>
          <p:nvPr>
            <p:ph type="title"/>
          </p:nvPr>
        </p:nvSpPr>
        <p:spPr/>
        <p:txBody>
          <a:bodyPr/>
          <a:lstStyle/>
          <a:p>
            <a:r>
              <a:rPr lang="fr-CA" dirty="0"/>
              <a:t>« Le masculin l’emporte »</a:t>
            </a:r>
          </a:p>
        </p:txBody>
      </p:sp>
      <p:sp>
        <p:nvSpPr>
          <p:cNvPr id="3" name="Espace réservé du contenu 2">
            <a:extLst>
              <a:ext uri="{FF2B5EF4-FFF2-40B4-BE49-F238E27FC236}">
                <a16:creationId xmlns:a16="http://schemas.microsoft.com/office/drawing/2014/main" id="{FCFD9893-BC5A-4BC7-A85C-248CE7AABBC0}"/>
              </a:ext>
            </a:extLst>
          </p:cNvPr>
          <p:cNvSpPr>
            <a:spLocks noGrp="1"/>
          </p:cNvSpPr>
          <p:nvPr>
            <p:ph sz="half" idx="1"/>
          </p:nvPr>
        </p:nvSpPr>
        <p:spPr/>
        <p:txBody>
          <a:bodyPr>
            <a:normAutofit lnSpcReduction="10000"/>
          </a:bodyPr>
          <a:lstStyle/>
          <a:p>
            <a:pPr marL="0" indent="0">
              <a:buNone/>
            </a:pPr>
            <a:r>
              <a:rPr lang="fr-CA" b="1" cap="all" dirty="0"/>
              <a:t>À propos du mot précurseur: </a:t>
            </a:r>
          </a:p>
          <a:p>
            <a:pPr marL="0" indent="0">
              <a:buNone/>
            </a:pPr>
            <a:r>
              <a:rPr lang="fr-CA" b="1" cap="all" dirty="0"/>
              <a:t>GENRE</a:t>
            </a:r>
          </a:p>
          <a:p>
            <a:pPr marL="0" indent="0">
              <a:buNone/>
            </a:pPr>
            <a:r>
              <a:rPr lang="fr-CA" sz="2400" dirty="0"/>
              <a:t>Toujours masculin, même pour désigner une femme : </a:t>
            </a:r>
            <a:r>
              <a:rPr lang="fr-CA" sz="2400" i="1" dirty="0"/>
              <a:t>Marie Curie fut un précurseur dans l'étude de la radioactivité</a:t>
            </a:r>
            <a:r>
              <a:rPr lang="fr-CA" sz="2400" dirty="0"/>
              <a:t>.</a:t>
            </a:r>
          </a:p>
          <a:p>
            <a:pPr marL="0" indent="0">
              <a:buNone/>
            </a:pPr>
            <a:endParaRPr lang="fr-CA" sz="2400" dirty="0"/>
          </a:p>
          <a:p>
            <a:pPr marL="0" indent="0">
              <a:buNone/>
            </a:pPr>
            <a:r>
              <a:rPr lang="fr-CA" sz="2400" dirty="0"/>
              <a:t>Source: Larousse en ligne</a:t>
            </a:r>
          </a:p>
          <a:p>
            <a:pPr marL="0" indent="0">
              <a:buNone/>
            </a:pPr>
            <a:endParaRPr lang="fr-CA" dirty="0"/>
          </a:p>
        </p:txBody>
      </p:sp>
      <p:pic>
        <p:nvPicPr>
          <p:cNvPr id="6" name="Espace réservé du contenu 5" descr="Une image contenant animal, mammifère, assis, extérieur&#10;&#10;Description générée automatiquement">
            <a:extLst>
              <a:ext uri="{FF2B5EF4-FFF2-40B4-BE49-F238E27FC236}">
                <a16:creationId xmlns:a16="http://schemas.microsoft.com/office/drawing/2014/main" id="{8988BC73-D9A7-4A84-BD18-164860320C0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03204" y="2638425"/>
            <a:ext cx="3141743" cy="3101975"/>
          </a:xfrm>
        </p:spPr>
      </p:pic>
    </p:spTree>
    <p:extLst>
      <p:ext uri="{BB962C8B-B14F-4D97-AF65-F5344CB8AC3E}">
        <p14:creationId xmlns:p14="http://schemas.microsoft.com/office/powerpoint/2010/main" val="2879331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Est féministe une œuvre qui…</a:t>
            </a:r>
          </a:p>
        </p:txBody>
      </p:sp>
      <p:sp>
        <p:nvSpPr>
          <p:cNvPr id="3" name="Espace réservé du contenu 2"/>
          <p:cNvSpPr>
            <a:spLocks noGrp="1"/>
          </p:cNvSpPr>
          <p:nvPr>
            <p:ph sz="half" idx="1"/>
          </p:nvPr>
        </p:nvSpPr>
        <p:spPr/>
        <p:txBody>
          <a:bodyPr>
            <a:noAutofit/>
          </a:bodyPr>
          <a:lstStyle/>
          <a:p>
            <a:r>
              <a:rPr lang="fr-CA" sz="2400" dirty="0"/>
              <a:t>Dénonce les inégalités, les injustices dont les femmes sont victimes;</a:t>
            </a:r>
          </a:p>
          <a:p>
            <a:r>
              <a:rPr lang="fr-CA" sz="2400" dirty="0"/>
              <a:t>Réclame un changement des conditions dans lesquelles vivent les femmes;</a:t>
            </a:r>
          </a:p>
          <a:p>
            <a:r>
              <a:rPr lang="fr-CA" sz="2400" dirty="0"/>
              <a:t>Défend le principe d’égalité entre les genres;</a:t>
            </a:r>
          </a:p>
          <a:p>
            <a:r>
              <a:rPr lang="fr-CA" sz="2400" dirty="0"/>
              <a:t>Fait la satire du patriarcat. </a:t>
            </a:r>
          </a:p>
        </p:txBody>
      </p:sp>
      <p:pic>
        <p:nvPicPr>
          <p:cNvPr id="5" name="Espace réservé du contenu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338888" y="2638045"/>
            <a:ext cx="5118588" cy="2661666"/>
          </a:xfrm>
        </p:spPr>
      </p:pic>
    </p:spTree>
    <p:extLst>
      <p:ext uri="{BB962C8B-B14F-4D97-AF65-F5344CB8AC3E}">
        <p14:creationId xmlns:p14="http://schemas.microsoft.com/office/powerpoint/2010/main" val="3548775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EFE42B-B2A6-49DA-B10F-9067E863027F}"/>
              </a:ext>
            </a:extLst>
          </p:cNvPr>
          <p:cNvSpPr>
            <a:spLocks noGrp="1"/>
          </p:cNvSpPr>
          <p:nvPr>
            <p:ph type="title"/>
          </p:nvPr>
        </p:nvSpPr>
        <p:spPr/>
        <p:txBody>
          <a:bodyPr/>
          <a:lstStyle/>
          <a:p>
            <a:r>
              <a:rPr lang="fr-CA" dirty="0"/>
              <a:t>Littérature féministe du </a:t>
            </a:r>
            <a:r>
              <a:rPr lang="fr-CA" dirty="0" err="1"/>
              <a:t>Xx</a:t>
            </a:r>
            <a:r>
              <a:rPr lang="fr-CA" baseline="30000" dirty="0" err="1"/>
              <a:t>e</a:t>
            </a:r>
            <a:r>
              <a:rPr lang="fr-CA" dirty="0"/>
              <a:t> siècle</a:t>
            </a:r>
          </a:p>
        </p:txBody>
      </p:sp>
      <p:sp>
        <p:nvSpPr>
          <p:cNvPr id="5" name="Espace réservé du contenu 4">
            <a:extLst>
              <a:ext uri="{FF2B5EF4-FFF2-40B4-BE49-F238E27FC236}">
                <a16:creationId xmlns:a16="http://schemas.microsoft.com/office/drawing/2014/main" id="{5DE5566D-A8A0-4035-8617-644D041AD4B9}"/>
              </a:ext>
            </a:extLst>
          </p:cNvPr>
          <p:cNvSpPr>
            <a:spLocks noGrp="1"/>
          </p:cNvSpPr>
          <p:nvPr>
            <p:ph idx="1"/>
          </p:nvPr>
        </p:nvSpPr>
        <p:spPr/>
        <p:txBody>
          <a:bodyPr/>
          <a:lstStyle/>
          <a:p>
            <a:r>
              <a:rPr lang="fr-CA" sz="2400" dirty="0"/>
              <a:t>Vagues de transformations sociales et politiques dans les années ’60;  </a:t>
            </a:r>
          </a:p>
          <a:p>
            <a:pPr marL="0" indent="0">
              <a:buNone/>
            </a:pPr>
            <a:endParaRPr lang="fr-CA" sz="2400" dirty="0"/>
          </a:p>
          <a:p>
            <a:r>
              <a:rPr lang="fr-CA" sz="2400" dirty="0"/>
              <a:t>Autrices aux style et/ou propos engagés.</a:t>
            </a:r>
          </a:p>
          <a:p>
            <a:pPr marL="0" indent="0">
              <a:buNone/>
            </a:pPr>
            <a:endParaRPr lang="fr-CA" dirty="0"/>
          </a:p>
        </p:txBody>
      </p:sp>
    </p:spTree>
    <p:extLst>
      <p:ext uri="{BB962C8B-B14F-4D97-AF65-F5344CB8AC3E}">
        <p14:creationId xmlns:p14="http://schemas.microsoft.com/office/powerpoint/2010/main" val="2041488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B518DA-E337-4BF2-9377-6CA69D14693A}"/>
              </a:ext>
            </a:extLst>
          </p:cNvPr>
          <p:cNvSpPr>
            <a:spLocks noGrp="1"/>
          </p:cNvSpPr>
          <p:nvPr>
            <p:ph type="title"/>
          </p:nvPr>
        </p:nvSpPr>
        <p:spPr/>
        <p:txBody>
          <a:bodyPr/>
          <a:lstStyle/>
          <a:p>
            <a:r>
              <a:rPr lang="fr-CA" dirty="0"/>
              <a:t>Littérature féministe du </a:t>
            </a:r>
            <a:r>
              <a:rPr lang="fr-CA" dirty="0" err="1"/>
              <a:t>Xx</a:t>
            </a:r>
            <a:r>
              <a:rPr lang="fr-CA" baseline="30000" dirty="0" err="1"/>
              <a:t>e</a:t>
            </a:r>
            <a:r>
              <a:rPr lang="fr-CA" dirty="0"/>
              <a:t> siècle</a:t>
            </a:r>
          </a:p>
        </p:txBody>
      </p:sp>
      <p:sp>
        <p:nvSpPr>
          <p:cNvPr id="3" name="Espace réservé du contenu 2">
            <a:extLst>
              <a:ext uri="{FF2B5EF4-FFF2-40B4-BE49-F238E27FC236}">
                <a16:creationId xmlns:a16="http://schemas.microsoft.com/office/drawing/2014/main" id="{E32CCC1E-2698-437F-B095-D295852EFF7F}"/>
              </a:ext>
            </a:extLst>
          </p:cNvPr>
          <p:cNvSpPr>
            <a:spLocks noGrp="1"/>
          </p:cNvSpPr>
          <p:nvPr>
            <p:ph sz="half" idx="1"/>
          </p:nvPr>
        </p:nvSpPr>
        <p:spPr>
          <a:xfrm>
            <a:off x="1581912" y="2638043"/>
            <a:ext cx="4704588" cy="4324731"/>
          </a:xfrm>
        </p:spPr>
        <p:txBody>
          <a:bodyPr>
            <a:normAutofit fontScale="77500" lnSpcReduction="20000"/>
          </a:bodyPr>
          <a:lstStyle/>
          <a:p>
            <a:r>
              <a:rPr lang="fr-CA" sz="3800" dirty="0"/>
              <a:t>Virginia Wolf (Angleterre)</a:t>
            </a:r>
          </a:p>
          <a:p>
            <a:r>
              <a:rPr lang="fr-CA" sz="3800" dirty="0"/>
              <a:t>Emma Goldman (Russie)</a:t>
            </a:r>
          </a:p>
          <a:p>
            <a:r>
              <a:rPr lang="fr-CA" sz="3800" dirty="0"/>
              <a:t>Simone de Beauvoir (France)</a:t>
            </a:r>
          </a:p>
          <a:p>
            <a:r>
              <a:rPr lang="fr-CA" sz="3800" dirty="0"/>
              <a:t>Gisèle Halimi (Tunisie)</a:t>
            </a:r>
          </a:p>
          <a:p>
            <a:r>
              <a:rPr lang="fr-CA" sz="3800" dirty="0" err="1"/>
              <a:t>Mariama</a:t>
            </a:r>
            <a:r>
              <a:rPr lang="fr-CA" sz="3800" dirty="0"/>
              <a:t> Bâ (Sénégal)</a:t>
            </a:r>
          </a:p>
          <a:p>
            <a:r>
              <a:rPr lang="fr-CA" sz="3800" dirty="0"/>
              <a:t>Denise Boucher (Québec)</a:t>
            </a:r>
          </a:p>
          <a:p>
            <a:r>
              <a:rPr lang="fr-CA" sz="3800" dirty="0" err="1"/>
              <a:t>Eve</a:t>
            </a:r>
            <a:r>
              <a:rPr lang="fr-CA" sz="3800" dirty="0"/>
              <a:t> </a:t>
            </a:r>
            <a:r>
              <a:rPr lang="fr-CA" sz="3800" dirty="0" err="1"/>
              <a:t>Ensler</a:t>
            </a:r>
            <a:r>
              <a:rPr lang="fr-CA" sz="3800" dirty="0"/>
              <a:t> (États-Unis)</a:t>
            </a:r>
          </a:p>
          <a:p>
            <a:r>
              <a:rPr lang="fr-CA" sz="3800" dirty="0"/>
              <a:t>Margaret Atwood (Canada)</a:t>
            </a:r>
          </a:p>
          <a:p>
            <a:pPr marL="0" indent="0">
              <a:buNone/>
            </a:pPr>
            <a:endParaRPr lang="fr-CA" dirty="0"/>
          </a:p>
          <a:p>
            <a:endParaRPr lang="fr-CA" dirty="0"/>
          </a:p>
        </p:txBody>
      </p:sp>
      <p:pic>
        <p:nvPicPr>
          <p:cNvPr id="6" name="Espace réservé du contenu 5">
            <a:extLst>
              <a:ext uri="{FF2B5EF4-FFF2-40B4-BE49-F238E27FC236}">
                <a16:creationId xmlns:a16="http://schemas.microsoft.com/office/drawing/2014/main" id="{CEA7422E-23F5-4E9D-B077-0FF24D9D799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43472" y="2638044"/>
            <a:ext cx="5594199" cy="3292788"/>
          </a:xfrm>
        </p:spPr>
      </p:pic>
    </p:spTree>
    <p:extLst>
      <p:ext uri="{BB962C8B-B14F-4D97-AF65-F5344CB8AC3E}">
        <p14:creationId xmlns:p14="http://schemas.microsoft.com/office/powerpoint/2010/main" val="2659222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23F8B2-C4D3-40DE-A7E2-A0B32082760F}"/>
              </a:ext>
            </a:extLst>
          </p:cNvPr>
          <p:cNvSpPr>
            <a:spLocks noGrp="1"/>
          </p:cNvSpPr>
          <p:nvPr>
            <p:ph type="title"/>
          </p:nvPr>
        </p:nvSpPr>
        <p:spPr/>
        <p:txBody>
          <a:bodyPr/>
          <a:lstStyle/>
          <a:p>
            <a:r>
              <a:rPr lang="fr-CA" dirty="0"/>
              <a:t>Littérature féministe</a:t>
            </a:r>
          </a:p>
        </p:txBody>
      </p:sp>
      <p:sp>
        <p:nvSpPr>
          <p:cNvPr id="3" name="Espace réservé du contenu 2">
            <a:extLst>
              <a:ext uri="{FF2B5EF4-FFF2-40B4-BE49-F238E27FC236}">
                <a16:creationId xmlns:a16="http://schemas.microsoft.com/office/drawing/2014/main" id="{154320D7-8F20-4E2F-B7B8-7564552AC95A}"/>
              </a:ext>
            </a:extLst>
          </p:cNvPr>
          <p:cNvSpPr>
            <a:spLocks noGrp="1"/>
          </p:cNvSpPr>
          <p:nvPr>
            <p:ph sz="half" idx="1"/>
          </p:nvPr>
        </p:nvSpPr>
        <p:spPr>
          <a:xfrm>
            <a:off x="1581912" y="2638044"/>
            <a:ext cx="5802921" cy="4315474"/>
          </a:xfrm>
        </p:spPr>
        <p:txBody>
          <a:bodyPr>
            <a:normAutofit/>
          </a:bodyPr>
          <a:lstStyle/>
          <a:p>
            <a:pPr marL="0" indent="0">
              <a:buNone/>
            </a:pPr>
            <a:r>
              <a:rPr lang="fr-CA" sz="2400" dirty="0"/>
              <a:t>Des nuances importantes:</a:t>
            </a:r>
          </a:p>
          <a:p>
            <a:r>
              <a:rPr lang="fr-CA" sz="2400" dirty="0"/>
              <a:t>Une autrice n’est pas automatiquement féministe en étant femme;</a:t>
            </a:r>
          </a:p>
          <a:p>
            <a:r>
              <a:rPr lang="fr-CA" sz="2400" dirty="0"/>
              <a:t>Le féminisme défend le droit de toute femme à choisir elle-même son point de vue;</a:t>
            </a:r>
          </a:p>
          <a:p>
            <a:r>
              <a:rPr lang="fr-CA" sz="2400" dirty="0"/>
              <a:t>Être féministe ne signifie pas être d’accord avec toutes les femmes, même les autres féministes.</a:t>
            </a:r>
          </a:p>
        </p:txBody>
      </p:sp>
      <p:pic>
        <p:nvPicPr>
          <p:cNvPr id="6" name="Espace réservé du contenu 5">
            <a:extLst>
              <a:ext uri="{FF2B5EF4-FFF2-40B4-BE49-F238E27FC236}">
                <a16:creationId xmlns:a16="http://schemas.microsoft.com/office/drawing/2014/main" id="{78CABED3-3B16-46F7-8C34-2BC016B35A7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384833" y="2248930"/>
            <a:ext cx="3273620" cy="4609070"/>
          </a:xfrm>
        </p:spPr>
      </p:pic>
    </p:spTree>
    <p:extLst>
      <p:ext uri="{BB962C8B-B14F-4D97-AF65-F5344CB8AC3E}">
        <p14:creationId xmlns:p14="http://schemas.microsoft.com/office/powerpoint/2010/main" val="1583187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E762D8-EAE7-4B20-A8D1-43C7B792DC99}"/>
              </a:ext>
            </a:extLst>
          </p:cNvPr>
          <p:cNvSpPr>
            <a:spLocks noGrp="1"/>
          </p:cNvSpPr>
          <p:nvPr>
            <p:ph type="title"/>
          </p:nvPr>
        </p:nvSpPr>
        <p:spPr/>
        <p:txBody>
          <a:bodyPr/>
          <a:lstStyle/>
          <a:p>
            <a:r>
              <a:rPr lang="fr-CA" dirty="0"/>
              <a:t>Littérature féministe du XXI</a:t>
            </a:r>
            <a:r>
              <a:rPr lang="fr-CA" baseline="30000" dirty="0"/>
              <a:t>e</a:t>
            </a:r>
            <a:r>
              <a:rPr lang="fr-CA" dirty="0"/>
              <a:t> siècle</a:t>
            </a:r>
          </a:p>
        </p:txBody>
      </p:sp>
      <p:sp>
        <p:nvSpPr>
          <p:cNvPr id="3" name="Espace réservé du contenu 2">
            <a:extLst>
              <a:ext uri="{FF2B5EF4-FFF2-40B4-BE49-F238E27FC236}">
                <a16:creationId xmlns:a16="http://schemas.microsoft.com/office/drawing/2014/main" id="{D9BF5506-B957-4578-8950-6B04DB261612}"/>
              </a:ext>
            </a:extLst>
          </p:cNvPr>
          <p:cNvSpPr>
            <a:spLocks noGrp="1"/>
          </p:cNvSpPr>
          <p:nvPr>
            <p:ph sz="half" idx="1"/>
          </p:nvPr>
        </p:nvSpPr>
        <p:spPr>
          <a:xfrm>
            <a:off x="1581912" y="2638044"/>
            <a:ext cx="5333238" cy="4219956"/>
          </a:xfrm>
        </p:spPr>
        <p:txBody>
          <a:bodyPr>
            <a:normAutofit/>
          </a:bodyPr>
          <a:lstStyle/>
          <a:p>
            <a:r>
              <a:rPr lang="fr-CA" sz="2400" dirty="0"/>
              <a:t>Les nouvelles technologies en communication permettent aux différentes minorités d’avoir une voix sur la place publique.</a:t>
            </a:r>
          </a:p>
          <a:p>
            <a:pPr marL="0" indent="0">
              <a:buNone/>
            </a:pPr>
            <a:endParaRPr lang="fr-CA" sz="2400" dirty="0"/>
          </a:p>
          <a:p>
            <a:r>
              <a:rPr lang="fr-CA" sz="2400" dirty="0"/>
              <a:t>Leur prise de parole permet de faire ressortir les oublis et / ou les ratés du féminisme du </a:t>
            </a:r>
            <a:r>
              <a:rPr lang="fr-CA" sz="2400" dirty="0" err="1"/>
              <a:t>Xxe</a:t>
            </a:r>
            <a:r>
              <a:rPr lang="fr-CA" sz="2400" dirty="0"/>
              <a:t> siècle (féminisme européen et nord-américain). </a:t>
            </a:r>
          </a:p>
        </p:txBody>
      </p:sp>
      <p:pic>
        <p:nvPicPr>
          <p:cNvPr id="9" name="Espace réservé du contenu 8" descr="Une image contenant capture d’écran&#10;&#10;Description générée automatiquement">
            <a:extLst>
              <a:ext uri="{FF2B5EF4-FFF2-40B4-BE49-F238E27FC236}">
                <a16:creationId xmlns:a16="http://schemas.microsoft.com/office/drawing/2014/main" id="{B90506C0-F0FC-409A-A69C-850D79C2AB2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31167" y="2153412"/>
            <a:ext cx="2829697" cy="4427108"/>
          </a:xfrm>
        </p:spPr>
      </p:pic>
    </p:spTree>
    <p:extLst>
      <p:ext uri="{BB962C8B-B14F-4D97-AF65-F5344CB8AC3E}">
        <p14:creationId xmlns:p14="http://schemas.microsoft.com/office/powerpoint/2010/main" val="903149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6F2CC9-207D-4308-A7CB-A1541CD07D37}"/>
              </a:ext>
            </a:extLst>
          </p:cNvPr>
          <p:cNvSpPr>
            <a:spLocks noGrp="1"/>
          </p:cNvSpPr>
          <p:nvPr>
            <p:ph type="title"/>
          </p:nvPr>
        </p:nvSpPr>
        <p:spPr/>
        <p:txBody>
          <a:bodyPr/>
          <a:lstStyle/>
          <a:p>
            <a:r>
              <a:rPr lang="fr-CA" dirty="0"/>
              <a:t>Littérature féministe du XXI</a:t>
            </a:r>
            <a:r>
              <a:rPr lang="fr-CA" baseline="30000" dirty="0"/>
              <a:t>e</a:t>
            </a:r>
            <a:r>
              <a:rPr lang="fr-CA" dirty="0"/>
              <a:t> siècle</a:t>
            </a:r>
          </a:p>
        </p:txBody>
      </p:sp>
      <p:sp>
        <p:nvSpPr>
          <p:cNvPr id="3" name="Espace réservé du contenu 2">
            <a:extLst>
              <a:ext uri="{FF2B5EF4-FFF2-40B4-BE49-F238E27FC236}">
                <a16:creationId xmlns:a16="http://schemas.microsoft.com/office/drawing/2014/main" id="{C6E4B983-FF69-49EF-875A-4367B22D17E2}"/>
              </a:ext>
            </a:extLst>
          </p:cNvPr>
          <p:cNvSpPr>
            <a:spLocks noGrp="1"/>
          </p:cNvSpPr>
          <p:nvPr>
            <p:ph sz="half" idx="1"/>
          </p:nvPr>
        </p:nvSpPr>
        <p:spPr>
          <a:xfrm>
            <a:off x="1581912" y="2638044"/>
            <a:ext cx="5685663" cy="4391406"/>
          </a:xfrm>
        </p:spPr>
        <p:txBody>
          <a:bodyPr/>
          <a:lstStyle/>
          <a:p>
            <a:pPr marL="0" indent="0">
              <a:buNone/>
            </a:pPr>
            <a:r>
              <a:rPr lang="fr-CA" sz="2400" dirty="0"/>
              <a:t>Les réseaux sociaux et les nouvelles technologies de la communications ont par contre aussi un effet pervers sur:</a:t>
            </a:r>
          </a:p>
          <a:p>
            <a:r>
              <a:rPr lang="fr-CA" sz="2400" dirty="0"/>
              <a:t>La lutte contre l’exploitation de la femme;</a:t>
            </a:r>
          </a:p>
          <a:p>
            <a:r>
              <a:rPr lang="fr-CA" sz="2400" dirty="0"/>
              <a:t>Le droit à l’intimité (harcèlement, « </a:t>
            </a:r>
            <a:r>
              <a:rPr lang="fr-CA" sz="2400" dirty="0" err="1"/>
              <a:t>slut-shaming</a:t>
            </a:r>
            <a:r>
              <a:rPr lang="fr-CA" sz="2400" dirty="0"/>
              <a:t> »);</a:t>
            </a:r>
          </a:p>
          <a:p>
            <a:r>
              <a:rPr lang="fr-CA" sz="2400" dirty="0"/>
              <a:t>Le rapport à l’Autre de façon générale (« </a:t>
            </a:r>
            <a:r>
              <a:rPr lang="fr-CA" sz="2400" dirty="0" err="1"/>
              <a:t>trolling</a:t>
            </a:r>
            <a:r>
              <a:rPr lang="fr-CA" sz="2400" dirty="0"/>
              <a:t> »).</a:t>
            </a:r>
          </a:p>
          <a:p>
            <a:endParaRPr lang="fr-CA" dirty="0"/>
          </a:p>
          <a:p>
            <a:endParaRPr lang="fr-CA" dirty="0"/>
          </a:p>
        </p:txBody>
      </p:sp>
      <p:pic>
        <p:nvPicPr>
          <p:cNvPr id="6" name="Espace réservé du contenu 5" descr="Une image contenant habits, personne, portant&#10;&#10;Description générée automatiquement">
            <a:extLst>
              <a:ext uri="{FF2B5EF4-FFF2-40B4-BE49-F238E27FC236}">
                <a16:creationId xmlns:a16="http://schemas.microsoft.com/office/drawing/2014/main" id="{AE35E3AC-3183-49A8-B574-DA32FCAE676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724858" y="2353223"/>
            <a:ext cx="2605392" cy="4323843"/>
          </a:xfrm>
        </p:spPr>
      </p:pic>
    </p:spTree>
    <p:extLst>
      <p:ext uri="{BB962C8B-B14F-4D97-AF65-F5344CB8AC3E}">
        <p14:creationId xmlns:p14="http://schemas.microsoft.com/office/powerpoint/2010/main" val="3062589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4DC1E8-F352-4296-9F04-D3431B563C2B}"/>
              </a:ext>
            </a:extLst>
          </p:cNvPr>
          <p:cNvSpPr>
            <a:spLocks noGrp="1"/>
          </p:cNvSpPr>
          <p:nvPr>
            <p:ph type="title"/>
          </p:nvPr>
        </p:nvSpPr>
        <p:spPr/>
        <p:txBody>
          <a:bodyPr/>
          <a:lstStyle/>
          <a:p>
            <a:r>
              <a:rPr lang="fr-CA" dirty="0"/>
              <a:t>Auteures féministes du </a:t>
            </a:r>
            <a:r>
              <a:rPr lang="fr-CA" dirty="0" err="1"/>
              <a:t>xxi</a:t>
            </a:r>
            <a:r>
              <a:rPr lang="fr-CA" baseline="30000" dirty="0" err="1"/>
              <a:t>e</a:t>
            </a:r>
            <a:r>
              <a:rPr lang="fr-CA" dirty="0"/>
              <a:t> siècle</a:t>
            </a:r>
          </a:p>
        </p:txBody>
      </p:sp>
      <p:sp>
        <p:nvSpPr>
          <p:cNvPr id="3" name="Espace réservé du contenu 2">
            <a:extLst>
              <a:ext uri="{FF2B5EF4-FFF2-40B4-BE49-F238E27FC236}">
                <a16:creationId xmlns:a16="http://schemas.microsoft.com/office/drawing/2014/main" id="{FC8445DC-FDA6-479B-A654-A1D7B5EA57B0}"/>
              </a:ext>
            </a:extLst>
          </p:cNvPr>
          <p:cNvSpPr>
            <a:spLocks noGrp="1"/>
          </p:cNvSpPr>
          <p:nvPr>
            <p:ph sz="half" idx="1"/>
          </p:nvPr>
        </p:nvSpPr>
        <p:spPr>
          <a:xfrm>
            <a:off x="1581912" y="2638044"/>
            <a:ext cx="4990338" cy="3991356"/>
          </a:xfrm>
        </p:spPr>
        <p:txBody>
          <a:bodyPr/>
          <a:lstStyle/>
          <a:p>
            <a:r>
              <a:rPr lang="fr-CA" sz="2800" dirty="0"/>
              <a:t>Roxane Gay (États-Unis);</a:t>
            </a:r>
          </a:p>
          <a:p>
            <a:r>
              <a:rPr lang="fr-CA" sz="2800" dirty="0" err="1"/>
              <a:t>Chimamanda</a:t>
            </a:r>
            <a:r>
              <a:rPr lang="fr-CA" sz="2800" dirty="0"/>
              <a:t> Ngozi </a:t>
            </a:r>
            <a:r>
              <a:rPr lang="fr-CA" sz="2800" dirty="0" err="1"/>
              <a:t>Adichie</a:t>
            </a:r>
            <a:r>
              <a:rPr lang="fr-CA" sz="2800" dirty="0"/>
              <a:t> (Nigeria);</a:t>
            </a:r>
          </a:p>
          <a:p>
            <a:r>
              <a:rPr lang="fr-CA" sz="2800" dirty="0"/>
              <a:t>Nelly Arcand (Québec);</a:t>
            </a:r>
          </a:p>
          <a:p>
            <a:r>
              <a:rPr lang="fr-CA" sz="2800" dirty="0"/>
              <a:t>Annie </a:t>
            </a:r>
            <a:r>
              <a:rPr lang="fr-CA" sz="2800" dirty="0" err="1"/>
              <a:t>Ernaux</a:t>
            </a:r>
            <a:r>
              <a:rPr lang="fr-CA" sz="2800" dirty="0"/>
              <a:t> (France);</a:t>
            </a:r>
          </a:p>
          <a:p>
            <a:r>
              <a:rPr lang="fr-CA" sz="2800" dirty="0" err="1"/>
              <a:t>bell</a:t>
            </a:r>
            <a:r>
              <a:rPr lang="fr-CA" sz="2800" dirty="0"/>
              <a:t> </a:t>
            </a:r>
            <a:r>
              <a:rPr lang="fr-CA" sz="2800" dirty="0" err="1"/>
              <a:t>hooks</a:t>
            </a:r>
            <a:r>
              <a:rPr lang="fr-CA" sz="2800" dirty="0"/>
              <a:t> (États-Unis);</a:t>
            </a:r>
          </a:p>
          <a:p>
            <a:r>
              <a:rPr lang="fr-CA" sz="2800" dirty="0"/>
              <a:t>Emma (France).</a:t>
            </a:r>
          </a:p>
          <a:p>
            <a:endParaRPr lang="fr-CA" dirty="0"/>
          </a:p>
          <a:p>
            <a:endParaRPr lang="fr-CA" dirty="0"/>
          </a:p>
          <a:p>
            <a:endParaRPr lang="fr-CA" dirty="0"/>
          </a:p>
        </p:txBody>
      </p:sp>
      <p:pic>
        <p:nvPicPr>
          <p:cNvPr id="5" name="Espace réservé du contenu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328002" y="2638044"/>
            <a:ext cx="5209396" cy="2930284"/>
          </a:xfrm>
        </p:spPr>
      </p:pic>
    </p:spTree>
    <p:extLst>
      <p:ext uri="{BB962C8B-B14F-4D97-AF65-F5344CB8AC3E}">
        <p14:creationId xmlns:p14="http://schemas.microsoft.com/office/powerpoint/2010/main" val="2126978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89701A-36EB-4A49-83D2-333E1C60A24B}"/>
              </a:ext>
            </a:extLst>
          </p:cNvPr>
          <p:cNvSpPr>
            <a:spLocks noGrp="1"/>
          </p:cNvSpPr>
          <p:nvPr>
            <p:ph type="title"/>
          </p:nvPr>
        </p:nvSpPr>
        <p:spPr/>
        <p:txBody>
          <a:bodyPr/>
          <a:lstStyle/>
          <a:p>
            <a:r>
              <a:rPr lang="fr-CA" dirty="0"/>
              <a:t>Pourquoi le féminisme de nos jours?</a:t>
            </a:r>
          </a:p>
        </p:txBody>
      </p:sp>
      <p:sp>
        <p:nvSpPr>
          <p:cNvPr id="3" name="Espace réservé du contenu 2">
            <a:extLst>
              <a:ext uri="{FF2B5EF4-FFF2-40B4-BE49-F238E27FC236}">
                <a16:creationId xmlns:a16="http://schemas.microsoft.com/office/drawing/2014/main" id="{80BC6C18-7E68-41AE-A0A3-6AD87F727EA7}"/>
              </a:ext>
            </a:extLst>
          </p:cNvPr>
          <p:cNvSpPr>
            <a:spLocks noGrp="1"/>
          </p:cNvSpPr>
          <p:nvPr>
            <p:ph sz="half" idx="1"/>
          </p:nvPr>
        </p:nvSpPr>
        <p:spPr>
          <a:xfrm>
            <a:off x="1581912" y="2638044"/>
            <a:ext cx="4656963" cy="4048506"/>
          </a:xfrm>
        </p:spPr>
        <p:txBody>
          <a:bodyPr>
            <a:normAutofit/>
          </a:bodyPr>
          <a:lstStyle/>
          <a:p>
            <a:pPr marL="0" indent="0" algn="just">
              <a:buNone/>
            </a:pPr>
            <a:r>
              <a:rPr lang="fr-CA" sz="2400" dirty="0"/>
              <a:t>« N'oubliez jamais qu'il suffira d'une crise politique, économique ou religieuse pour que les droits des femmes soient remis en question. Ces droits ne sont jamais acquis. Vous devrez rester vigilantes votre vie durant. »</a:t>
            </a:r>
          </a:p>
          <a:p>
            <a:pPr marL="0" indent="0">
              <a:buNone/>
            </a:pPr>
            <a:endParaRPr lang="fr-CA" sz="2400" dirty="0"/>
          </a:p>
          <a:p>
            <a:pPr marL="0" indent="0">
              <a:buNone/>
            </a:pPr>
            <a:r>
              <a:rPr lang="fr-CA" sz="2400" dirty="0"/>
              <a:t>Simone de Beauvoir</a:t>
            </a:r>
          </a:p>
        </p:txBody>
      </p:sp>
      <p:pic>
        <p:nvPicPr>
          <p:cNvPr id="6" name="Espace réservé du contenu 5" descr="Une image contenant personne, homme, cravate, complet&#10;&#10;Description générée automatiquement">
            <a:extLst>
              <a:ext uri="{FF2B5EF4-FFF2-40B4-BE49-F238E27FC236}">
                <a16:creationId xmlns:a16="http://schemas.microsoft.com/office/drawing/2014/main" id="{013061CD-E1D6-44A7-A26D-A5B67942747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38888" y="2991185"/>
            <a:ext cx="4270375" cy="2396455"/>
          </a:xfrm>
        </p:spPr>
      </p:pic>
    </p:spTree>
    <p:extLst>
      <p:ext uri="{BB962C8B-B14F-4D97-AF65-F5344CB8AC3E}">
        <p14:creationId xmlns:p14="http://schemas.microsoft.com/office/powerpoint/2010/main" val="2298806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7191D7-E2C5-4B1C-BAE8-3E2DA85AA2D0}"/>
              </a:ext>
            </a:extLst>
          </p:cNvPr>
          <p:cNvSpPr>
            <a:spLocks noGrp="1"/>
          </p:cNvSpPr>
          <p:nvPr>
            <p:ph type="title"/>
          </p:nvPr>
        </p:nvSpPr>
        <p:spPr/>
        <p:txBody>
          <a:bodyPr/>
          <a:lstStyle/>
          <a:p>
            <a:r>
              <a:rPr lang="fr-CA" dirty="0"/>
              <a:t>Pourquoi le féminisme de nos jours?</a:t>
            </a:r>
          </a:p>
        </p:txBody>
      </p:sp>
      <p:pic>
        <p:nvPicPr>
          <p:cNvPr id="6" name="Espace réservé du contenu 5" descr="Une image contenant personne, complet, homme, habits&#10;&#10;Description générée automatiquement">
            <a:extLst>
              <a:ext uri="{FF2B5EF4-FFF2-40B4-BE49-F238E27FC236}">
                <a16:creationId xmlns:a16="http://schemas.microsoft.com/office/drawing/2014/main" id="{7928CDA5-8104-45D8-9158-DD17E84CD7E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649148" y="2638425"/>
            <a:ext cx="4135966" cy="3101975"/>
          </a:xfrm>
        </p:spPr>
      </p:pic>
      <p:pic>
        <p:nvPicPr>
          <p:cNvPr id="8" name="Espace réservé du contenu 7" descr="Une image contenant personne, homme, complet, mur&#10;&#10;Description générée automatiquement">
            <a:extLst>
              <a:ext uri="{FF2B5EF4-FFF2-40B4-BE49-F238E27FC236}">
                <a16:creationId xmlns:a16="http://schemas.microsoft.com/office/drawing/2014/main" id="{3EEB1C2B-1EE7-43E5-994E-771727BDA22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38888" y="2680856"/>
            <a:ext cx="4270375" cy="3017112"/>
          </a:xfrm>
        </p:spPr>
      </p:pic>
    </p:spTree>
    <p:extLst>
      <p:ext uri="{BB962C8B-B14F-4D97-AF65-F5344CB8AC3E}">
        <p14:creationId xmlns:p14="http://schemas.microsoft.com/office/powerpoint/2010/main" val="2952306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D79F39-578F-40C1-9E40-E634A160F312}"/>
              </a:ext>
            </a:extLst>
          </p:cNvPr>
          <p:cNvSpPr>
            <a:spLocks noGrp="1"/>
          </p:cNvSpPr>
          <p:nvPr>
            <p:ph type="title"/>
          </p:nvPr>
        </p:nvSpPr>
        <p:spPr/>
        <p:txBody>
          <a:bodyPr/>
          <a:lstStyle/>
          <a:p>
            <a:r>
              <a:rPr lang="fr-CA" dirty="0"/>
              <a:t>Pourquoi le féminisme de nos jours?</a:t>
            </a:r>
          </a:p>
        </p:txBody>
      </p:sp>
      <p:pic>
        <p:nvPicPr>
          <p:cNvPr id="6" name="Espace réservé du contenu 5" descr="Une image contenant intérieur, mur, plancher, bâtiment&#10;&#10;Description générée automatiquement">
            <a:extLst>
              <a:ext uri="{FF2B5EF4-FFF2-40B4-BE49-F238E27FC236}">
                <a16:creationId xmlns:a16="http://schemas.microsoft.com/office/drawing/2014/main" id="{511649A9-0967-4911-9D49-955C2A8E64C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923554" y="2638425"/>
            <a:ext cx="3587155" cy="3101975"/>
          </a:xfrm>
        </p:spPr>
      </p:pic>
      <p:pic>
        <p:nvPicPr>
          <p:cNvPr id="8" name="Espace réservé du contenu 7" descr="Une image contenant personne, mur, homme, intérieur&#10;&#10;Description générée automatiquement">
            <a:extLst>
              <a:ext uri="{FF2B5EF4-FFF2-40B4-BE49-F238E27FC236}">
                <a16:creationId xmlns:a16="http://schemas.microsoft.com/office/drawing/2014/main" id="{CA47E7AF-085C-4402-BB6C-62EA5B49F27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38888" y="2854920"/>
            <a:ext cx="4270375" cy="2668984"/>
          </a:xfrm>
        </p:spPr>
      </p:pic>
    </p:spTree>
    <p:extLst>
      <p:ext uri="{BB962C8B-B14F-4D97-AF65-F5344CB8AC3E}">
        <p14:creationId xmlns:p14="http://schemas.microsoft.com/office/powerpoint/2010/main" val="3031357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9F61D1-3E4F-4362-B80F-FF5D033AF07B}"/>
              </a:ext>
            </a:extLst>
          </p:cNvPr>
          <p:cNvSpPr>
            <a:spLocks noGrp="1"/>
          </p:cNvSpPr>
          <p:nvPr>
            <p:ph type="title"/>
          </p:nvPr>
        </p:nvSpPr>
        <p:spPr/>
        <p:txBody>
          <a:bodyPr/>
          <a:lstStyle/>
          <a:p>
            <a:r>
              <a:rPr lang="fr-CA" dirty="0"/>
              <a:t>Pourquoi le féminisme de nos jours?</a:t>
            </a:r>
          </a:p>
        </p:txBody>
      </p:sp>
      <p:pic>
        <p:nvPicPr>
          <p:cNvPr id="6" name="Espace réservé du contenu 5" descr="Une image contenant plancher, intérieur, mur, cuisine&#10;&#10;Description générée automatiquement">
            <a:extLst>
              <a:ext uri="{FF2B5EF4-FFF2-40B4-BE49-F238E27FC236}">
                <a16:creationId xmlns:a16="http://schemas.microsoft.com/office/drawing/2014/main" id="{BD8896A0-581E-4224-B198-B1CD89D87B4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581150" y="2989077"/>
            <a:ext cx="4271963" cy="2400670"/>
          </a:xfrm>
        </p:spPr>
      </p:pic>
      <p:pic>
        <p:nvPicPr>
          <p:cNvPr id="8" name="Espace réservé du contenu 7" descr="Une image contenant personne, habits, bâtiment, mariage&#10;&#10;Description générée automatiquement">
            <a:extLst>
              <a:ext uri="{FF2B5EF4-FFF2-40B4-BE49-F238E27FC236}">
                <a16:creationId xmlns:a16="http://schemas.microsoft.com/office/drawing/2014/main" id="{DE883736-107A-4726-AAA0-0C45AEC17F8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8052" y="2989077"/>
            <a:ext cx="4592051" cy="2400669"/>
          </a:xfrm>
        </p:spPr>
      </p:pic>
    </p:spTree>
    <p:extLst>
      <p:ext uri="{BB962C8B-B14F-4D97-AF65-F5344CB8AC3E}">
        <p14:creationId xmlns:p14="http://schemas.microsoft.com/office/powerpoint/2010/main" val="4029534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3D869C-CAD5-4D1B-A66B-0C8DB1DC0F34}"/>
              </a:ext>
            </a:extLst>
          </p:cNvPr>
          <p:cNvSpPr>
            <a:spLocks noGrp="1"/>
          </p:cNvSpPr>
          <p:nvPr>
            <p:ph type="title"/>
          </p:nvPr>
        </p:nvSpPr>
        <p:spPr/>
        <p:txBody>
          <a:bodyPr/>
          <a:lstStyle/>
          <a:p>
            <a:r>
              <a:rPr lang="fr-CA" dirty="0"/>
              <a:t>Pourquoi le féminisme de nos jours?</a:t>
            </a:r>
          </a:p>
        </p:txBody>
      </p:sp>
      <p:pic>
        <p:nvPicPr>
          <p:cNvPr id="6" name="Espace réservé du contenu 5" descr="Une image contenant homme, personne, cravate, habits&#10;&#10;Description générée automatiquement">
            <a:extLst>
              <a:ext uri="{FF2B5EF4-FFF2-40B4-BE49-F238E27FC236}">
                <a16:creationId xmlns:a16="http://schemas.microsoft.com/office/drawing/2014/main" id="{C429AFBD-63D4-4514-BDC9-42341CDB512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47463" y="2826901"/>
            <a:ext cx="5448537" cy="2724268"/>
          </a:xfrm>
        </p:spPr>
      </p:pic>
      <p:pic>
        <p:nvPicPr>
          <p:cNvPr id="8" name="Espace réservé du contenu 7" descr="Une image contenant personne, bâtiment&#10;&#10;Description générée automatiquement">
            <a:extLst>
              <a:ext uri="{FF2B5EF4-FFF2-40B4-BE49-F238E27FC236}">
                <a16:creationId xmlns:a16="http://schemas.microsoft.com/office/drawing/2014/main" id="{EC978C28-E741-4DEB-A520-883D12FE564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38888" y="2763517"/>
            <a:ext cx="4270375" cy="2851791"/>
          </a:xfrm>
        </p:spPr>
      </p:pic>
    </p:spTree>
    <p:extLst>
      <p:ext uri="{BB962C8B-B14F-4D97-AF65-F5344CB8AC3E}">
        <p14:creationId xmlns:p14="http://schemas.microsoft.com/office/powerpoint/2010/main" val="390876999"/>
      </p:ext>
    </p:extLst>
  </p:cSld>
  <p:clrMapOvr>
    <a:masterClrMapping/>
  </p:clrMapOvr>
</p:sld>
</file>

<file path=ppt/theme/theme1.xml><?xml version="1.0" encoding="utf-8"?>
<a:theme xmlns:a="http://schemas.openxmlformats.org/drawingml/2006/main" name="Colis">
  <a:themeElements>
    <a:clrScheme name="Colis">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Colis">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olis">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TM10001115[[fn=Colis]]</Template>
  <TotalTime>188</TotalTime>
  <Words>527</Words>
  <Application>Microsoft Office PowerPoint</Application>
  <PresentationFormat>Grand écran</PresentationFormat>
  <Paragraphs>72</Paragraphs>
  <Slides>17</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17</vt:i4>
      </vt:variant>
    </vt:vector>
  </HeadingPairs>
  <TitlesOfParts>
    <vt:vector size="20" baseType="lpstr">
      <vt:lpstr>Arial</vt:lpstr>
      <vt:lpstr>Gill Sans MT</vt:lpstr>
      <vt:lpstr>Colis</vt:lpstr>
      <vt:lpstr>Le féminisme</vt:lpstr>
      <vt:lpstr>définition</vt:lpstr>
      <vt:lpstr>Deuxième guerre mondiale</vt:lpstr>
      <vt:lpstr>Littérature féministe</vt:lpstr>
      <vt:lpstr>« Le masculin l’emporte »</vt:lpstr>
      <vt:lpstr>Est féministe une œuvre qui…</vt:lpstr>
      <vt:lpstr>Littérature féministe du Xxe siècle</vt:lpstr>
      <vt:lpstr>Littérature féministe du Xxe siècle</vt:lpstr>
      <vt:lpstr>Littérature féministe</vt:lpstr>
      <vt:lpstr>Littérature féministe du XXIe siècle</vt:lpstr>
      <vt:lpstr>Littérature féministe du XXIe siècle</vt:lpstr>
      <vt:lpstr>Auteures féministes du xxie siècle</vt:lpstr>
      <vt:lpstr>Pourquoi le féminisme de nos jours?</vt:lpstr>
      <vt:lpstr>Pourquoi le féminisme de nos jours?</vt:lpstr>
      <vt:lpstr>Pourquoi le féminisme de nos jours?</vt:lpstr>
      <vt:lpstr>Pourquoi le féminisme de nos jours?</vt:lpstr>
      <vt:lpstr>Pourquoi le féminisme de nos jours?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féminisme</dc:title>
  <dc:creator>Élisabeth Désourdy</dc:creator>
  <cp:lastModifiedBy>Élisabeth Désourdy</cp:lastModifiedBy>
  <cp:revision>25</cp:revision>
  <dcterms:created xsi:type="dcterms:W3CDTF">2019-06-12T15:34:52Z</dcterms:created>
  <dcterms:modified xsi:type="dcterms:W3CDTF">2023-01-26T18:24:27Z</dcterms:modified>
</cp:coreProperties>
</file>